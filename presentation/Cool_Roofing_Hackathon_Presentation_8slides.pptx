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78" d="100"/>
          <a:sy n="78" d="100"/>
        </p:scale>
        <p:origin x="850"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r>
              <a:rPr lang="en-IN" sz="1300" b="1">
                <a:solidFill>
                  <a:srgbClr val="1F2A2E"/>
                </a:solidFill>
                <a:latin typeface="Calibri"/>
              </a:rPr>
              <a:t>Cost, MAE (₹ lakh)</a:t>
            </a:r>
          </a:p>
        </c:rich>
      </c:tx>
      <c:overlay val="0"/>
    </c:title>
    <c:autoTitleDeleted val="0"/>
    <c:plotArea>
      <c:layout/>
      <c:barChart>
        <c:barDir val="col"/>
        <c:grouping val="clustered"/>
        <c:varyColors val="1"/>
        <c:ser>
          <c:idx val="0"/>
          <c:order val="0"/>
          <c:tx>
            <c:strRef>
              <c:f>Sheet1!$B$1</c:f>
              <c:strCache>
                <c:ptCount val="1"/>
                <c:pt idx="0">
                  <c:v>MAE</c:v>
                </c:pt>
              </c:strCache>
            </c:strRef>
          </c:tx>
          <c:invertIfNegative val="1"/>
          <c:dPt>
            <c:idx val="0"/>
            <c:invertIfNegative val="1"/>
            <c:bubble3D val="0"/>
            <c:spPr>
              <a:solidFill>
                <a:srgbClr val="5F6E73"/>
              </a:solidFill>
            </c:spPr>
            <c:extLst>
              <c:ext xmlns:c16="http://schemas.microsoft.com/office/drawing/2014/chart" uri="{C3380CC4-5D6E-409C-BE32-E72D297353CC}">
                <c16:uniqueId val="{00000001-F6E5-41F0-AEBA-BC491D907657}"/>
              </c:ext>
            </c:extLst>
          </c:dPt>
          <c:dPt>
            <c:idx val="1"/>
            <c:invertIfNegative val="1"/>
            <c:bubble3D val="0"/>
            <c:spPr>
              <a:solidFill>
                <a:srgbClr val="0E7C86"/>
              </a:solidFill>
            </c:spPr>
            <c:extLst>
              <c:ext xmlns:c16="http://schemas.microsoft.com/office/drawing/2014/chart" uri="{C3380CC4-5D6E-409C-BE32-E72D297353CC}">
                <c16:uniqueId val="{00000003-F6E5-41F0-AEBA-BC491D907657}"/>
              </c:ext>
            </c:extLst>
          </c:dPt>
          <c:dLbls>
            <c:numFmt formatCode="&quot;₹&quot;0.00&quot; L&quot;" sourceLinked="0"/>
            <c:spPr>
              <a:noFill/>
              <a:ln>
                <a:noFill/>
              </a:ln>
              <a:effectLst/>
            </c:spPr>
            <c:txPr>
              <a:bodyPr/>
              <a:lstStyle/>
              <a:p>
                <a:pPr>
                  <a:defRPr sz="1300" b="1">
                    <a:latin typeface="Calibr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Baseline</c:v>
                </c:pt>
                <c:pt idx="1">
                  <c:v>Our model</c:v>
                </c:pt>
              </c:strCache>
            </c:strRef>
          </c:cat>
          <c:val>
            <c:numRef>
              <c:f>Sheet1!$B$2:$B$3</c:f>
              <c:numCache>
                <c:formatCode>General</c:formatCode>
                <c:ptCount val="2"/>
                <c:pt idx="0">
                  <c:v>6.37</c:v>
                </c:pt>
                <c:pt idx="1">
                  <c:v>0.25</c:v>
                </c:pt>
              </c:numCache>
            </c:numRef>
          </c:val>
          <c:extLst>
            <c:ext xmlns:c16="http://schemas.microsoft.com/office/drawing/2014/chart" uri="{C3380CC4-5D6E-409C-BE32-E72D297353CC}">
              <c16:uniqueId val="{00000004-F6E5-41F0-AEBA-BC491D907657}"/>
            </c:ext>
          </c:extLst>
        </c:ser>
        <c:dLbls>
          <c:dLblPos val="outEnd"/>
          <c:showLegendKey val="0"/>
          <c:showVal val="1"/>
          <c:showCatName val="0"/>
          <c:showSerName val="0"/>
          <c:showPercent val="0"/>
          <c:showBubbleSize val="0"/>
        </c:dLbls>
        <c:gapWidth val="6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D5DEDB"/>
            </a:solidFill>
          </a:ln>
        </c:spPr>
        <c:txPr>
          <a:bodyPr/>
          <a:lstStyle/>
          <a:p>
            <a:pPr>
              <a:defRPr sz="1200">
                <a:latin typeface="Calibri"/>
              </a:defRPr>
            </a:pPr>
            <a:endParaRPr lang="en-US"/>
          </a:p>
        </c:txPr>
        <c:crossAx val="-2113994440"/>
        <c:crosses val="autoZero"/>
        <c:auto val="1"/>
        <c:lblAlgn val="ctr"/>
        <c:lblOffset val="100"/>
        <c:noMultiLvlLbl val="0"/>
      </c:catAx>
      <c:valAx>
        <c:axId val="-2113994440"/>
        <c:scaling>
          <c:orientation val="minMax"/>
          <c:min val="0"/>
        </c:scaling>
        <c:delete val="1"/>
        <c:axPos val="l"/>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r>
              <a:rPr lang="en-IN" sz="1300" b="1">
                <a:solidFill>
                  <a:srgbClr val="1F2A2E"/>
                </a:solidFill>
                <a:latin typeface="Calibri"/>
              </a:rPr>
              <a:t>Temperature drop, MAE (°C)</a:t>
            </a:r>
          </a:p>
        </c:rich>
      </c:tx>
      <c:overlay val="0"/>
    </c:title>
    <c:autoTitleDeleted val="0"/>
    <c:plotArea>
      <c:layout/>
      <c:barChart>
        <c:barDir val="col"/>
        <c:grouping val="clustered"/>
        <c:varyColors val="1"/>
        <c:ser>
          <c:idx val="0"/>
          <c:order val="0"/>
          <c:tx>
            <c:strRef>
              <c:f>Sheet1!$B$1</c:f>
              <c:strCache>
                <c:ptCount val="1"/>
                <c:pt idx="0">
                  <c:v>MAE</c:v>
                </c:pt>
              </c:strCache>
            </c:strRef>
          </c:tx>
          <c:invertIfNegative val="1"/>
          <c:dPt>
            <c:idx val="0"/>
            <c:invertIfNegative val="1"/>
            <c:bubble3D val="0"/>
            <c:spPr>
              <a:solidFill>
                <a:srgbClr val="5F6E73"/>
              </a:solidFill>
            </c:spPr>
            <c:extLst>
              <c:ext xmlns:c16="http://schemas.microsoft.com/office/drawing/2014/chart" uri="{C3380CC4-5D6E-409C-BE32-E72D297353CC}">
                <c16:uniqueId val="{00000001-BC55-4BAD-98C6-63B5278676B6}"/>
              </c:ext>
            </c:extLst>
          </c:dPt>
          <c:dPt>
            <c:idx val="1"/>
            <c:invertIfNegative val="1"/>
            <c:bubble3D val="0"/>
            <c:spPr>
              <a:solidFill>
                <a:srgbClr val="0E7C86"/>
              </a:solidFill>
            </c:spPr>
            <c:extLst>
              <c:ext xmlns:c16="http://schemas.microsoft.com/office/drawing/2014/chart" uri="{C3380CC4-5D6E-409C-BE32-E72D297353CC}">
                <c16:uniqueId val="{00000003-BC55-4BAD-98C6-63B5278676B6}"/>
              </c:ext>
            </c:extLst>
          </c:dPt>
          <c:dLbls>
            <c:numFmt formatCode="0.00&quot; °C&quot;" sourceLinked="0"/>
            <c:spPr>
              <a:noFill/>
              <a:ln>
                <a:noFill/>
              </a:ln>
              <a:effectLst/>
            </c:spPr>
            <c:txPr>
              <a:bodyPr/>
              <a:lstStyle/>
              <a:p>
                <a:pPr>
                  <a:defRPr sz="1300" b="1">
                    <a:latin typeface="Calibr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Baseline</c:v>
                </c:pt>
                <c:pt idx="1">
                  <c:v>Our model</c:v>
                </c:pt>
              </c:strCache>
            </c:strRef>
          </c:cat>
          <c:val>
            <c:numRef>
              <c:f>Sheet1!$B$2:$B$3</c:f>
              <c:numCache>
                <c:formatCode>General</c:formatCode>
                <c:ptCount val="2"/>
                <c:pt idx="0">
                  <c:v>1.8</c:v>
                </c:pt>
                <c:pt idx="1">
                  <c:v>0.41</c:v>
                </c:pt>
              </c:numCache>
            </c:numRef>
          </c:val>
          <c:extLst>
            <c:ext xmlns:c16="http://schemas.microsoft.com/office/drawing/2014/chart" uri="{C3380CC4-5D6E-409C-BE32-E72D297353CC}">
              <c16:uniqueId val="{00000004-BC55-4BAD-98C6-63B5278676B6}"/>
            </c:ext>
          </c:extLst>
        </c:ser>
        <c:dLbls>
          <c:dLblPos val="outEnd"/>
          <c:showLegendKey val="0"/>
          <c:showVal val="1"/>
          <c:showCatName val="0"/>
          <c:showSerName val="0"/>
          <c:showPercent val="0"/>
          <c:showBubbleSize val="0"/>
        </c:dLbls>
        <c:gapWidth val="6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D5DEDB"/>
            </a:solidFill>
          </a:ln>
        </c:spPr>
        <c:txPr>
          <a:bodyPr/>
          <a:lstStyle/>
          <a:p>
            <a:pPr>
              <a:defRPr sz="1200">
                <a:latin typeface="Calibri"/>
              </a:defRPr>
            </a:pPr>
            <a:endParaRPr lang="en-US"/>
          </a:p>
        </c:txPr>
        <c:crossAx val="-2113994440"/>
        <c:crosses val="autoZero"/>
        <c:auto val="1"/>
        <c:lblAlgn val="ctr"/>
        <c:lblOffset val="100"/>
        <c:noMultiLvlLbl val="0"/>
      </c:catAx>
      <c:valAx>
        <c:axId val="-2113994440"/>
        <c:scaling>
          <c:orientation val="minMax"/>
          <c:min val="0"/>
        </c:scaling>
        <c:delete val="1"/>
        <c:axPos val="l"/>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r>
              <a:rPr lang="en-US" sz="1300" b="1">
                <a:solidFill>
                  <a:srgbClr val="1F2A2E"/>
                </a:solidFill>
                <a:latin typeface="Calibri"/>
              </a:rPr>
              <a:t>Electricity saved, MAE (kWh/mo)</a:t>
            </a:r>
          </a:p>
        </c:rich>
      </c:tx>
      <c:overlay val="0"/>
    </c:title>
    <c:autoTitleDeleted val="0"/>
    <c:plotArea>
      <c:layout/>
      <c:barChart>
        <c:barDir val="col"/>
        <c:grouping val="clustered"/>
        <c:varyColors val="1"/>
        <c:ser>
          <c:idx val="0"/>
          <c:order val="0"/>
          <c:tx>
            <c:strRef>
              <c:f>Sheet1!$B$1</c:f>
              <c:strCache>
                <c:ptCount val="1"/>
                <c:pt idx="0">
                  <c:v>MAE</c:v>
                </c:pt>
              </c:strCache>
            </c:strRef>
          </c:tx>
          <c:invertIfNegative val="1"/>
          <c:dPt>
            <c:idx val="0"/>
            <c:invertIfNegative val="1"/>
            <c:bubble3D val="0"/>
            <c:spPr>
              <a:solidFill>
                <a:srgbClr val="5F6E73"/>
              </a:solidFill>
            </c:spPr>
            <c:extLst>
              <c:ext xmlns:c16="http://schemas.microsoft.com/office/drawing/2014/chart" uri="{C3380CC4-5D6E-409C-BE32-E72D297353CC}">
                <c16:uniqueId val="{00000001-4943-4883-AAB7-1362703FE9C5}"/>
              </c:ext>
            </c:extLst>
          </c:dPt>
          <c:dPt>
            <c:idx val="1"/>
            <c:invertIfNegative val="1"/>
            <c:bubble3D val="0"/>
            <c:spPr>
              <a:solidFill>
                <a:srgbClr val="0E7C86"/>
              </a:solidFill>
            </c:spPr>
            <c:extLst>
              <c:ext xmlns:c16="http://schemas.microsoft.com/office/drawing/2014/chart" uri="{C3380CC4-5D6E-409C-BE32-E72D297353CC}">
                <c16:uniqueId val="{00000003-4943-4883-AAB7-1362703FE9C5}"/>
              </c:ext>
            </c:extLst>
          </c:dPt>
          <c:dLbls>
            <c:numFmt formatCode="0.0&quot; kWh&quot;" sourceLinked="0"/>
            <c:spPr>
              <a:noFill/>
              <a:ln>
                <a:noFill/>
              </a:ln>
              <a:effectLst/>
            </c:spPr>
            <c:txPr>
              <a:bodyPr/>
              <a:lstStyle/>
              <a:p>
                <a:pPr>
                  <a:defRPr sz="1300" b="1">
                    <a:latin typeface="Calibr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Baseline</c:v>
                </c:pt>
                <c:pt idx="1">
                  <c:v>Our model</c:v>
                </c:pt>
              </c:strCache>
            </c:strRef>
          </c:cat>
          <c:val>
            <c:numRef>
              <c:f>Sheet1!$B$2:$B$3</c:f>
              <c:numCache>
                <c:formatCode>General</c:formatCode>
                <c:ptCount val="2"/>
                <c:pt idx="0">
                  <c:v>38.4</c:v>
                </c:pt>
                <c:pt idx="1">
                  <c:v>3.62</c:v>
                </c:pt>
              </c:numCache>
            </c:numRef>
          </c:val>
          <c:extLst>
            <c:ext xmlns:c16="http://schemas.microsoft.com/office/drawing/2014/chart" uri="{C3380CC4-5D6E-409C-BE32-E72D297353CC}">
              <c16:uniqueId val="{00000004-4943-4883-AAB7-1362703FE9C5}"/>
            </c:ext>
          </c:extLst>
        </c:ser>
        <c:dLbls>
          <c:dLblPos val="outEnd"/>
          <c:showLegendKey val="0"/>
          <c:showVal val="1"/>
          <c:showCatName val="0"/>
          <c:showSerName val="0"/>
          <c:showPercent val="0"/>
          <c:showBubbleSize val="0"/>
        </c:dLbls>
        <c:gapWidth val="6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D5DEDB"/>
            </a:solidFill>
          </a:ln>
        </c:spPr>
        <c:txPr>
          <a:bodyPr/>
          <a:lstStyle/>
          <a:p>
            <a:pPr>
              <a:defRPr sz="1200">
                <a:latin typeface="Calibri"/>
              </a:defRPr>
            </a:pPr>
            <a:endParaRPr lang="en-US"/>
          </a:p>
        </c:txPr>
        <c:crossAx val="-2113994440"/>
        <c:crosses val="autoZero"/>
        <c:auto val="1"/>
        <c:lblAlgn val="ctr"/>
        <c:lblOffset val="100"/>
        <c:noMultiLvlLbl val="0"/>
      </c:catAx>
      <c:valAx>
        <c:axId val="-2113994440"/>
        <c:scaling>
          <c:orientation val="minMax"/>
          <c:min val="0"/>
        </c:scaling>
        <c:delete val="1"/>
        <c:axPos val="l"/>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282230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[~1.25 min] Good [morning/afternoon]. Our project is Cool Roofing Intelligence. Cool roofing means heat-reflective roofing: coatings, sheets or tiles that keep the roof surface cooler, which should make the building more comfortable and cut cooling electricity. In our data, buildings across India that received these roofs cooled by about 2 to 14 degrees Celsius. The business problem is that a company wants to tell a new customer, before the quote, what it will cost and what they will get. Our objective is to turn historical installation records into that answer. In one sentence: we built a tested web system that predicts cost, cooling, electricity savings, rating and referral from 2,500 past installations, compares roofing options, and explains every estimate.</a:t>
            </a:r>
          </a:p>
          <a:p>
            <a:r>
              <a:t>Takeaway: predictive, explainable decision support for cool roofing.</a:t>
            </a:r>
          </a:p>
          <a:p>
            <a:r>
              <a:t>Transition: let me state the five problems precisely.</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[~1.5 min] The organisers' problem statement asks for five predictions for a new building. One: the installation cost in rupees. Two: how much the roof temperature drops, which we compute as temperature before minus after. Three: the monthly electricity saved in kilowatt-hours, units before minus units after. Four: the customer's rating from one to five. Five: whether the customer will refer the company. Why does historical data help? Each past installation records what was known at quote time, such as building size, roof type, method and quality, and what actually happened afterwards. A model can learn that pattern and give a consistent, explained estimate instead of relying on experience alone. We also had to check whether the data could be trusted, which I will show next.</a:t>
            </a:r>
          </a:p>
          <a:p>
            <a:r>
              <a:t>Takeaway: five well-defined prediction tasks, supported by real historical outcomes.</a:t>
            </a:r>
          </a:p>
          <a:p>
            <a:r>
              <a:t>Transition: first, the dataset.</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[~2 min] The dataset has 2,500 records and 15 columns. Inputs known before installation are location, size, age, existing roof, proposed method and quality, starting roof temperature, number of air conditioners and current monthly electricity use. The outcomes are cost, temperatures and electricity after installation, the rating and the referral. The bottom charts show the exploration: cost is right-skewed and scales with size; valid cooling is between about two and thirteen degrees; and electricity savings track current usage, with some buildings at or below zero. The audit found two silent problems. Exactly 120 degrees appears as a roof temperature in 58 records, far from every other reading, so it is invalid. Exactly zero kilowatt-hours appears 48 times while one to three never occurs, and those rows are physically inconsistent, so we treated them as placeholders. That second one is an inference, a strong one, not a confirmed fact. We set both to missing instead of guessing, and exclude a record only from the task that needs that value; nothing was deleted outright. We also kept 167 buildings whose electricity use actually went up, because those are real adverse outcomes. The cleaning had a measurable effect: electricity-savings error on unseen data fell from 4.45 to 3.62 kilowatt-hours. There are also 106 missing input cells, which are filled using training data only.</a:t>
            </a:r>
          </a:p>
          <a:p>
            <a:r>
              <a:t>Takeaway: the data was audited, and every cleaning decision is documented and evidence-based.</a:t>
            </a:r>
          </a:p>
          <a:p>
            <a:r>
              <a:t>Transition: next, the models.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[~1.25 min] There are five prediction tasks and six trained models, because customer rating is treated two ways: a numerical rating, and a high-or-not classification. We use regression when the answer is a number, such as rupees, degrees or kilowatt-hours, and classification when the answer is a category, such as will the customer refer, or is the rating high. For cost we used a log-linear ridge regression, because cost behaves like size times a rate, and that simple model actually beat gradient boosting. For cooling and savings we used LightGBM, a gradient-boosted tree model, to predict a fraction and multiply it back by the starting temperature or usage. Rating and high rating use LightGBM too, and referral uses logistic regression. Every model was compared against baselines and simpler alternatives using cross-validation only, never the test set.</a:t>
            </a:r>
          </a:p>
          <a:p>
            <a:r>
              <a:t>Takeaway: simple models where the data is simple, with every choice backed by validation.</a:t>
            </a:r>
          </a:p>
          <a:p>
            <a:r>
              <a:t>Transition: and the technology that delivers them.</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[~1.25 min] The data flows left to right. The raw CSV is read-only and processed with pandas. The audit and cleaning step produces a cleaned dataset and an audit trail. Training and evaluation use scikit-learn and LightGBM, and save six model files with metadata. A FastAPI service loads those models once and serves predictions, option comparison, explanations and PDF proposals generated with ReportLab. The React, TypeScript and Vite front end, styled with Tailwind and charted with Recharts, calls that API. There is also an optional AI assistant. It has a free built-in mode, and a Gemini integration that we tested live. A Claude integration is built but we could not live-test it, because that account has no credit. In every mode the language model can only call our validated tools, so it never invents the numbers. For quality, we have 153 backend tests and 30 frontend tests including accessibility checks, a clean type check and a production build.</a:t>
            </a:r>
          </a:p>
          <a:p>
            <a:r>
              <a:t>Takeaway: a conventional, maintainable stack with one shared feature contract between training and serving.</a:t>
            </a:r>
          </a:p>
          <a:p>
            <a:r>
              <a:t>Transition: now the results.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[~2.5 min] First the metrics. MAE, mean absolute error, is the average size of the miss in the unit being predicted. RMSE also measures error but squares it, so large misses count more. R-squared is the share of variation explained. For yes-or-no tasks, accuracy is the share of correct answers and F1 balances precision and recall; ROC-AUC measures how well the model ranks cases, where 0.5 is chance. All results are on 500 buildings that were set aside before modelling and never used for training or tuning. Each chart has its own unit and scale. Cost: the typical miss is ₹25,299 against ₹637,024 for a baseline that just predicts the average. Cooling: 0.41 against 1.80 degrees. Electricity saved: 3.62 against 38.4 kilowatt-hours. R-squared is 0.998, 0.948 and 0.987. Rating and referral are weaker. Rating error is 0.77 stars against 0.92. High-rating accuracy is 68.8% against 57.6% for always guessing the majority, which is a significant gain, but its F1 is not distinguishable from a trivial rule. For referral, F1 is 0.569, statistically indistinguishable from predicting everyone refers at 0.544, and accuracy of 51.2% is significantly worse than the majority-class 62.6%. The AUC of 0.66 shows a real but weak ranking signal. These two outcomes depend on what happens after installation, which isn't available at quote time, so we use them only to rank, never to promise.</a:t>
            </a:r>
          </a:p>
          <a:p>
            <a:r>
              <a:t>Takeaway: strong where the data is structured, honest where it isn't.</a:t>
            </a:r>
          </a:p>
          <a:p>
            <a:r>
              <a:t>Transition: how it looks in practice.</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[~1.75 min] These are real screenshots from the running application. Top left, customer prediction: a rep enters a few facts about the building and gets cost, cooling, electricity savings, rating and referral, each with a likely range and a reliability flag, plus a 'why this estimate' explanation. Next, the roofing-option comparison ranks every valid method and quality for the same building using a transparent, adjustable score. Third, the model performance dashboard, with baselines, confidence intervals and a confusion matrix. On the bottom row, the data-quality insights page shows the audit, then the PDF proposal page, built from real predictions, and the optional AI assistant. The assistant answered live through Gemini by calling the same prediction tools; the Claude integration is built but not live-tested. The business value is simple: a company can prepare a preliminary estimate in seconds, compare options before quoting, and hand the customer a proposal that states its assumptions. These are estimates, not guarantees, and we say so in the product.</a:t>
            </a:r>
          </a:p>
          <a:p>
            <a:r>
              <a:t>Takeaway: this is working software that supports quoting.</a:t>
            </a:r>
          </a:p>
          <a:p>
            <a:r>
              <a:t>Transition: to wrap up.</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 min] To conclude. The project turns 2,500 historical installations into a working system: an audited dataset, six models for five tasks, honest evaluation on unseen buildings, explanations, option comparison and PDF proposals. The strongest results are cost with an average miss of ₹25,299, cooling within 0.4 degrees and electricity savings within 3.6 kilowatt-hours. The value for a roofing company is faster, better-informed quotes. The limits are real: the dataset has no time or location fields, the zero-kilowatt-hour treatment is an inference, rating and referral are weak, the four-star threshold is our assumption, and predictions are estimates, not guarantees. Future scope, none of it built yet: a digital-twin simulator, a carbon-savings tracker, geo-climate intelligence, and above all validation using newly measured installations. Thank you, we're happy to take questions.</a:t>
            </a:r>
          </a:p>
          <a:p>
            <a:r>
              <a:t>Takeaway: trustworthy, explainable decisions from historical data.</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6.xml"/><Relationship Id="rId1" Type="http://schemas.openxmlformats.org/officeDocument/2006/relationships/slideLayout" Target="../slideLayouts/slideLayout7.xml"/><Relationship Id="rId5" Type="http://schemas.openxmlformats.org/officeDocument/2006/relationships/chart" Target="../charts/chart3.xml"/><Relationship Id="rId4" Type="http://schemas.openxmlformats.org/officeDocument/2006/relationships/chart" Target="../charts/chart2.xml"/></Relationships>
</file>

<file path=ppt/slides/_rels/slide7.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0F4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9728"/>
            <a:ext cx="4297680" cy="6748272"/>
          </a:xfrm>
          <a:prstGeom prst="rect">
            <a:avLst/>
          </a:prstGeom>
          <a:solidFill>
            <a:srgbClr val="0F4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1005840" y="3246120"/>
            <a:ext cx="2286000" cy="2103120"/>
          </a:xfrm>
          <a:prstGeom prst="roundRect">
            <a:avLst>
              <a:gd name="adj" fmla="val 2000"/>
            </a:avLst>
          </a:prstGeom>
          <a:solidFill>
            <a:srgbClr val="F4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Isosceles Triangle 4"/>
          <p:cNvSpPr/>
          <p:nvPr/>
        </p:nvSpPr>
        <p:spPr>
          <a:xfrm>
            <a:off x="777240" y="2103120"/>
            <a:ext cx="2743200" cy="1188720"/>
          </a:xfrm>
          <a:prstGeom prst="triangle">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1325880" y="3931920"/>
            <a:ext cx="438912" cy="640080"/>
          </a:xfrm>
          <a:prstGeom prst="roundRect">
            <a:avLst>
              <a:gd name="adj" fmla="val 4000"/>
            </a:avLst>
          </a:prstGeom>
          <a:solidFill>
            <a:srgbClr val="BBD3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1984248" y="3931920"/>
            <a:ext cx="438912" cy="640080"/>
          </a:xfrm>
          <a:prstGeom prst="roundRect">
            <a:avLst>
              <a:gd name="adj" fmla="val 4000"/>
            </a:avLst>
          </a:prstGeom>
          <a:solidFill>
            <a:srgbClr val="BBD3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2642615" y="3931920"/>
            <a:ext cx="438912" cy="640080"/>
          </a:xfrm>
          <a:prstGeom prst="roundRect">
            <a:avLst>
              <a:gd name="adj" fmla="val 4000"/>
            </a:avLst>
          </a:prstGeom>
          <a:solidFill>
            <a:srgbClr val="BBD3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3017520" y="914400"/>
            <a:ext cx="777240" cy="777240"/>
          </a:xfrm>
          <a:prstGeom prst="ellipse">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3941063" y="1243584"/>
            <a:ext cx="118872" cy="118872"/>
          </a:xfrm>
          <a:prstGeom prst="ellipse">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3766979" y="1663859"/>
            <a:ext cx="118872" cy="118872"/>
          </a:xfrm>
          <a:prstGeom prst="ellipse">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3346704" y="1837944"/>
            <a:ext cx="118872" cy="118872"/>
          </a:xfrm>
          <a:prstGeom prst="ellipse">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2926428" y="1663859"/>
            <a:ext cx="118872" cy="118872"/>
          </a:xfrm>
          <a:prstGeom prst="ellipse">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2752344" y="1243584"/>
            <a:ext cx="118872" cy="118872"/>
          </a:xfrm>
          <a:prstGeom prst="ellipse">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2926428" y="823308"/>
            <a:ext cx="118872" cy="118872"/>
          </a:xfrm>
          <a:prstGeom prst="ellipse">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3346704" y="649224"/>
            <a:ext cx="118872" cy="118872"/>
          </a:xfrm>
          <a:prstGeom prst="ellipse">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3766979" y="823308"/>
            <a:ext cx="118872" cy="118872"/>
          </a:xfrm>
          <a:prstGeom prst="ellipse">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65760" y="5852160"/>
            <a:ext cx="3657600" cy="457200"/>
          </a:xfrm>
          <a:prstGeom prst="rect">
            <a:avLst/>
          </a:prstGeom>
          <a:noFill/>
        </p:spPr>
        <p:txBody>
          <a:bodyPr wrap="square" lIns="45720" tIns="27432" rIns="45720" bIns="27432" anchor="t">
            <a:spAutoFit/>
          </a:bodyPr>
          <a:lstStyle/>
          <a:p>
            <a:pPr algn="l">
              <a:spcAft>
                <a:spcPts val="0"/>
              </a:spcAft>
            </a:pPr>
            <a:r>
              <a:rPr sz="1400" b="1">
                <a:solidFill>
                  <a:srgbClr val="BBD3CC"/>
                </a:solidFill>
                <a:latin typeface="Calibri"/>
              </a:rPr>
              <a:t>Cooler roofs · lower bills · clearer quotes</a:t>
            </a:r>
          </a:p>
        </p:txBody>
      </p:sp>
      <p:sp>
        <p:nvSpPr>
          <p:cNvPr id="20" name="TextBox 19"/>
          <p:cNvSpPr txBox="1"/>
          <p:nvPr/>
        </p:nvSpPr>
        <p:spPr>
          <a:xfrm>
            <a:off x="4754880" y="822960"/>
            <a:ext cx="6949440" cy="1371600"/>
          </a:xfrm>
          <a:prstGeom prst="rect">
            <a:avLst/>
          </a:prstGeom>
          <a:noFill/>
        </p:spPr>
        <p:txBody>
          <a:bodyPr wrap="square" lIns="45720" tIns="27432" rIns="45720" bIns="27432" anchor="t">
            <a:spAutoFit/>
          </a:bodyPr>
          <a:lstStyle/>
          <a:p>
            <a:pPr algn="l">
              <a:spcAft>
                <a:spcPts val="0"/>
              </a:spcAft>
            </a:pPr>
            <a:r>
              <a:rPr sz="3800" b="1" dirty="0">
                <a:solidFill>
                  <a:srgbClr val="0F4C3A"/>
                </a:solidFill>
                <a:latin typeface="Calibri"/>
              </a:rPr>
              <a:t>Cool Roofing Intelligence</a:t>
            </a:r>
          </a:p>
        </p:txBody>
      </p:sp>
      <p:sp>
        <p:nvSpPr>
          <p:cNvPr id="21" name="TextBox 20"/>
          <p:cNvSpPr txBox="1"/>
          <p:nvPr/>
        </p:nvSpPr>
        <p:spPr>
          <a:xfrm>
            <a:off x="4754880" y="1691640"/>
            <a:ext cx="6858000" cy="640080"/>
          </a:xfrm>
          <a:prstGeom prst="rect">
            <a:avLst/>
          </a:prstGeom>
          <a:noFill/>
        </p:spPr>
        <p:txBody>
          <a:bodyPr wrap="square" lIns="45720" tIns="27432" rIns="45720" bIns="27432" anchor="t">
            <a:spAutoFit/>
          </a:bodyPr>
          <a:lstStyle/>
          <a:p>
            <a:pPr algn="l">
              <a:spcAft>
                <a:spcPts val="0"/>
              </a:spcAft>
            </a:pPr>
            <a:r>
              <a:rPr sz="1800" b="0">
                <a:solidFill>
                  <a:srgbClr val="1F2A2E"/>
                </a:solidFill>
                <a:latin typeface="Calibri"/>
              </a:rPr>
              <a:t>Cost, comfort and energy-savings predictions before the first quote</a:t>
            </a:r>
          </a:p>
        </p:txBody>
      </p:sp>
      <p:sp>
        <p:nvSpPr>
          <p:cNvPr id="22" name="Rectangle 21"/>
          <p:cNvSpPr/>
          <p:nvPr/>
        </p:nvSpPr>
        <p:spPr>
          <a:xfrm>
            <a:off x="4800600" y="2423160"/>
            <a:ext cx="6766560" cy="36576"/>
          </a:xfrm>
          <a:prstGeom prst="rect">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4754880" y="2606040"/>
            <a:ext cx="6858000" cy="1005840"/>
          </a:xfrm>
          <a:prstGeom prst="roundRect">
            <a:avLst>
              <a:gd name="adj" fmla="val 6000"/>
            </a:avLst>
          </a:prstGeom>
          <a:solidFill>
            <a:srgbClr val="EA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864608" y="2670048"/>
            <a:ext cx="6638544" cy="365760"/>
          </a:xfrm>
          <a:prstGeom prst="rect">
            <a:avLst/>
          </a:prstGeom>
          <a:noFill/>
        </p:spPr>
        <p:txBody>
          <a:bodyPr wrap="square" lIns="45720" tIns="27432" rIns="45720" bIns="27432" anchor="t">
            <a:spAutoFit/>
          </a:bodyPr>
          <a:lstStyle/>
          <a:p>
            <a:pPr algn="l">
              <a:spcAft>
                <a:spcPts val="0"/>
              </a:spcAft>
            </a:pPr>
            <a:r>
              <a:rPr sz="1500" b="1">
                <a:solidFill>
                  <a:srgbClr val="0F4C3A"/>
                </a:solidFill>
                <a:latin typeface="Calibri"/>
              </a:rPr>
              <a:t>What is cool roofing?</a:t>
            </a:r>
          </a:p>
        </p:txBody>
      </p:sp>
      <p:sp>
        <p:nvSpPr>
          <p:cNvPr id="25" name="TextBox 24"/>
          <p:cNvSpPr txBox="1"/>
          <p:nvPr/>
        </p:nvSpPr>
        <p:spPr>
          <a:xfrm>
            <a:off x="4864608" y="3035808"/>
            <a:ext cx="6638544" cy="548640"/>
          </a:xfrm>
          <a:prstGeom prst="rect">
            <a:avLst/>
          </a:prstGeom>
          <a:noFill/>
        </p:spPr>
        <p:txBody>
          <a:bodyPr wrap="square" lIns="45720" tIns="27432" rIns="45720" bIns="27432" anchor="t">
            <a:spAutoFit/>
          </a:bodyPr>
          <a:lstStyle/>
          <a:p>
            <a:pPr algn="l">
              <a:spcAft>
                <a:spcPts val="200"/>
              </a:spcAft>
            </a:pPr>
            <a:r>
              <a:rPr sz="1400" b="0">
                <a:solidFill>
                  <a:srgbClr val="1F2A2E"/>
                </a:solidFill>
                <a:latin typeface="Calibri"/>
              </a:rPr>
              <a:t>Heat-reflective roofing (coatings, sheets or tiles) that lowers roof-surface temperature, so buildings stay cooler and need less cooling electricity.</a:t>
            </a:r>
          </a:p>
        </p:txBody>
      </p:sp>
      <p:sp>
        <p:nvSpPr>
          <p:cNvPr id="26" name="Rounded Rectangle 25"/>
          <p:cNvSpPr/>
          <p:nvPr/>
        </p:nvSpPr>
        <p:spPr>
          <a:xfrm>
            <a:off x="4754880" y="3703320"/>
            <a:ext cx="3337560" cy="1325880"/>
          </a:xfrm>
          <a:prstGeom prst="roundRect">
            <a:avLst>
              <a:gd name="adj" fmla="val 6000"/>
            </a:avLst>
          </a:prstGeom>
          <a:solidFill>
            <a:srgbClr val="EA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864608" y="3767328"/>
            <a:ext cx="3118104" cy="365760"/>
          </a:xfrm>
          <a:prstGeom prst="rect">
            <a:avLst/>
          </a:prstGeom>
          <a:noFill/>
        </p:spPr>
        <p:txBody>
          <a:bodyPr wrap="square" lIns="45720" tIns="27432" rIns="45720" bIns="27432" anchor="t">
            <a:spAutoFit/>
          </a:bodyPr>
          <a:lstStyle/>
          <a:p>
            <a:pPr algn="l">
              <a:spcAft>
                <a:spcPts val="0"/>
              </a:spcAft>
            </a:pPr>
            <a:r>
              <a:rPr sz="1500" b="1">
                <a:solidFill>
                  <a:srgbClr val="0F4C3A"/>
                </a:solidFill>
                <a:latin typeface="Calibri"/>
              </a:rPr>
              <a:t>Objective and relevance</a:t>
            </a:r>
          </a:p>
        </p:txBody>
      </p:sp>
      <p:sp>
        <p:nvSpPr>
          <p:cNvPr id="28" name="TextBox 27"/>
          <p:cNvSpPr txBox="1"/>
          <p:nvPr/>
        </p:nvSpPr>
        <p:spPr>
          <a:xfrm>
            <a:off x="4864608" y="4133087"/>
            <a:ext cx="3118104" cy="868680"/>
          </a:xfrm>
          <a:prstGeom prst="rect">
            <a:avLst/>
          </a:prstGeom>
          <a:noFill/>
        </p:spPr>
        <p:txBody>
          <a:bodyPr wrap="square" lIns="45720" tIns="27432" rIns="45720" bIns="27432" anchor="t">
            <a:spAutoFit/>
          </a:bodyPr>
          <a:lstStyle/>
          <a:p>
            <a:pPr algn="l">
              <a:spcAft>
                <a:spcPts val="200"/>
              </a:spcAft>
            </a:pPr>
            <a:r>
              <a:rPr sz="1300" b="0">
                <a:solidFill>
                  <a:srgbClr val="1F2A2E"/>
                </a:solidFill>
                <a:latin typeface="Calibri"/>
              </a:rPr>
              <a:t>Give roofing companies data-backed answers before quoting: what will it cost, and what will the customer gain?</a:t>
            </a:r>
          </a:p>
        </p:txBody>
      </p:sp>
      <p:sp>
        <p:nvSpPr>
          <p:cNvPr id="29" name="Rounded Rectangle 28"/>
          <p:cNvSpPr/>
          <p:nvPr/>
        </p:nvSpPr>
        <p:spPr>
          <a:xfrm>
            <a:off x="8275320" y="3703320"/>
            <a:ext cx="3337560" cy="1325880"/>
          </a:xfrm>
          <a:prstGeom prst="roundRect">
            <a:avLst>
              <a:gd name="adj" fmla="val 6000"/>
            </a:avLst>
          </a:prstGeom>
          <a:solidFill>
            <a:srgbClr val="DDE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8385048" y="3767328"/>
            <a:ext cx="3118104" cy="365760"/>
          </a:xfrm>
          <a:prstGeom prst="rect">
            <a:avLst/>
          </a:prstGeom>
          <a:noFill/>
        </p:spPr>
        <p:txBody>
          <a:bodyPr wrap="square" lIns="45720" tIns="27432" rIns="45720" bIns="27432" anchor="t">
            <a:spAutoFit/>
          </a:bodyPr>
          <a:lstStyle/>
          <a:p>
            <a:pPr algn="l">
              <a:spcAft>
                <a:spcPts val="0"/>
              </a:spcAft>
            </a:pPr>
            <a:r>
              <a:rPr sz="1500" b="1">
                <a:solidFill>
                  <a:srgbClr val="0E7C86"/>
                </a:solidFill>
                <a:latin typeface="Calibri"/>
              </a:rPr>
              <a:t>The solution</a:t>
            </a:r>
          </a:p>
        </p:txBody>
      </p:sp>
      <p:sp>
        <p:nvSpPr>
          <p:cNvPr id="31" name="TextBox 30"/>
          <p:cNvSpPr txBox="1"/>
          <p:nvPr/>
        </p:nvSpPr>
        <p:spPr>
          <a:xfrm>
            <a:off x="8385048" y="4133087"/>
            <a:ext cx="3118104" cy="868680"/>
          </a:xfrm>
          <a:prstGeom prst="rect">
            <a:avLst/>
          </a:prstGeom>
          <a:noFill/>
        </p:spPr>
        <p:txBody>
          <a:bodyPr wrap="square" lIns="45720" tIns="27432" rIns="45720" bIns="27432" anchor="t">
            <a:spAutoFit/>
          </a:bodyPr>
          <a:lstStyle/>
          <a:p>
            <a:pPr algn="l">
              <a:spcAft>
                <a:spcPts val="200"/>
              </a:spcAft>
            </a:pPr>
            <a:r>
              <a:rPr sz="1300" b="0">
                <a:solidFill>
                  <a:srgbClr val="1F2A2E"/>
                </a:solidFill>
                <a:latin typeface="Calibri"/>
              </a:rPr>
              <a:t>One tested web system that learns from 2,500 past installations to predict, compare and explain.</a:t>
            </a:r>
          </a:p>
        </p:txBody>
      </p:sp>
      <p:sp>
        <p:nvSpPr>
          <p:cNvPr id="32" name="Rounded Rectangle 31"/>
          <p:cNvSpPr/>
          <p:nvPr/>
        </p:nvSpPr>
        <p:spPr>
          <a:xfrm>
            <a:off x="4754880" y="5212080"/>
            <a:ext cx="2194560" cy="1005840"/>
          </a:xfrm>
          <a:prstGeom prst="roundRect">
            <a:avLst>
              <a:gd name="adj" fmla="val 6000"/>
            </a:avLst>
          </a:prstGeom>
          <a:solidFill>
            <a:srgbClr val="0F4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4800600" y="5248656"/>
            <a:ext cx="2103120" cy="502920"/>
          </a:xfrm>
          <a:prstGeom prst="rect">
            <a:avLst/>
          </a:prstGeom>
          <a:noFill/>
        </p:spPr>
        <p:txBody>
          <a:bodyPr wrap="square" lIns="45720" tIns="27432" rIns="45720" bIns="27432" anchor="t">
            <a:spAutoFit/>
          </a:bodyPr>
          <a:lstStyle/>
          <a:p>
            <a:pPr algn="ctr">
              <a:spcAft>
                <a:spcPts val="0"/>
              </a:spcAft>
            </a:pPr>
            <a:r>
              <a:rPr sz="2400" b="1">
                <a:solidFill>
                  <a:srgbClr val="E8A33D"/>
                </a:solidFill>
                <a:latin typeface="Calibri"/>
              </a:rPr>
              <a:t>2,500</a:t>
            </a:r>
          </a:p>
        </p:txBody>
      </p:sp>
      <p:sp>
        <p:nvSpPr>
          <p:cNvPr id="34" name="TextBox 33"/>
          <p:cNvSpPr txBox="1"/>
          <p:nvPr/>
        </p:nvSpPr>
        <p:spPr>
          <a:xfrm>
            <a:off x="4800600" y="5760720"/>
            <a:ext cx="2103120" cy="411480"/>
          </a:xfrm>
          <a:prstGeom prst="rect">
            <a:avLst/>
          </a:prstGeom>
          <a:noFill/>
        </p:spPr>
        <p:txBody>
          <a:bodyPr wrap="square" lIns="45720" tIns="27432" rIns="45720" bIns="27432" anchor="t">
            <a:spAutoFit/>
          </a:bodyPr>
          <a:lstStyle/>
          <a:p>
            <a:pPr algn="ctr">
              <a:spcAft>
                <a:spcPts val="0"/>
              </a:spcAft>
            </a:pPr>
            <a:r>
              <a:rPr sz="1200" b="0">
                <a:solidFill>
                  <a:srgbClr val="FFFFFF"/>
                </a:solidFill>
                <a:latin typeface="Calibri"/>
              </a:rPr>
              <a:t>historical installations</a:t>
            </a:r>
          </a:p>
        </p:txBody>
      </p:sp>
      <p:sp>
        <p:nvSpPr>
          <p:cNvPr id="35" name="Rounded Rectangle 34"/>
          <p:cNvSpPr/>
          <p:nvPr/>
        </p:nvSpPr>
        <p:spPr>
          <a:xfrm>
            <a:off x="7086600" y="5212080"/>
            <a:ext cx="2194560" cy="1005840"/>
          </a:xfrm>
          <a:prstGeom prst="roundRect">
            <a:avLst>
              <a:gd name="adj" fmla="val 6000"/>
            </a:avLst>
          </a:prstGeom>
          <a:solidFill>
            <a:srgbClr val="0F4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7132320" y="5248656"/>
            <a:ext cx="2103120" cy="502920"/>
          </a:xfrm>
          <a:prstGeom prst="rect">
            <a:avLst/>
          </a:prstGeom>
          <a:noFill/>
        </p:spPr>
        <p:txBody>
          <a:bodyPr wrap="square" lIns="45720" tIns="27432" rIns="45720" bIns="27432" anchor="t">
            <a:spAutoFit/>
          </a:bodyPr>
          <a:lstStyle/>
          <a:p>
            <a:pPr algn="ctr">
              <a:spcAft>
                <a:spcPts val="0"/>
              </a:spcAft>
            </a:pPr>
            <a:r>
              <a:rPr sz="2400" b="1">
                <a:solidFill>
                  <a:srgbClr val="E8A33D"/>
                </a:solidFill>
                <a:latin typeface="Calibri"/>
              </a:rPr>
              <a:t>5 tasks</a:t>
            </a:r>
          </a:p>
        </p:txBody>
      </p:sp>
      <p:sp>
        <p:nvSpPr>
          <p:cNvPr id="37" name="TextBox 36"/>
          <p:cNvSpPr txBox="1"/>
          <p:nvPr/>
        </p:nvSpPr>
        <p:spPr>
          <a:xfrm>
            <a:off x="7132320" y="5760720"/>
            <a:ext cx="2103120" cy="411480"/>
          </a:xfrm>
          <a:prstGeom prst="rect">
            <a:avLst/>
          </a:prstGeom>
          <a:noFill/>
        </p:spPr>
        <p:txBody>
          <a:bodyPr wrap="square" lIns="45720" tIns="27432" rIns="45720" bIns="27432" anchor="t">
            <a:spAutoFit/>
          </a:bodyPr>
          <a:lstStyle/>
          <a:p>
            <a:pPr algn="ctr">
              <a:spcAft>
                <a:spcPts val="0"/>
              </a:spcAft>
            </a:pPr>
            <a:r>
              <a:rPr sz="1200" b="0">
                <a:solidFill>
                  <a:srgbClr val="FFFFFF"/>
                </a:solidFill>
                <a:latin typeface="Calibri"/>
              </a:rPr>
              <a:t>6 trained models</a:t>
            </a:r>
          </a:p>
        </p:txBody>
      </p:sp>
      <p:sp>
        <p:nvSpPr>
          <p:cNvPr id="38" name="Rounded Rectangle 37"/>
          <p:cNvSpPr/>
          <p:nvPr/>
        </p:nvSpPr>
        <p:spPr>
          <a:xfrm>
            <a:off x="9418320" y="5212080"/>
            <a:ext cx="2194560" cy="1005840"/>
          </a:xfrm>
          <a:prstGeom prst="roundRect">
            <a:avLst>
              <a:gd name="adj" fmla="val 6000"/>
            </a:avLst>
          </a:prstGeom>
          <a:solidFill>
            <a:srgbClr val="0F4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9464040" y="5248656"/>
            <a:ext cx="2103120" cy="502920"/>
          </a:xfrm>
          <a:prstGeom prst="rect">
            <a:avLst/>
          </a:prstGeom>
          <a:noFill/>
        </p:spPr>
        <p:txBody>
          <a:bodyPr wrap="square" lIns="45720" tIns="27432" rIns="45720" bIns="27432" anchor="t">
            <a:spAutoFit/>
          </a:bodyPr>
          <a:lstStyle/>
          <a:p>
            <a:pPr algn="ctr">
              <a:spcAft>
                <a:spcPts val="0"/>
              </a:spcAft>
            </a:pPr>
            <a:r>
              <a:rPr sz="2400" b="1">
                <a:solidFill>
                  <a:srgbClr val="E8A33D"/>
                </a:solidFill>
                <a:latin typeface="Calibri"/>
              </a:rPr>
              <a:t>8 pages</a:t>
            </a:r>
          </a:p>
        </p:txBody>
      </p:sp>
      <p:sp>
        <p:nvSpPr>
          <p:cNvPr id="40" name="TextBox 39"/>
          <p:cNvSpPr txBox="1"/>
          <p:nvPr/>
        </p:nvSpPr>
        <p:spPr>
          <a:xfrm>
            <a:off x="9464040" y="5760720"/>
            <a:ext cx="2103120" cy="411480"/>
          </a:xfrm>
          <a:prstGeom prst="rect">
            <a:avLst/>
          </a:prstGeom>
          <a:noFill/>
        </p:spPr>
        <p:txBody>
          <a:bodyPr wrap="square" lIns="45720" tIns="27432" rIns="45720" bIns="27432" anchor="t">
            <a:spAutoFit/>
          </a:bodyPr>
          <a:lstStyle/>
          <a:p>
            <a:pPr algn="ctr">
              <a:spcAft>
                <a:spcPts val="0"/>
              </a:spcAft>
            </a:pPr>
            <a:r>
              <a:rPr sz="1200" b="0">
                <a:solidFill>
                  <a:srgbClr val="FFFFFF"/>
                </a:solidFill>
                <a:latin typeface="Calibri"/>
              </a:rPr>
              <a:t>web app with PDF proposals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0F4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37744"/>
            <a:ext cx="8229600" cy="274320"/>
          </a:xfrm>
          <a:prstGeom prst="rect">
            <a:avLst/>
          </a:prstGeom>
          <a:noFill/>
        </p:spPr>
        <p:txBody>
          <a:bodyPr wrap="square" lIns="45720" tIns="27432" rIns="45720" bIns="27432" anchor="t">
            <a:spAutoFit/>
          </a:bodyPr>
          <a:lstStyle/>
          <a:p>
            <a:pPr algn="l">
              <a:spcAft>
                <a:spcPts val="0"/>
              </a:spcAft>
            </a:pPr>
            <a:r>
              <a:rPr sz="1200" b="1">
                <a:solidFill>
                  <a:srgbClr val="0E7C86"/>
                </a:solidFill>
                <a:latin typeface="Calibri"/>
              </a:rPr>
              <a:t>PROBLEM STATEMENT</a:t>
            </a:r>
          </a:p>
        </p:txBody>
      </p:sp>
      <p:sp>
        <p:nvSpPr>
          <p:cNvPr id="4" name="TextBox 3"/>
          <p:cNvSpPr txBox="1"/>
          <p:nvPr/>
        </p:nvSpPr>
        <p:spPr>
          <a:xfrm>
            <a:off x="548640" y="457200"/>
            <a:ext cx="11064240" cy="685800"/>
          </a:xfrm>
          <a:prstGeom prst="rect">
            <a:avLst/>
          </a:prstGeom>
          <a:noFill/>
        </p:spPr>
        <p:txBody>
          <a:bodyPr wrap="square" lIns="45720" tIns="27432" rIns="45720" bIns="27432" anchor="t">
            <a:spAutoFit/>
          </a:bodyPr>
          <a:lstStyle/>
          <a:p>
            <a:pPr algn="l">
              <a:spcAft>
                <a:spcPts val="0"/>
              </a:spcAft>
            </a:pPr>
            <a:r>
              <a:rPr sz="2800" b="1">
                <a:solidFill>
                  <a:srgbClr val="0F4C3A"/>
                </a:solidFill>
                <a:latin typeface="Calibri"/>
              </a:rPr>
              <a:t>Five questions a roofing customer asks, and the data to answer them</a:t>
            </a:r>
          </a:p>
        </p:txBody>
      </p:sp>
      <p:sp>
        <p:nvSpPr>
          <p:cNvPr id="5" name="TextBox 4"/>
          <p:cNvSpPr txBox="1"/>
          <p:nvPr/>
        </p:nvSpPr>
        <p:spPr>
          <a:xfrm>
            <a:off x="548640" y="6473952"/>
            <a:ext cx="9875520" cy="274320"/>
          </a:xfrm>
          <a:prstGeom prst="rect">
            <a:avLst/>
          </a:prstGeom>
          <a:noFill/>
        </p:spPr>
        <p:txBody>
          <a:bodyPr wrap="square" lIns="45720" tIns="27432" rIns="45720" bIns="27432" anchor="t">
            <a:spAutoFit/>
          </a:bodyPr>
          <a:lstStyle/>
          <a:p>
            <a:pPr algn="l">
              <a:spcAft>
                <a:spcPts val="0"/>
              </a:spcAft>
            </a:pPr>
            <a:r>
              <a:rPr sz="1100" b="0">
                <a:solidFill>
                  <a:srgbClr val="5F6E73"/>
                </a:solidFill>
                <a:latin typeface="Calibri"/>
              </a:rPr>
              <a:t>Source: cool_roofing_problem.md; targets as defined in docs/data_dictionary.md</a:t>
            </a:r>
          </a:p>
        </p:txBody>
      </p:sp>
      <p:sp>
        <p:nvSpPr>
          <p:cNvPr id="6" name="TextBox 5"/>
          <p:cNvSpPr txBox="1"/>
          <p:nvPr/>
        </p:nvSpPr>
        <p:spPr>
          <a:xfrm>
            <a:off x="10881360" y="6473952"/>
            <a:ext cx="777240" cy="274320"/>
          </a:xfrm>
          <a:prstGeom prst="rect">
            <a:avLst/>
          </a:prstGeom>
          <a:noFill/>
        </p:spPr>
        <p:txBody>
          <a:bodyPr wrap="square" lIns="45720" tIns="27432" rIns="45720" bIns="27432" anchor="t">
            <a:spAutoFit/>
          </a:bodyPr>
          <a:lstStyle/>
          <a:p>
            <a:pPr algn="r">
              <a:spcAft>
                <a:spcPts val="0"/>
              </a:spcAft>
            </a:pPr>
            <a:r>
              <a:rPr sz="1100" b="0">
                <a:solidFill>
                  <a:srgbClr val="5F6E73"/>
                </a:solidFill>
                <a:latin typeface="Calibri"/>
              </a:rPr>
              <a:t>2 / 8</a:t>
            </a:r>
          </a:p>
        </p:txBody>
      </p:sp>
      <p:sp>
        <p:nvSpPr>
          <p:cNvPr id="7" name="Rounded Rectangle 6"/>
          <p:cNvSpPr/>
          <p:nvPr/>
        </p:nvSpPr>
        <p:spPr>
          <a:xfrm>
            <a:off x="548640" y="1417320"/>
            <a:ext cx="2103120" cy="3017520"/>
          </a:xfrm>
          <a:prstGeom prst="roundRect">
            <a:avLst>
              <a:gd name="adj" fmla="val 6000"/>
            </a:avLst>
          </a:prstGeom>
          <a:solidFill>
            <a:srgbClr val="EA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48640" y="1417320"/>
            <a:ext cx="2103120" cy="9144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58368" y="1600200"/>
            <a:ext cx="548640" cy="548640"/>
          </a:xfrm>
          <a:prstGeom prst="rect">
            <a:avLst/>
          </a:prstGeom>
          <a:noFill/>
        </p:spPr>
        <p:txBody>
          <a:bodyPr wrap="square" lIns="45720" tIns="27432" rIns="45720" bIns="27432" anchor="t">
            <a:spAutoFit/>
          </a:bodyPr>
          <a:lstStyle/>
          <a:p>
            <a:pPr algn="l">
              <a:spcAft>
                <a:spcPts val="0"/>
              </a:spcAft>
            </a:pPr>
            <a:r>
              <a:rPr sz="3000" b="1">
                <a:solidFill>
                  <a:srgbClr val="0E7C86"/>
                </a:solidFill>
                <a:latin typeface="Calibri"/>
              </a:rPr>
              <a:t>1</a:t>
            </a:r>
          </a:p>
        </p:txBody>
      </p:sp>
      <p:sp>
        <p:nvSpPr>
          <p:cNvPr id="10" name="TextBox 9"/>
          <p:cNvSpPr txBox="1"/>
          <p:nvPr/>
        </p:nvSpPr>
        <p:spPr>
          <a:xfrm>
            <a:off x="658368" y="2194560"/>
            <a:ext cx="1920240" cy="731520"/>
          </a:xfrm>
          <a:prstGeom prst="rect">
            <a:avLst/>
          </a:prstGeom>
          <a:noFill/>
        </p:spPr>
        <p:txBody>
          <a:bodyPr wrap="square" lIns="45720" tIns="27432" rIns="45720" bIns="27432" anchor="t">
            <a:spAutoFit/>
          </a:bodyPr>
          <a:lstStyle/>
          <a:p>
            <a:pPr algn="l">
              <a:spcAft>
                <a:spcPts val="0"/>
              </a:spcAft>
            </a:pPr>
            <a:r>
              <a:rPr sz="1800" b="1">
                <a:solidFill>
                  <a:srgbClr val="0F4C3A"/>
                </a:solidFill>
                <a:latin typeface="Calibri"/>
              </a:rPr>
              <a:t>Installation cost</a:t>
            </a:r>
          </a:p>
        </p:txBody>
      </p:sp>
      <p:sp>
        <p:nvSpPr>
          <p:cNvPr id="11" name="TextBox 10"/>
          <p:cNvSpPr txBox="1"/>
          <p:nvPr/>
        </p:nvSpPr>
        <p:spPr>
          <a:xfrm>
            <a:off x="658368" y="2971800"/>
            <a:ext cx="1920240" cy="868680"/>
          </a:xfrm>
          <a:prstGeom prst="rect">
            <a:avLst/>
          </a:prstGeom>
          <a:noFill/>
        </p:spPr>
        <p:txBody>
          <a:bodyPr wrap="square" lIns="45720" tIns="27432" rIns="45720" bIns="27432" anchor="t">
            <a:spAutoFit/>
          </a:bodyPr>
          <a:lstStyle/>
          <a:p>
            <a:pPr algn="l">
              <a:spcAft>
                <a:spcPts val="0"/>
              </a:spcAft>
            </a:pPr>
            <a:r>
              <a:rPr sz="1400" b="0">
                <a:solidFill>
                  <a:srgbClr val="1F2A2E"/>
                </a:solidFill>
                <a:latin typeface="Calibri"/>
              </a:rPr>
              <a:t>Total cost of the job in ₹</a:t>
            </a:r>
          </a:p>
        </p:txBody>
      </p:sp>
      <p:sp>
        <p:nvSpPr>
          <p:cNvPr id="12" name="Rounded Rectangle 11"/>
          <p:cNvSpPr/>
          <p:nvPr/>
        </p:nvSpPr>
        <p:spPr>
          <a:xfrm>
            <a:off x="658368" y="3931920"/>
            <a:ext cx="1883664" cy="365760"/>
          </a:xfrm>
          <a:prstGeom prst="roundRect">
            <a:avLst>
              <a:gd name="adj" fmla="val 3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lIns="36576" tIns="0" rIns="36576" bIns="0" rtlCol="0" anchor="ctr"/>
          <a:lstStyle/>
          <a:p>
            <a:pPr algn="ctr"/>
            <a:r>
              <a:rPr sz="1100" b="1">
                <a:solidFill>
                  <a:srgbClr val="FFFFFF"/>
                </a:solidFill>
                <a:latin typeface="Calibri"/>
              </a:rPr>
              <a:t>Regression</a:t>
            </a:r>
          </a:p>
        </p:txBody>
      </p:sp>
      <p:sp>
        <p:nvSpPr>
          <p:cNvPr id="13" name="Rounded Rectangle 12"/>
          <p:cNvSpPr/>
          <p:nvPr/>
        </p:nvSpPr>
        <p:spPr>
          <a:xfrm>
            <a:off x="2788920" y="1417320"/>
            <a:ext cx="2103120" cy="3017520"/>
          </a:xfrm>
          <a:prstGeom prst="roundRect">
            <a:avLst>
              <a:gd name="adj" fmla="val 6000"/>
            </a:avLst>
          </a:prstGeom>
          <a:solidFill>
            <a:srgbClr val="EA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2788920" y="1417320"/>
            <a:ext cx="2103120" cy="91440"/>
          </a:xfrm>
          <a:prstGeom prst="rect">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898648" y="1600200"/>
            <a:ext cx="548640" cy="548640"/>
          </a:xfrm>
          <a:prstGeom prst="rect">
            <a:avLst/>
          </a:prstGeom>
          <a:noFill/>
        </p:spPr>
        <p:txBody>
          <a:bodyPr wrap="square" lIns="45720" tIns="27432" rIns="45720" bIns="27432" anchor="t">
            <a:spAutoFit/>
          </a:bodyPr>
          <a:lstStyle/>
          <a:p>
            <a:pPr algn="l">
              <a:spcAft>
                <a:spcPts val="0"/>
              </a:spcAft>
            </a:pPr>
            <a:r>
              <a:rPr sz="3000" b="1">
                <a:solidFill>
                  <a:srgbClr val="B07A10"/>
                </a:solidFill>
                <a:latin typeface="Calibri"/>
              </a:rPr>
              <a:t>2</a:t>
            </a:r>
          </a:p>
        </p:txBody>
      </p:sp>
      <p:sp>
        <p:nvSpPr>
          <p:cNvPr id="16" name="TextBox 15"/>
          <p:cNvSpPr txBox="1"/>
          <p:nvPr/>
        </p:nvSpPr>
        <p:spPr>
          <a:xfrm>
            <a:off x="2898648" y="2194560"/>
            <a:ext cx="1920240" cy="731520"/>
          </a:xfrm>
          <a:prstGeom prst="rect">
            <a:avLst/>
          </a:prstGeom>
          <a:noFill/>
        </p:spPr>
        <p:txBody>
          <a:bodyPr wrap="square" lIns="45720" tIns="27432" rIns="45720" bIns="27432" anchor="t">
            <a:spAutoFit/>
          </a:bodyPr>
          <a:lstStyle/>
          <a:p>
            <a:pPr algn="l">
              <a:spcAft>
                <a:spcPts val="0"/>
              </a:spcAft>
            </a:pPr>
            <a:r>
              <a:rPr sz="1800" b="1">
                <a:solidFill>
                  <a:srgbClr val="0F4C3A"/>
                </a:solidFill>
                <a:latin typeface="Calibri"/>
              </a:rPr>
              <a:t>Roof temperature drop</a:t>
            </a:r>
          </a:p>
        </p:txBody>
      </p:sp>
      <p:sp>
        <p:nvSpPr>
          <p:cNvPr id="17" name="TextBox 16"/>
          <p:cNvSpPr txBox="1"/>
          <p:nvPr/>
        </p:nvSpPr>
        <p:spPr>
          <a:xfrm>
            <a:off x="2898648" y="2971800"/>
            <a:ext cx="1920240" cy="868680"/>
          </a:xfrm>
          <a:prstGeom prst="rect">
            <a:avLst/>
          </a:prstGeom>
          <a:noFill/>
        </p:spPr>
        <p:txBody>
          <a:bodyPr wrap="square" lIns="45720" tIns="27432" rIns="45720" bIns="27432" anchor="t">
            <a:spAutoFit/>
          </a:bodyPr>
          <a:lstStyle/>
          <a:p>
            <a:pPr algn="l">
              <a:spcAft>
                <a:spcPts val="0"/>
              </a:spcAft>
            </a:pPr>
            <a:r>
              <a:rPr sz="1400" b="0">
                <a:solidFill>
                  <a:srgbClr val="1F2A2E"/>
                </a:solidFill>
                <a:latin typeface="Calibri"/>
              </a:rPr>
              <a:t>Temperature before − after (°C)</a:t>
            </a:r>
          </a:p>
        </p:txBody>
      </p:sp>
      <p:sp>
        <p:nvSpPr>
          <p:cNvPr id="18" name="Rounded Rectangle 17"/>
          <p:cNvSpPr/>
          <p:nvPr/>
        </p:nvSpPr>
        <p:spPr>
          <a:xfrm>
            <a:off x="2898648" y="3931920"/>
            <a:ext cx="1883664" cy="365760"/>
          </a:xfrm>
          <a:prstGeom prst="roundRect">
            <a:avLst>
              <a:gd name="adj" fmla="val 3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lIns="36576" tIns="0" rIns="36576" bIns="0" rtlCol="0" anchor="ctr"/>
          <a:lstStyle/>
          <a:p>
            <a:pPr algn="ctr"/>
            <a:r>
              <a:rPr sz="1100" b="1">
                <a:solidFill>
                  <a:srgbClr val="FFFFFF"/>
                </a:solidFill>
                <a:latin typeface="Calibri"/>
              </a:rPr>
              <a:t>Regression</a:t>
            </a:r>
          </a:p>
        </p:txBody>
      </p:sp>
      <p:sp>
        <p:nvSpPr>
          <p:cNvPr id="19" name="Rounded Rectangle 18"/>
          <p:cNvSpPr/>
          <p:nvPr/>
        </p:nvSpPr>
        <p:spPr>
          <a:xfrm>
            <a:off x="5029200" y="1417320"/>
            <a:ext cx="2103120" cy="3017520"/>
          </a:xfrm>
          <a:prstGeom prst="roundRect">
            <a:avLst>
              <a:gd name="adj" fmla="val 6000"/>
            </a:avLst>
          </a:prstGeom>
          <a:solidFill>
            <a:srgbClr val="EA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5029200" y="1417320"/>
            <a:ext cx="2103120" cy="91440"/>
          </a:xfrm>
          <a:prstGeom prst="rect">
            <a:avLst/>
          </a:prstGeom>
          <a:solidFill>
            <a:srgbClr val="0F4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138928" y="1600200"/>
            <a:ext cx="548640" cy="548640"/>
          </a:xfrm>
          <a:prstGeom prst="rect">
            <a:avLst/>
          </a:prstGeom>
          <a:noFill/>
        </p:spPr>
        <p:txBody>
          <a:bodyPr wrap="square" lIns="45720" tIns="27432" rIns="45720" bIns="27432" anchor="t">
            <a:spAutoFit/>
          </a:bodyPr>
          <a:lstStyle/>
          <a:p>
            <a:pPr algn="l">
              <a:spcAft>
                <a:spcPts val="0"/>
              </a:spcAft>
            </a:pPr>
            <a:r>
              <a:rPr sz="3000" b="1">
                <a:solidFill>
                  <a:srgbClr val="0F4C3A"/>
                </a:solidFill>
                <a:latin typeface="Calibri"/>
              </a:rPr>
              <a:t>3</a:t>
            </a:r>
          </a:p>
        </p:txBody>
      </p:sp>
      <p:sp>
        <p:nvSpPr>
          <p:cNvPr id="22" name="TextBox 21"/>
          <p:cNvSpPr txBox="1"/>
          <p:nvPr/>
        </p:nvSpPr>
        <p:spPr>
          <a:xfrm>
            <a:off x="5138928" y="2194560"/>
            <a:ext cx="1920240" cy="731520"/>
          </a:xfrm>
          <a:prstGeom prst="rect">
            <a:avLst/>
          </a:prstGeom>
          <a:noFill/>
        </p:spPr>
        <p:txBody>
          <a:bodyPr wrap="square" lIns="45720" tIns="27432" rIns="45720" bIns="27432" anchor="t">
            <a:spAutoFit/>
          </a:bodyPr>
          <a:lstStyle/>
          <a:p>
            <a:pPr algn="l">
              <a:spcAft>
                <a:spcPts val="0"/>
              </a:spcAft>
            </a:pPr>
            <a:r>
              <a:rPr sz="1800" b="1">
                <a:solidFill>
                  <a:srgbClr val="0F4C3A"/>
                </a:solidFill>
                <a:latin typeface="Calibri"/>
              </a:rPr>
              <a:t>Electricity savings</a:t>
            </a:r>
          </a:p>
        </p:txBody>
      </p:sp>
      <p:sp>
        <p:nvSpPr>
          <p:cNvPr id="23" name="TextBox 22"/>
          <p:cNvSpPr txBox="1"/>
          <p:nvPr/>
        </p:nvSpPr>
        <p:spPr>
          <a:xfrm>
            <a:off x="5138928" y="2971800"/>
            <a:ext cx="1920240" cy="868680"/>
          </a:xfrm>
          <a:prstGeom prst="rect">
            <a:avLst/>
          </a:prstGeom>
          <a:noFill/>
        </p:spPr>
        <p:txBody>
          <a:bodyPr wrap="square" lIns="45720" tIns="27432" rIns="45720" bIns="27432" anchor="t">
            <a:spAutoFit/>
          </a:bodyPr>
          <a:lstStyle/>
          <a:p>
            <a:pPr algn="l">
              <a:spcAft>
                <a:spcPts val="0"/>
              </a:spcAft>
            </a:pPr>
            <a:r>
              <a:rPr sz="1400" b="0">
                <a:solidFill>
                  <a:srgbClr val="1F2A2E"/>
                </a:solidFill>
                <a:latin typeface="Calibri"/>
              </a:rPr>
              <a:t>Monthly kWh before − after</a:t>
            </a:r>
          </a:p>
        </p:txBody>
      </p:sp>
      <p:sp>
        <p:nvSpPr>
          <p:cNvPr id="24" name="Rounded Rectangle 23"/>
          <p:cNvSpPr/>
          <p:nvPr/>
        </p:nvSpPr>
        <p:spPr>
          <a:xfrm>
            <a:off x="5138928" y="3931920"/>
            <a:ext cx="1883664" cy="365760"/>
          </a:xfrm>
          <a:prstGeom prst="roundRect">
            <a:avLst>
              <a:gd name="adj" fmla="val 3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lIns="36576" tIns="0" rIns="36576" bIns="0" rtlCol="0" anchor="ctr"/>
          <a:lstStyle/>
          <a:p>
            <a:pPr algn="ctr"/>
            <a:r>
              <a:rPr sz="1100" b="1">
                <a:solidFill>
                  <a:srgbClr val="FFFFFF"/>
                </a:solidFill>
                <a:latin typeface="Calibri"/>
              </a:rPr>
              <a:t>Regression</a:t>
            </a:r>
          </a:p>
        </p:txBody>
      </p:sp>
      <p:sp>
        <p:nvSpPr>
          <p:cNvPr id="25" name="Rounded Rectangle 24"/>
          <p:cNvSpPr/>
          <p:nvPr/>
        </p:nvSpPr>
        <p:spPr>
          <a:xfrm>
            <a:off x="7269480" y="1417320"/>
            <a:ext cx="2103120" cy="3017520"/>
          </a:xfrm>
          <a:prstGeom prst="roundRect">
            <a:avLst>
              <a:gd name="adj" fmla="val 6000"/>
            </a:avLst>
          </a:prstGeom>
          <a:solidFill>
            <a:srgbClr val="EA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7269480" y="1417320"/>
            <a:ext cx="2103120" cy="91440"/>
          </a:xfrm>
          <a:prstGeom prst="rect">
            <a:avLst/>
          </a:prstGeom>
          <a:solidFill>
            <a:srgbClr val="B041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7379208" y="1600200"/>
            <a:ext cx="548640" cy="548640"/>
          </a:xfrm>
          <a:prstGeom prst="rect">
            <a:avLst/>
          </a:prstGeom>
          <a:noFill/>
        </p:spPr>
        <p:txBody>
          <a:bodyPr wrap="square" lIns="45720" tIns="27432" rIns="45720" bIns="27432" anchor="t">
            <a:spAutoFit/>
          </a:bodyPr>
          <a:lstStyle/>
          <a:p>
            <a:pPr algn="l">
              <a:spcAft>
                <a:spcPts val="0"/>
              </a:spcAft>
            </a:pPr>
            <a:r>
              <a:rPr sz="3000" b="1">
                <a:solidFill>
                  <a:srgbClr val="B0412C"/>
                </a:solidFill>
                <a:latin typeface="Calibri"/>
              </a:rPr>
              <a:t>4</a:t>
            </a:r>
          </a:p>
        </p:txBody>
      </p:sp>
      <p:sp>
        <p:nvSpPr>
          <p:cNvPr id="28" name="TextBox 27"/>
          <p:cNvSpPr txBox="1"/>
          <p:nvPr/>
        </p:nvSpPr>
        <p:spPr>
          <a:xfrm>
            <a:off x="7379208" y="2194560"/>
            <a:ext cx="1920240" cy="731520"/>
          </a:xfrm>
          <a:prstGeom prst="rect">
            <a:avLst/>
          </a:prstGeom>
          <a:noFill/>
        </p:spPr>
        <p:txBody>
          <a:bodyPr wrap="square" lIns="45720" tIns="27432" rIns="45720" bIns="27432" anchor="t">
            <a:spAutoFit/>
          </a:bodyPr>
          <a:lstStyle/>
          <a:p>
            <a:pPr algn="l">
              <a:spcAft>
                <a:spcPts val="0"/>
              </a:spcAft>
            </a:pPr>
            <a:r>
              <a:rPr sz="1800" b="1">
                <a:solidFill>
                  <a:srgbClr val="0F4C3A"/>
                </a:solidFill>
                <a:latin typeface="Calibri"/>
              </a:rPr>
              <a:t>Customer rating</a:t>
            </a:r>
          </a:p>
        </p:txBody>
      </p:sp>
      <p:sp>
        <p:nvSpPr>
          <p:cNvPr id="29" name="TextBox 28"/>
          <p:cNvSpPr txBox="1"/>
          <p:nvPr/>
        </p:nvSpPr>
        <p:spPr>
          <a:xfrm>
            <a:off x="7379208" y="2971800"/>
            <a:ext cx="1920240" cy="868680"/>
          </a:xfrm>
          <a:prstGeom prst="rect">
            <a:avLst/>
          </a:prstGeom>
          <a:noFill/>
        </p:spPr>
        <p:txBody>
          <a:bodyPr wrap="square" lIns="45720" tIns="27432" rIns="45720" bIns="27432" anchor="t">
            <a:spAutoFit/>
          </a:bodyPr>
          <a:lstStyle/>
          <a:p>
            <a:pPr algn="l">
              <a:spcAft>
                <a:spcPts val="0"/>
              </a:spcAft>
            </a:pPr>
            <a:r>
              <a:rPr sz="1400" b="0">
                <a:solidFill>
                  <a:srgbClr val="1F2A2E"/>
                </a:solidFill>
                <a:latin typeface="Calibri"/>
              </a:rPr>
              <a:t>1–5 stars; high = 4★ or more (our assumption)</a:t>
            </a:r>
          </a:p>
        </p:txBody>
      </p:sp>
      <p:sp>
        <p:nvSpPr>
          <p:cNvPr id="30" name="Rounded Rectangle 29"/>
          <p:cNvSpPr/>
          <p:nvPr/>
        </p:nvSpPr>
        <p:spPr>
          <a:xfrm>
            <a:off x="7379208" y="3931920"/>
            <a:ext cx="1883664" cy="365760"/>
          </a:xfrm>
          <a:prstGeom prst="roundRect">
            <a:avLst>
              <a:gd name="adj" fmla="val 30000"/>
            </a:avLst>
          </a:prstGeom>
          <a:solidFill>
            <a:srgbClr val="B0412C"/>
          </a:solidFill>
          <a:ln>
            <a:noFill/>
          </a:ln>
          <a:effectLst/>
        </p:spPr>
        <p:style>
          <a:lnRef idx="1">
            <a:schemeClr val="accent1"/>
          </a:lnRef>
          <a:fillRef idx="3">
            <a:schemeClr val="accent1"/>
          </a:fillRef>
          <a:effectRef idx="2">
            <a:schemeClr val="accent1"/>
          </a:effectRef>
          <a:fontRef idx="minor">
            <a:schemeClr val="lt1"/>
          </a:fontRef>
        </p:style>
        <p:txBody>
          <a:bodyPr lIns="36576" tIns="0" rIns="36576" bIns="0" rtlCol="0" anchor="ctr"/>
          <a:lstStyle/>
          <a:p>
            <a:pPr algn="ctr"/>
            <a:r>
              <a:rPr sz="1100" b="1">
                <a:solidFill>
                  <a:srgbClr val="FFFFFF"/>
                </a:solidFill>
                <a:latin typeface="Calibri"/>
              </a:rPr>
              <a:t>Regression + classification</a:t>
            </a:r>
          </a:p>
        </p:txBody>
      </p:sp>
      <p:sp>
        <p:nvSpPr>
          <p:cNvPr id="31" name="Rounded Rectangle 30"/>
          <p:cNvSpPr/>
          <p:nvPr/>
        </p:nvSpPr>
        <p:spPr>
          <a:xfrm>
            <a:off x="9509760" y="1417320"/>
            <a:ext cx="2103120" cy="3017520"/>
          </a:xfrm>
          <a:prstGeom prst="roundRect">
            <a:avLst>
              <a:gd name="adj" fmla="val 6000"/>
            </a:avLst>
          </a:prstGeom>
          <a:solidFill>
            <a:srgbClr val="EA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9509760" y="1417320"/>
            <a:ext cx="2103120" cy="91440"/>
          </a:xfrm>
          <a:prstGeom prst="rect">
            <a:avLst/>
          </a:prstGeom>
          <a:solidFill>
            <a:srgbClr val="5F6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9619488" y="1600200"/>
            <a:ext cx="548640" cy="548640"/>
          </a:xfrm>
          <a:prstGeom prst="rect">
            <a:avLst/>
          </a:prstGeom>
          <a:noFill/>
        </p:spPr>
        <p:txBody>
          <a:bodyPr wrap="square" lIns="45720" tIns="27432" rIns="45720" bIns="27432" anchor="t">
            <a:spAutoFit/>
          </a:bodyPr>
          <a:lstStyle/>
          <a:p>
            <a:pPr algn="l">
              <a:spcAft>
                <a:spcPts val="0"/>
              </a:spcAft>
            </a:pPr>
            <a:r>
              <a:rPr sz="3000" b="1">
                <a:solidFill>
                  <a:srgbClr val="5F6E73"/>
                </a:solidFill>
                <a:latin typeface="Calibri"/>
              </a:rPr>
              <a:t>5</a:t>
            </a:r>
          </a:p>
        </p:txBody>
      </p:sp>
      <p:sp>
        <p:nvSpPr>
          <p:cNvPr id="34" name="TextBox 33"/>
          <p:cNvSpPr txBox="1"/>
          <p:nvPr/>
        </p:nvSpPr>
        <p:spPr>
          <a:xfrm>
            <a:off x="9619488" y="2194560"/>
            <a:ext cx="1920240" cy="731520"/>
          </a:xfrm>
          <a:prstGeom prst="rect">
            <a:avLst/>
          </a:prstGeom>
          <a:noFill/>
        </p:spPr>
        <p:txBody>
          <a:bodyPr wrap="square" lIns="45720" tIns="27432" rIns="45720" bIns="27432" anchor="t">
            <a:spAutoFit/>
          </a:bodyPr>
          <a:lstStyle/>
          <a:p>
            <a:pPr algn="l">
              <a:spcAft>
                <a:spcPts val="0"/>
              </a:spcAft>
            </a:pPr>
            <a:r>
              <a:rPr sz="1800" b="1">
                <a:solidFill>
                  <a:srgbClr val="0F4C3A"/>
                </a:solidFill>
                <a:latin typeface="Calibri"/>
              </a:rPr>
              <a:t>Customer referral</a:t>
            </a:r>
          </a:p>
        </p:txBody>
      </p:sp>
      <p:sp>
        <p:nvSpPr>
          <p:cNvPr id="35" name="TextBox 34"/>
          <p:cNvSpPr txBox="1"/>
          <p:nvPr/>
        </p:nvSpPr>
        <p:spPr>
          <a:xfrm>
            <a:off x="9619488" y="2971800"/>
            <a:ext cx="1920240" cy="868680"/>
          </a:xfrm>
          <a:prstGeom prst="rect">
            <a:avLst/>
          </a:prstGeom>
          <a:noFill/>
        </p:spPr>
        <p:txBody>
          <a:bodyPr wrap="square" lIns="45720" tIns="27432" rIns="45720" bIns="27432" anchor="t">
            <a:spAutoFit/>
          </a:bodyPr>
          <a:lstStyle/>
          <a:p>
            <a:pPr algn="l">
              <a:spcAft>
                <a:spcPts val="0"/>
              </a:spcAft>
            </a:pPr>
            <a:r>
              <a:rPr sz="1400" b="0">
                <a:solidFill>
                  <a:srgbClr val="1F2A2E"/>
                </a:solidFill>
                <a:latin typeface="Calibri"/>
              </a:rPr>
              <a:t>Did the customer refer the company? (yes/no)</a:t>
            </a:r>
          </a:p>
        </p:txBody>
      </p:sp>
      <p:sp>
        <p:nvSpPr>
          <p:cNvPr id="36" name="Rounded Rectangle 35"/>
          <p:cNvSpPr/>
          <p:nvPr/>
        </p:nvSpPr>
        <p:spPr>
          <a:xfrm>
            <a:off x="9619488" y="3931920"/>
            <a:ext cx="1883664" cy="365760"/>
          </a:xfrm>
          <a:prstGeom prst="roundRect">
            <a:avLst>
              <a:gd name="adj" fmla="val 30000"/>
            </a:avLst>
          </a:prstGeom>
          <a:solidFill>
            <a:srgbClr val="5F6E73"/>
          </a:solidFill>
          <a:ln>
            <a:noFill/>
          </a:ln>
          <a:effectLst/>
        </p:spPr>
        <p:style>
          <a:lnRef idx="1">
            <a:schemeClr val="accent1"/>
          </a:lnRef>
          <a:fillRef idx="3">
            <a:schemeClr val="accent1"/>
          </a:fillRef>
          <a:effectRef idx="2">
            <a:schemeClr val="accent1"/>
          </a:effectRef>
          <a:fontRef idx="minor">
            <a:schemeClr val="lt1"/>
          </a:fontRef>
        </p:style>
        <p:txBody>
          <a:bodyPr lIns="36576" tIns="0" rIns="36576" bIns="0" rtlCol="0" anchor="ctr"/>
          <a:lstStyle/>
          <a:p>
            <a:pPr algn="ctr"/>
            <a:r>
              <a:rPr sz="1100" b="1">
                <a:solidFill>
                  <a:srgbClr val="FFFFFF"/>
                </a:solidFill>
                <a:latin typeface="Calibri"/>
              </a:rPr>
              <a:t>Classification</a:t>
            </a:r>
          </a:p>
        </p:txBody>
      </p:sp>
      <p:sp>
        <p:nvSpPr>
          <p:cNvPr id="37" name="Rounded Rectangle 36"/>
          <p:cNvSpPr/>
          <p:nvPr/>
        </p:nvSpPr>
        <p:spPr>
          <a:xfrm>
            <a:off x="548640" y="4663440"/>
            <a:ext cx="11064240" cy="1600200"/>
          </a:xfrm>
          <a:prstGeom prst="roundRect">
            <a:avLst>
              <a:gd name="adj" fmla="val 6000"/>
            </a:avLst>
          </a:prstGeom>
          <a:solidFill>
            <a:srgbClr val="0F4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822960" y="4754880"/>
            <a:ext cx="10515600" cy="365760"/>
          </a:xfrm>
          <a:prstGeom prst="rect">
            <a:avLst/>
          </a:prstGeom>
          <a:noFill/>
        </p:spPr>
        <p:txBody>
          <a:bodyPr wrap="square" lIns="45720" tIns="27432" rIns="45720" bIns="27432" anchor="t">
            <a:spAutoFit/>
          </a:bodyPr>
          <a:lstStyle/>
          <a:p>
            <a:pPr algn="l">
              <a:spcAft>
                <a:spcPts val="0"/>
              </a:spcAft>
            </a:pPr>
            <a:r>
              <a:rPr sz="1700" b="1">
                <a:solidFill>
                  <a:srgbClr val="E8A33D"/>
                </a:solidFill>
                <a:latin typeface="Calibri"/>
              </a:rPr>
              <a:t>Why historical installation data helps</a:t>
            </a:r>
          </a:p>
        </p:txBody>
      </p:sp>
      <p:sp>
        <p:nvSpPr>
          <p:cNvPr id="39" name="TextBox 38"/>
          <p:cNvSpPr txBox="1"/>
          <p:nvPr/>
        </p:nvSpPr>
        <p:spPr>
          <a:xfrm>
            <a:off x="822960" y="5166360"/>
            <a:ext cx="10515600" cy="1097280"/>
          </a:xfrm>
          <a:prstGeom prst="rect">
            <a:avLst/>
          </a:prstGeom>
          <a:noFill/>
        </p:spPr>
        <p:txBody>
          <a:bodyPr wrap="square" lIns="45720" tIns="27432" rIns="45720" bIns="27432" anchor="t">
            <a:spAutoFit/>
          </a:bodyPr>
          <a:lstStyle/>
          <a:p>
            <a:pPr algn="l">
              <a:spcAft>
                <a:spcPts val="300"/>
              </a:spcAft>
            </a:pPr>
            <a:r>
              <a:rPr sz="1500" b="1">
                <a:solidFill>
                  <a:srgbClr val="E8A33D"/>
                </a:solidFill>
                <a:latin typeface="Calibri"/>
              </a:rPr>
              <a:t>• </a:t>
            </a:r>
            <a:r>
              <a:rPr sz="1500" b="0">
                <a:solidFill>
                  <a:srgbClr val="FFFFFF"/>
                </a:solidFill>
                <a:latin typeface="Calibri"/>
              </a:rPr>
              <a:t>Each of the 2,500 past jobs records what was known at quote time and what happened afterwards.</a:t>
            </a:r>
          </a:p>
          <a:p>
            <a:pPr algn="l">
              <a:spcAft>
                <a:spcPts val="300"/>
              </a:spcAft>
            </a:pPr>
            <a:r>
              <a:rPr sz="1500" b="1">
                <a:solidFill>
                  <a:srgbClr val="E8A33D"/>
                </a:solidFill>
                <a:latin typeface="Calibri"/>
              </a:rPr>
              <a:t>• </a:t>
            </a:r>
            <a:r>
              <a:rPr sz="1500" b="0">
                <a:solidFill>
                  <a:srgbClr val="FFFFFF"/>
                </a:solidFill>
                <a:latin typeface="Calibri"/>
              </a:rPr>
              <a:t>Models learn how size, roof, method and quality moved cost, cooling, savings and customer feedback.</a:t>
            </a:r>
          </a:p>
          <a:p>
            <a:pPr algn="l">
              <a:spcAft>
                <a:spcPts val="300"/>
              </a:spcAft>
            </a:pPr>
            <a:r>
              <a:rPr sz="1500" b="1">
                <a:solidFill>
                  <a:srgbClr val="E8A33D"/>
                </a:solidFill>
                <a:latin typeface="Calibri"/>
              </a:rPr>
              <a:t>• </a:t>
            </a:r>
            <a:r>
              <a:rPr sz="1500" b="0">
                <a:solidFill>
                  <a:srgbClr val="FFFFFF"/>
                </a:solidFill>
                <a:latin typeface="Calibri"/>
              </a:rPr>
              <a:t>Result: consistent, explained estimates instead of guesswork, with limits stated.</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0F4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37744"/>
            <a:ext cx="8229600" cy="274320"/>
          </a:xfrm>
          <a:prstGeom prst="rect">
            <a:avLst/>
          </a:prstGeom>
          <a:noFill/>
        </p:spPr>
        <p:txBody>
          <a:bodyPr wrap="square" lIns="45720" tIns="27432" rIns="45720" bIns="27432" anchor="t">
            <a:spAutoFit/>
          </a:bodyPr>
          <a:lstStyle/>
          <a:p>
            <a:pPr algn="l">
              <a:spcAft>
                <a:spcPts val="0"/>
              </a:spcAft>
            </a:pPr>
            <a:r>
              <a:rPr sz="1200" b="1">
                <a:solidFill>
                  <a:srgbClr val="0E7C86"/>
                </a:solidFill>
                <a:latin typeface="Calibri"/>
              </a:rPr>
              <a:t>DATASET EVALUATION AND CLEANING</a:t>
            </a:r>
          </a:p>
        </p:txBody>
      </p:sp>
      <p:sp>
        <p:nvSpPr>
          <p:cNvPr id="4" name="TextBox 3"/>
          <p:cNvSpPr txBox="1"/>
          <p:nvPr/>
        </p:nvSpPr>
        <p:spPr>
          <a:xfrm>
            <a:off x="548640" y="457200"/>
            <a:ext cx="11064240" cy="685800"/>
          </a:xfrm>
          <a:prstGeom prst="rect">
            <a:avLst/>
          </a:prstGeom>
          <a:noFill/>
        </p:spPr>
        <p:txBody>
          <a:bodyPr wrap="square" lIns="45720" tIns="27432" rIns="45720" bIns="27432" anchor="t">
            <a:spAutoFit/>
          </a:bodyPr>
          <a:lstStyle/>
          <a:p>
            <a:pPr algn="l">
              <a:spcAft>
                <a:spcPts val="0"/>
              </a:spcAft>
            </a:pPr>
            <a:r>
              <a:rPr sz="2800" b="1">
                <a:solidFill>
                  <a:srgbClr val="0F4C3A"/>
                </a:solidFill>
                <a:latin typeface="Calibri"/>
              </a:rPr>
              <a:t>The audit found hidden placeholders; no data was deleted</a:t>
            </a:r>
          </a:p>
        </p:txBody>
      </p:sp>
      <p:sp>
        <p:nvSpPr>
          <p:cNvPr id="5" name="TextBox 4"/>
          <p:cNvSpPr txBox="1"/>
          <p:nvPr/>
        </p:nvSpPr>
        <p:spPr>
          <a:xfrm>
            <a:off x="548640" y="6473952"/>
            <a:ext cx="9875520" cy="274320"/>
          </a:xfrm>
          <a:prstGeom prst="rect">
            <a:avLst/>
          </a:prstGeom>
          <a:noFill/>
        </p:spPr>
        <p:txBody>
          <a:bodyPr wrap="square" lIns="45720" tIns="27432" rIns="45720" bIns="27432" anchor="t">
            <a:spAutoFit/>
          </a:bodyPr>
          <a:lstStyle/>
          <a:p>
            <a:pPr algn="l">
              <a:spcAft>
                <a:spcPts val="0"/>
              </a:spcAft>
            </a:pPr>
            <a:r>
              <a:rPr sz="1100" b="0">
                <a:solidFill>
                  <a:srgbClr val="5F6E73"/>
                </a:solidFill>
                <a:latin typeface="Calibri"/>
              </a:rPr>
              <a:t>Source: dataset/cool_roofing_data.csv (read-only); reports/data_quality_report.md, cleaning_audit.csv; charts from reports/data_profile.json</a:t>
            </a:r>
          </a:p>
        </p:txBody>
      </p:sp>
      <p:sp>
        <p:nvSpPr>
          <p:cNvPr id="6" name="TextBox 5"/>
          <p:cNvSpPr txBox="1"/>
          <p:nvPr/>
        </p:nvSpPr>
        <p:spPr>
          <a:xfrm>
            <a:off x="10881360" y="6473952"/>
            <a:ext cx="777240" cy="274320"/>
          </a:xfrm>
          <a:prstGeom prst="rect">
            <a:avLst/>
          </a:prstGeom>
          <a:noFill/>
        </p:spPr>
        <p:txBody>
          <a:bodyPr wrap="square" lIns="45720" tIns="27432" rIns="45720" bIns="27432" anchor="t">
            <a:spAutoFit/>
          </a:bodyPr>
          <a:lstStyle/>
          <a:p>
            <a:pPr algn="r">
              <a:spcAft>
                <a:spcPts val="0"/>
              </a:spcAft>
            </a:pPr>
            <a:r>
              <a:rPr sz="1100" b="0">
                <a:solidFill>
                  <a:srgbClr val="5F6E73"/>
                </a:solidFill>
                <a:latin typeface="Calibri"/>
              </a:rPr>
              <a:t>3 / 8</a:t>
            </a:r>
          </a:p>
        </p:txBody>
      </p:sp>
      <p:sp>
        <p:nvSpPr>
          <p:cNvPr id="7" name="Rounded Rectangle 6"/>
          <p:cNvSpPr/>
          <p:nvPr/>
        </p:nvSpPr>
        <p:spPr>
          <a:xfrm>
            <a:off x="548640" y="1325880"/>
            <a:ext cx="3429000" cy="2651760"/>
          </a:xfrm>
          <a:prstGeom prst="roundRect">
            <a:avLst>
              <a:gd name="adj" fmla="val 6000"/>
            </a:avLst>
          </a:prstGeom>
          <a:solidFill>
            <a:srgbClr val="EA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58368" y="1389888"/>
            <a:ext cx="3209544" cy="365760"/>
          </a:xfrm>
          <a:prstGeom prst="rect">
            <a:avLst/>
          </a:prstGeom>
          <a:noFill/>
        </p:spPr>
        <p:txBody>
          <a:bodyPr wrap="square" lIns="45720" tIns="27432" rIns="45720" bIns="27432" anchor="t">
            <a:spAutoFit/>
          </a:bodyPr>
          <a:lstStyle/>
          <a:p>
            <a:pPr algn="l">
              <a:spcAft>
                <a:spcPts val="0"/>
              </a:spcAft>
            </a:pPr>
            <a:r>
              <a:rPr sz="1500" b="1">
                <a:solidFill>
                  <a:srgbClr val="0F4C3A"/>
                </a:solidFill>
                <a:latin typeface="Calibri"/>
              </a:rPr>
              <a:t>2,500 records · 15 columns</a:t>
            </a:r>
          </a:p>
        </p:txBody>
      </p:sp>
      <p:sp>
        <p:nvSpPr>
          <p:cNvPr id="9" name="TextBox 8"/>
          <p:cNvSpPr txBox="1"/>
          <p:nvPr/>
        </p:nvSpPr>
        <p:spPr>
          <a:xfrm>
            <a:off x="658368" y="1755648"/>
            <a:ext cx="3209544" cy="2194560"/>
          </a:xfrm>
          <a:prstGeom prst="rect">
            <a:avLst/>
          </a:prstGeom>
          <a:noFill/>
        </p:spPr>
        <p:txBody>
          <a:bodyPr wrap="square" lIns="45720" tIns="27432" rIns="45720" bIns="27432" anchor="t">
            <a:spAutoFit/>
          </a:bodyPr>
          <a:lstStyle/>
          <a:p>
            <a:pPr algn="l">
              <a:spcAft>
                <a:spcPts val="200"/>
              </a:spcAft>
            </a:pPr>
            <a:r>
              <a:rPr sz="1300" b="1">
                <a:solidFill>
                  <a:srgbClr val="0F4C3A"/>
                </a:solidFill>
                <a:latin typeface="Calibri"/>
              </a:rPr>
              <a:t>Inputs: </a:t>
            </a:r>
            <a:r>
              <a:rPr sz="1300" b="0">
                <a:solidFill>
                  <a:srgbClr val="1F2A2E"/>
                </a:solidFill>
                <a:latin typeface="Calibri"/>
              </a:rPr>
              <a:t>location, size, age, existing roof, method, quality, start temp., AC units, current kWh</a:t>
            </a:r>
          </a:p>
          <a:p>
            <a:pPr algn="l">
              <a:spcAft>
                <a:spcPts val="200"/>
              </a:spcAft>
            </a:pPr>
            <a:r>
              <a:rPr sz="1300" b="1">
                <a:solidFill>
                  <a:srgbClr val="0F4C3A"/>
                </a:solidFill>
                <a:latin typeface="Calibri"/>
              </a:rPr>
              <a:t>Targets: </a:t>
            </a:r>
            <a:r>
              <a:rPr sz="1300" b="0">
                <a:solidFill>
                  <a:srgbClr val="1F2A2E"/>
                </a:solidFill>
                <a:latin typeface="Calibri"/>
              </a:rPr>
              <a:t>cost, temperature drop, kWh saved, rating, referral</a:t>
            </a:r>
          </a:p>
          <a:p>
            <a:pPr algn="l">
              <a:spcAft>
                <a:spcPts val="200"/>
              </a:spcAft>
            </a:pPr>
            <a:r>
              <a:rPr sz="1300" b="1">
                <a:solidFill>
                  <a:srgbClr val="0F4C3A"/>
                </a:solidFill>
                <a:latin typeface="Calibri"/>
              </a:rPr>
              <a:t>Decisions: </a:t>
            </a:r>
            <a:r>
              <a:rPr sz="1300" b="0">
                <a:solidFill>
                  <a:srgbClr val="1F2A2E"/>
                </a:solidFill>
                <a:latin typeface="Calibri"/>
              </a:rPr>
              <a:t>120 °C → missing; 0 kWh → missing (inferred); 167 increases kept; 106 gaps imputed in training only; 0 rows deleted</a:t>
            </a:r>
          </a:p>
        </p:txBody>
      </p:sp>
      <p:pic>
        <p:nvPicPr>
          <p:cNvPr id="10" name="Picture 9" descr="d8_anomalies.png"/>
          <p:cNvPicPr>
            <a:picLocks noChangeAspect="1"/>
          </p:cNvPicPr>
          <p:nvPr/>
        </p:nvPicPr>
        <p:blipFill>
          <a:blip r:embed="rId3"/>
          <a:stretch>
            <a:fillRect/>
          </a:stretch>
        </p:blipFill>
        <p:spPr>
          <a:xfrm>
            <a:off x="4069080" y="1325880"/>
            <a:ext cx="4478015" cy="2651760"/>
          </a:xfrm>
          <a:prstGeom prst="rect">
            <a:avLst/>
          </a:prstGeom>
        </p:spPr>
      </p:pic>
      <p:pic>
        <p:nvPicPr>
          <p:cNvPr id="11" name="Picture 10" descr="d8_temperature_cleaning.png"/>
          <p:cNvPicPr>
            <a:picLocks noChangeAspect="1"/>
          </p:cNvPicPr>
          <p:nvPr/>
        </p:nvPicPr>
        <p:blipFill>
          <a:blip r:embed="rId4"/>
          <a:stretch>
            <a:fillRect/>
          </a:stretch>
        </p:blipFill>
        <p:spPr>
          <a:xfrm>
            <a:off x="8366760" y="1325880"/>
            <a:ext cx="3666346" cy="2651760"/>
          </a:xfrm>
          <a:prstGeom prst="rect">
            <a:avLst/>
          </a:prstGeom>
        </p:spPr>
      </p:pic>
      <p:pic>
        <p:nvPicPr>
          <p:cNvPr id="12" name="Picture 11" descr="d8_target_distributions.png"/>
          <p:cNvPicPr>
            <a:picLocks noChangeAspect="1"/>
          </p:cNvPicPr>
          <p:nvPr/>
        </p:nvPicPr>
        <p:blipFill>
          <a:blip r:embed="rId5"/>
          <a:stretch>
            <a:fillRect/>
          </a:stretch>
        </p:blipFill>
        <p:spPr>
          <a:xfrm>
            <a:off x="548640" y="4069080"/>
            <a:ext cx="11064240" cy="2130797"/>
          </a:xfrm>
          <a:prstGeom prst="rect">
            <a:avLst/>
          </a:prstGeom>
        </p:spPr>
      </p:pic>
      <p:sp>
        <p:nvSpPr>
          <p:cNvPr id="13" name="TextBox 12"/>
          <p:cNvSpPr txBox="1"/>
          <p:nvPr/>
        </p:nvSpPr>
        <p:spPr>
          <a:xfrm>
            <a:off x="548640" y="6172200"/>
            <a:ext cx="11064240" cy="274320"/>
          </a:xfrm>
          <a:prstGeom prst="rect">
            <a:avLst/>
          </a:prstGeom>
          <a:noFill/>
        </p:spPr>
        <p:txBody>
          <a:bodyPr wrap="square" lIns="45720" tIns="27432" rIns="45720" bIns="27432" anchor="t">
            <a:spAutoFit/>
          </a:bodyPr>
          <a:lstStyle/>
          <a:p>
            <a:pPr algn="l">
              <a:spcAft>
                <a:spcPts val="0"/>
              </a:spcAft>
            </a:pPr>
            <a:r>
              <a:rPr sz="1200" b="1">
                <a:solidFill>
                  <a:srgbClr val="B0412C"/>
                </a:solidFill>
                <a:latin typeface="Calibri"/>
              </a:rPr>
              <a:t>Effect of cleaning: electricity-savings hold-out MAE 4.45 → 3.62 kWh. Zero-kWh treatment is an inference; the 120 °C finding is confirmed.</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0F4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37744"/>
            <a:ext cx="8229600" cy="274320"/>
          </a:xfrm>
          <a:prstGeom prst="rect">
            <a:avLst/>
          </a:prstGeom>
          <a:noFill/>
        </p:spPr>
        <p:txBody>
          <a:bodyPr wrap="square" lIns="45720" tIns="27432" rIns="45720" bIns="27432" anchor="t">
            <a:spAutoFit/>
          </a:bodyPr>
          <a:lstStyle/>
          <a:p>
            <a:pPr algn="l">
              <a:spcAft>
                <a:spcPts val="0"/>
              </a:spcAft>
            </a:pPr>
            <a:r>
              <a:rPr sz="1200" b="1">
                <a:solidFill>
                  <a:srgbClr val="0E7C86"/>
                </a:solidFill>
                <a:latin typeface="Calibri"/>
              </a:rPr>
              <a:t>MODELS USED</a:t>
            </a:r>
          </a:p>
        </p:txBody>
      </p:sp>
      <p:sp>
        <p:nvSpPr>
          <p:cNvPr id="4" name="TextBox 3"/>
          <p:cNvSpPr txBox="1"/>
          <p:nvPr/>
        </p:nvSpPr>
        <p:spPr>
          <a:xfrm>
            <a:off x="548640" y="457200"/>
            <a:ext cx="11064240" cy="685800"/>
          </a:xfrm>
          <a:prstGeom prst="rect">
            <a:avLst/>
          </a:prstGeom>
          <a:noFill/>
        </p:spPr>
        <p:txBody>
          <a:bodyPr wrap="square" lIns="45720" tIns="27432" rIns="45720" bIns="27432" anchor="t">
            <a:spAutoFit/>
          </a:bodyPr>
          <a:lstStyle/>
          <a:p>
            <a:pPr algn="l">
              <a:spcAft>
                <a:spcPts val="0"/>
              </a:spcAft>
            </a:pPr>
            <a:r>
              <a:rPr sz="2800" b="1">
                <a:solidFill>
                  <a:srgbClr val="0F4C3A"/>
                </a:solidFill>
                <a:latin typeface="Calibri"/>
              </a:rPr>
              <a:t>Five tasks, six models, each chosen by validation evidence</a:t>
            </a:r>
          </a:p>
        </p:txBody>
      </p:sp>
      <p:sp>
        <p:nvSpPr>
          <p:cNvPr id="5" name="TextBox 4"/>
          <p:cNvSpPr txBox="1"/>
          <p:nvPr/>
        </p:nvSpPr>
        <p:spPr>
          <a:xfrm>
            <a:off x="548640" y="6473952"/>
            <a:ext cx="9875520" cy="274320"/>
          </a:xfrm>
          <a:prstGeom prst="rect">
            <a:avLst/>
          </a:prstGeom>
          <a:noFill/>
        </p:spPr>
        <p:txBody>
          <a:bodyPr wrap="square" lIns="45720" tIns="27432" rIns="45720" bIns="27432" anchor="t">
            <a:spAutoFit/>
          </a:bodyPr>
          <a:lstStyle/>
          <a:p>
            <a:pPr algn="l">
              <a:spcAft>
                <a:spcPts val="0"/>
              </a:spcAft>
            </a:pPr>
            <a:r>
              <a:rPr sz="1100" b="0">
                <a:solidFill>
                  <a:srgbClr val="5F6E73"/>
                </a:solidFill>
                <a:latin typeface="Calibri"/>
              </a:rPr>
              <a:t>Source: models/model_metadata.json (selected by cross-validated score; baselines are never selectable)</a:t>
            </a:r>
          </a:p>
        </p:txBody>
      </p:sp>
      <p:sp>
        <p:nvSpPr>
          <p:cNvPr id="6" name="TextBox 5"/>
          <p:cNvSpPr txBox="1"/>
          <p:nvPr/>
        </p:nvSpPr>
        <p:spPr>
          <a:xfrm>
            <a:off x="10881360" y="6473952"/>
            <a:ext cx="777240" cy="274320"/>
          </a:xfrm>
          <a:prstGeom prst="rect">
            <a:avLst/>
          </a:prstGeom>
          <a:noFill/>
        </p:spPr>
        <p:txBody>
          <a:bodyPr wrap="square" lIns="45720" tIns="27432" rIns="45720" bIns="27432" anchor="t">
            <a:spAutoFit/>
          </a:bodyPr>
          <a:lstStyle/>
          <a:p>
            <a:pPr algn="r">
              <a:spcAft>
                <a:spcPts val="0"/>
              </a:spcAft>
            </a:pPr>
            <a:r>
              <a:rPr sz="1100" b="0">
                <a:solidFill>
                  <a:srgbClr val="5F6E73"/>
                </a:solidFill>
                <a:latin typeface="Calibri"/>
              </a:rPr>
              <a:t>4 / 8</a:t>
            </a:r>
          </a:p>
        </p:txBody>
      </p:sp>
      <p:graphicFrame>
        <p:nvGraphicFramePr>
          <p:cNvPr id="7" name="Table 6"/>
          <p:cNvGraphicFramePr>
            <a:graphicFrameLocks noGrp="1"/>
          </p:cNvGraphicFramePr>
          <p:nvPr/>
        </p:nvGraphicFramePr>
        <p:xfrm>
          <a:off x="548640" y="1371600"/>
          <a:ext cx="11064240" cy="3840480"/>
        </p:xfrm>
        <a:graphic>
          <a:graphicData uri="http://schemas.openxmlformats.org/drawingml/2006/table">
            <a:tbl>
              <a:tblPr firstRow="1" bandRow="1">
                <a:tableStyleId>{5C22544A-7EE6-4342-B048-85BDC9FD1C3A}</a:tableStyleId>
              </a:tblPr>
              <a:tblGrid>
                <a:gridCol w="2286000">
                  <a:extLst>
                    <a:ext uri="{9D8B030D-6E8A-4147-A177-3AD203B41FA5}">
                      <a16:colId xmlns:a16="http://schemas.microsoft.com/office/drawing/2014/main" val="20000"/>
                    </a:ext>
                  </a:extLst>
                </a:gridCol>
                <a:gridCol w="2606040">
                  <a:extLst>
                    <a:ext uri="{9D8B030D-6E8A-4147-A177-3AD203B41FA5}">
                      <a16:colId xmlns:a16="http://schemas.microsoft.com/office/drawing/2014/main" val="20001"/>
                    </a:ext>
                  </a:extLst>
                </a:gridCol>
                <a:gridCol w="2240280">
                  <a:extLst>
                    <a:ext uri="{9D8B030D-6E8A-4147-A177-3AD203B41FA5}">
                      <a16:colId xmlns:a16="http://schemas.microsoft.com/office/drawing/2014/main" val="20002"/>
                    </a:ext>
                  </a:extLst>
                </a:gridCol>
                <a:gridCol w="3931920">
                  <a:extLst>
                    <a:ext uri="{9D8B030D-6E8A-4147-A177-3AD203B41FA5}">
                      <a16:colId xmlns:a16="http://schemas.microsoft.com/office/drawing/2014/main" val="20003"/>
                    </a:ext>
                  </a:extLst>
                </a:gridCol>
              </a:tblGrid>
              <a:tr h="548640">
                <a:tc>
                  <a:txBody>
                    <a:bodyPr/>
                    <a:lstStyle/>
                    <a:p>
                      <a:r>
                        <a:rPr sz="1300" b="1">
                          <a:solidFill>
                            <a:srgbClr val="FFFFFF"/>
                          </a:solidFill>
                          <a:latin typeface="Calibri"/>
                        </a:rPr>
                        <a:t>Task</a:t>
                      </a:r>
                    </a:p>
                  </a:txBody>
                  <a:tcPr marL="73152" marR="73152" marT="27432" marB="27432" anchor="ctr">
                    <a:solidFill>
                      <a:srgbClr val="0F4C3A"/>
                    </a:solidFill>
                  </a:tcPr>
                </a:tc>
                <a:tc>
                  <a:txBody>
                    <a:bodyPr/>
                    <a:lstStyle/>
                    <a:p>
                      <a:r>
                        <a:rPr sz="1300" b="1">
                          <a:solidFill>
                            <a:srgbClr val="FFFFFF"/>
                          </a:solidFill>
                          <a:latin typeface="Calibri"/>
                        </a:rPr>
                        <a:t>Output</a:t>
                      </a:r>
                    </a:p>
                  </a:txBody>
                  <a:tcPr marL="73152" marR="73152" marT="27432" marB="27432" anchor="ctr">
                    <a:solidFill>
                      <a:srgbClr val="0F4C3A"/>
                    </a:solidFill>
                  </a:tcPr>
                </a:tc>
                <a:tc>
                  <a:txBody>
                    <a:bodyPr/>
                    <a:lstStyle/>
                    <a:p>
                      <a:r>
                        <a:rPr sz="1300" b="1">
                          <a:solidFill>
                            <a:srgbClr val="FFFFFF"/>
                          </a:solidFill>
                          <a:latin typeface="Calibri"/>
                        </a:rPr>
                        <a:t>Selected model</a:t>
                      </a:r>
                    </a:p>
                  </a:txBody>
                  <a:tcPr marL="73152" marR="73152" marT="27432" marB="27432" anchor="ctr">
                    <a:solidFill>
                      <a:srgbClr val="0F4C3A"/>
                    </a:solidFill>
                  </a:tcPr>
                </a:tc>
                <a:tc>
                  <a:txBody>
                    <a:bodyPr/>
                    <a:lstStyle/>
                    <a:p>
                      <a:r>
                        <a:rPr sz="1300" b="1">
                          <a:solidFill>
                            <a:srgbClr val="FFFFFF"/>
                          </a:solidFill>
                          <a:latin typeface="Calibri"/>
                        </a:rPr>
                        <a:t>Why it was chosen</a:t>
                      </a:r>
                    </a:p>
                  </a:txBody>
                  <a:tcPr marL="73152" marR="73152" marT="27432" marB="27432" anchor="ctr">
                    <a:solidFill>
                      <a:srgbClr val="0F4C3A"/>
                    </a:solidFill>
                  </a:tcPr>
                </a:tc>
                <a:extLst>
                  <a:ext uri="{0D108BD9-81ED-4DB2-BD59-A6C34878D82A}">
                    <a16:rowId xmlns:a16="http://schemas.microsoft.com/office/drawing/2014/main" val="10000"/>
                  </a:ext>
                </a:extLst>
              </a:tr>
              <a:tr h="548640">
                <a:tc>
                  <a:txBody>
                    <a:bodyPr/>
                    <a:lstStyle/>
                    <a:p>
                      <a:r>
                        <a:rPr sz="1300" b="1">
                          <a:solidFill>
                            <a:srgbClr val="1F2A2E"/>
                          </a:solidFill>
                          <a:latin typeface="Calibri"/>
                        </a:rPr>
                        <a:t>Installation cost</a:t>
                      </a:r>
                    </a:p>
                  </a:txBody>
                  <a:tcPr marL="73152" marR="73152" marT="27432" marB="27432" anchor="ctr">
                    <a:solidFill>
                      <a:srgbClr val="FFFFFF"/>
                    </a:solidFill>
                  </a:tcPr>
                </a:tc>
                <a:tc>
                  <a:txBody>
                    <a:bodyPr/>
                    <a:lstStyle/>
                    <a:p>
                      <a:r>
                        <a:rPr sz="1300" b="0">
                          <a:solidFill>
                            <a:srgbClr val="1F2A2E"/>
                          </a:solidFill>
                          <a:latin typeface="Calibri"/>
                        </a:rPr>
                        <a:t>₹ (regression)</a:t>
                      </a:r>
                    </a:p>
                  </a:txBody>
                  <a:tcPr marL="73152" marR="73152" marT="27432" marB="27432" anchor="ctr">
                    <a:solidFill>
                      <a:srgbClr val="FFFFFF"/>
                    </a:solidFill>
                  </a:tcPr>
                </a:tc>
                <a:tc>
                  <a:txBody>
                    <a:bodyPr/>
                    <a:lstStyle/>
                    <a:p>
                      <a:r>
                        <a:rPr sz="1300" b="0">
                          <a:solidFill>
                            <a:srgbClr val="1F2A2E"/>
                          </a:solidFill>
                          <a:latin typeface="Calibri"/>
                        </a:rPr>
                        <a:t>Log-linear Ridge</a:t>
                      </a:r>
                    </a:p>
                  </a:txBody>
                  <a:tcPr marL="73152" marR="73152" marT="27432" marB="27432" anchor="ctr">
                    <a:solidFill>
                      <a:srgbClr val="FFFFFF"/>
                    </a:solidFill>
                  </a:tcPr>
                </a:tc>
                <a:tc>
                  <a:txBody>
                    <a:bodyPr/>
                    <a:lstStyle/>
                    <a:p>
                      <a:r>
                        <a:rPr sz="1300" b="0">
                          <a:solidFill>
                            <a:srgbClr val="1F2A2E"/>
                          </a:solidFill>
                          <a:latin typeface="Calibri"/>
                        </a:rPr>
                        <a:t>Cost ≈ size × rate: beat boosting in CV</a:t>
                      </a:r>
                    </a:p>
                  </a:txBody>
                  <a:tcPr marL="73152" marR="73152" marT="27432" marB="27432" anchor="ctr">
                    <a:solidFill>
                      <a:srgbClr val="FFFFFF"/>
                    </a:solidFill>
                  </a:tcPr>
                </a:tc>
                <a:extLst>
                  <a:ext uri="{0D108BD9-81ED-4DB2-BD59-A6C34878D82A}">
                    <a16:rowId xmlns:a16="http://schemas.microsoft.com/office/drawing/2014/main" val="10001"/>
                  </a:ext>
                </a:extLst>
              </a:tr>
              <a:tr h="548640">
                <a:tc>
                  <a:txBody>
                    <a:bodyPr/>
                    <a:lstStyle/>
                    <a:p>
                      <a:r>
                        <a:rPr sz="1300" b="1">
                          <a:solidFill>
                            <a:srgbClr val="1F2A2E"/>
                          </a:solidFill>
                          <a:latin typeface="Calibri"/>
                        </a:rPr>
                        <a:t>Roof temperature drop</a:t>
                      </a:r>
                    </a:p>
                  </a:txBody>
                  <a:tcPr marL="73152" marR="73152" marT="27432" marB="27432" anchor="ctr">
                    <a:solidFill>
                      <a:srgbClr val="EAF2EF"/>
                    </a:solidFill>
                  </a:tcPr>
                </a:tc>
                <a:tc>
                  <a:txBody>
                    <a:bodyPr/>
                    <a:lstStyle/>
                    <a:p>
                      <a:r>
                        <a:rPr sz="1300" b="0">
                          <a:solidFill>
                            <a:srgbClr val="1F2A2E"/>
                          </a:solidFill>
                          <a:latin typeface="Calibri"/>
                        </a:rPr>
                        <a:t>°C (regression)</a:t>
                      </a:r>
                    </a:p>
                  </a:txBody>
                  <a:tcPr marL="73152" marR="73152" marT="27432" marB="27432" anchor="ctr">
                    <a:solidFill>
                      <a:srgbClr val="EAF2EF"/>
                    </a:solidFill>
                  </a:tcPr>
                </a:tc>
                <a:tc>
                  <a:txBody>
                    <a:bodyPr/>
                    <a:lstStyle/>
                    <a:p>
                      <a:r>
                        <a:rPr sz="1300" b="0">
                          <a:solidFill>
                            <a:srgbClr val="1F2A2E"/>
                          </a:solidFill>
                          <a:latin typeface="Calibri"/>
                        </a:rPr>
                        <a:t>LightGBM</a:t>
                      </a:r>
                    </a:p>
                  </a:txBody>
                  <a:tcPr marL="73152" marR="73152" marT="27432" marB="27432" anchor="ctr">
                    <a:solidFill>
                      <a:srgbClr val="EAF2EF"/>
                    </a:solidFill>
                  </a:tcPr>
                </a:tc>
                <a:tc>
                  <a:txBody>
                    <a:bodyPr/>
                    <a:lstStyle/>
                    <a:p>
                      <a:r>
                        <a:rPr sz="1300" b="0">
                          <a:solidFill>
                            <a:srgbClr val="1F2A2E"/>
                          </a:solidFill>
                          <a:latin typeface="Calibri"/>
                        </a:rPr>
                        <a:t>Predicts a fraction of start temperature</a:t>
                      </a:r>
                    </a:p>
                  </a:txBody>
                  <a:tcPr marL="73152" marR="73152" marT="27432" marB="27432" anchor="ctr">
                    <a:solidFill>
                      <a:srgbClr val="EAF2EF"/>
                    </a:solidFill>
                  </a:tcPr>
                </a:tc>
                <a:extLst>
                  <a:ext uri="{0D108BD9-81ED-4DB2-BD59-A6C34878D82A}">
                    <a16:rowId xmlns:a16="http://schemas.microsoft.com/office/drawing/2014/main" val="10002"/>
                  </a:ext>
                </a:extLst>
              </a:tr>
              <a:tr h="548640">
                <a:tc>
                  <a:txBody>
                    <a:bodyPr/>
                    <a:lstStyle/>
                    <a:p>
                      <a:r>
                        <a:rPr sz="1300" b="1">
                          <a:solidFill>
                            <a:srgbClr val="1F2A2E"/>
                          </a:solidFill>
                          <a:latin typeface="Calibri"/>
                        </a:rPr>
                        <a:t>Electricity savings</a:t>
                      </a:r>
                    </a:p>
                  </a:txBody>
                  <a:tcPr marL="73152" marR="73152" marT="27432" marB="27432" anchor="ctr">
                    <a:solidFill>
                      <a:srgbClr val="FFFFFF"/>
                    </a:solidFill>
                  </a:tcPr>
                </a:tc>
                <a:tc>
                  <a:txBody>
                    <a:bodyPr/>
                    <a:lstStyle/>
                    <a:p>
                      <a:r>
                        <a:rPr sz="1300" b="0">
                          <a:solidFill>
                            <a:srgbClr val="1F2A2E"/>
                          </a:solidFill>
                          <a:latin typeface="Calibri"/>
                        </a:rPr>
                        <a:t>kWh/month (regression)</a:t>
                      </a:r>
                    </a:p>
                  </a:txBody>
                  <a:tcPr marL="73152" marR="73152" marT="27432" marB="27432" anchor="ctr">
                    <a:solidFill>
                      <a:srgbClr val="FFFFFF"/>
                    </a:solidFill>
                  </a:tcPr>
                </a:tc>
                <a:tc>
                  <a:txBody>
                    <a:bodyPr/>
                    <a:lstStyle/>
                    <a:p>
                      <a:r>
                        <a:rPr sz="1300" b="0">
                          <a:solidFill>
                            <a:srgbClr val="1F2A2E"/>
                          </a:solidFill>
                          <a:latin typeface="Calibri"/>
                        </a:rPr>
                        <a:t>LightGBM</a:t>
                      </a:r>
                    </a:p>
                  </a:txBody>
                  <a:tcPr marL="73152" marR="73152" marT="27432" marB="27432" anchor="ctr">
                    <a:solidFill>
                      <a:srgbClr val="FFFFFF"/>
                    </a:solidFill>
                  </a:tcPr>
                </a:tc>
                <a:tc>
                  <a:txBody>
                    <a:bodyPr/>
                    <a:lstStyle/>
                    <a:p>
                      <a:r>
                        <a:rPr sz="1300" b="0">
                          <a:solidFill>
                            <a:srgbClr val="1F2A2E"/>
                          </a:solidFill>
                          <a:latin typeface="Calibri"/>
                        </a:rPr>
                        <a:t>Predicts a fraction of current usage</a:t>
                      </a:r>
                    </a:p>
                  </a:txBody>
                  <a:tcPr marL="73152" marR="73152" marT="27432" marB="27432" anchor="ctr">
                    <a:solidFill>
                      <a:srgbClr val="FFFFFF"/>
                    </a:solidFill>
                  </a:tcPr>
                </a:tc>
                <a:extLst>
                  <a:ext uri="{0D108BD9-81ED-4DB2-BD59-A6C34878D82A}">
                    <a16:rowId xmlns:a16="http://schemas.microsoft.com/office/drawing/2014/main" val="10003"/>
                  </a:ext>
                </a:extLst>
              </a:tr>
              <a:tr h="548640">
                <a:tc>
                  <a:txBody>
                    <a:bodyPr/>
                    <a:lstStyle/>
                    <a:p>
                      <a:r>
                        <a:rPr sz="1300" b="1">
                          <a:solidFill>
                            <a:srgbClr val="1F2A2E"/>
                          </a:solidFill>
                          <a:latin typeface="Calibri"/>
                        </a:rPr>
                        <a:t>Customer rating</a:t>
                      </a:r>
                    </a:p>
                  </a:txBody>
                  <a:tcPr marL="73152" marR="73152" marT="27432" marB="27432" anchor="ctr">
                    <a:solidFill>
                      <a:srgbClr val="EAF2EF"/>
                    </a:solidFill>
                  </a:tcPr>
                </a:tc>
                <a:tc>
                  <a:txBody>
                    <a:bodyPr/>
                    <a:lstStyle/>
                    <a:p>
                      <a:r>
                        <a:rPr sz="1300" b="0">
                          <a:solidFill>
                            <a:srgbClr val="1F2A2E"/>
                          </a:solidFill>
                          <a:latin typeface="Calibri"/>
                        </a:rPr>
                        <a:t>1–5 stars (regression)</a:t>
                      </a:r>
                    </a:p>
                  </a:txBody>
                  <a:tcPr marL="73152" marR="73152" marT="27432" marB="27432" anchor="ctr">
                    <a:solidFill>
                      <a:srgbClr val="EAF2EF"/>
                    </a:solidFill>
                  </a:tcPr>
                </a:tc>
                <a:tc>
                  <a:txBody>
                    <a:bodyPr/>
                    <a:lstStyle/>
                    <a:p>
                      <a:r>
                        <a:rPr sz="1300" b="0">
                          <a:solidFill>
                            <a:srgbClr val="1F2A2E"/>
                          </a:solidFill>
                          <a:latin typeface="Calibri"/>
                        </a:rPr>
                        <a:t>LightGBM</a:t>
                      </a:r>
                    </a:p>
                  </a:txBody>
                  <a:tcPr marL="73152" marR="73152" marT="27432" marB="27432" anchor="ctr">
                    <a:solidFill>
                      <a:srgbClr val="EAF2EF"/>
                    </a:solidFill>
                  </a:tcPr>
                </a:tc>
                <a:tc>
                  <a:txBody>
                    <a:bodyPr/>
                    <a:lstStyle/>
                    <a:p>
                      <a:r>
                        <a:rPr sz="1300" b="0">
                          <a:solidFill>
                            <a:srgbClr val="1F2A2E"/>
                          </a:solidFill>
                          <a:latin typeface="Calibri"/>
                        </a:rPr>
                        <a:t>Best CV error; clipped to 1–5</a:t>
                      </a:r>
                    </a:p>
                  </a:txBody>
                  <a:tcPr marL="73152" marR="73152" marT="27432" marB="27432" anchor="ctr">
                    <a:solidFill>
                      <a:srgbClr val="EAF2EF"/>
                    </a:solidFill>
                  </a:tcPr>
                </a:tc>
                <a:extLst>
                  <a:ext uri="{0D108BD9-81ED-4DB2-BD59-A6C34878D82A}">
                    <a16:rowId xmlns:a16="http://schemas.microsoft.com/office/drawing/2014/main" val="10004"/>
                  </a:ext>
                </a:extLst>
              </a:tr>
              <a:tr h="548640">
                <a:tc>
                  <a:txBody>
                    <a:bodyPr/>
                    <a:lstStyle/>
                    <a:p>
                      <a:r>
                        <a:rPr sz="1300" b="1">
                          <a:solidFill>
                            <a:srgbClr val="1F2A2E"/>
                          </a:solidFill>
                          <a:latin typeface="Calibri"/>
                        </a:rPr>
                        <a:t>High rating (≥ 4★)</a:t>
                      </a:r>
                    </a:p>
                  </a:txBody>
                  <a:tcPr marL="73152" marR="73152" marT="27432" marB="27432" anchor="ctr">
                    <a:solidFill>
                      <a:srgbClr val="FFFFFF"/>
                    </a:solidFill>
                  </a:tcPr>
                </a:tc>
                <a:tc>
                  <a:txBody>
                    <a:bodyPr/>
                    <a:lstStyle/>
                    <a:p>
                      <a:r>
                        <a:rPr sz="1300" b="0">
                          <a:solidFill>
                            <a:srgbClr val="1F2A2E"/>
                          </a:solidFill>
                          <a:latin typeface="Calibri"/>
                        </a:rPr>
                        <a:t>yes / no (classification)</a:t>
                      </a:r>
                    </a:p>
                  </a:txBody>
                  <a:tcPr marL="73152" marR="73152" marT="27432" marB="27432" anchor="ctr">
                    <a:solidFill>
                      <a:srgbClr val="FFFFFF"/>
                    </a:solidFill>
                  </a:tcPr>
                </a:tc>
                <a:tc>
                  <a:txBody>
                    <a:bodyPr/>
                    <a:lstStyle/>
                    <a:p>
                      <a:r>
                        <a:rPr sz="1300" b="0">
                          <a:solidFill>
                            <a:srgbClr val="1F2A2E"/>
                          </a:solidFill>
                          <a:latin typeface="Calibri"/>
                        </a:rPr>
                        <a:t>LightGBM</a:t>
                      </a:r>
                    </a:p>
                  </a:txBody>
                  <a:tcPr marL="73152" marR="73152" marT="27432" marB="27432" anchor="ctr">
                    <a:solidFill>
                      <a:srgbClr val="FFFFFF"/>
                    </a:solidFill>
                  </a:tcPr>
                </a:tc>
                <a:tc>
                  <a:txBody>
                    <a:bodyPr/>
                    <a:lstStyle/>
                    <a:p>
                      <a:r>
                        <a:rPr sz="1300" b="0">
                          <a:solidFill>
                            <a:srgbClr val="1F2A2E"/>
                          </a:solidFill>
                          <a:latin typeface="Calibri"/>
                        </a:rPr>
                        <a:t>Best CV accuracy</a:t>
                      </a:r>
                    </a:p>
                  </a:txBody>
                  <a:tcPr marL="73152" marR="73152" marT="27432" marB="27432" anchor="ctr">
                    <a:solidFill>
                      <a:srgbClr val="FFFFFF"/>
                    </a:solidFill>
                  </a:tcPr>
                </a:tc>
                <a:extLst>
                  <a:ext uri="{0D108BD9-81ED-4DB2-BD59-A6C34878D82A}">
                    <a16:rowId xmlns:a16="http://schemas.microsoft.com/office/drawing/2014/main" val="10005"/>
                  </a:ext>
                </a:extLst>
              </a:tr>
              <a:tr h="548640">
                <a:tc>
                  <a:txBody>
                    <a:bodyPr/>
                    <a:lstStyle/>
                    <a:p>
                      <a:r>
                        <a:rPr sz="1300" b="1">
                          <a:solidFill>
                            <a:srgbClr val="1F2A2E"/>
                          </a:solidFill>
                          <a:latin typeface="Calibri"/>
                        </a:rPr>
                        <a:t>Customer referral</a:t>
                      </a:r>
                    </a:p>
                  </a:txBody>
                  <a:tcPr marL="73152" marR="73152" marT="27432" marB="27432" anchor="ctr">
                    <a:solidFill>
                      <a:srgbClr val="EAF2EF"/>
                    </a:solidFill>
                  </a:tcPr>
                </a:tc>
                <a:tc>
                  <a:txBody>
                    <a:bodyPr/>
                    <a:lstStyle/>
                    <a:p>
                      <a:r>
                        <a:rPr sz="1300" b="0">
                          <a:solidFill>
                            <a:srgbClr val="1F2A2E"/>
                          </a:solidFill>
                          <a:latin typeface="Calibri"/>
                        </a:rPr>
                        <a:t>yes / no (classification)</a:t>
                      </a:r>
                    </a:p>
                  </a:txBody>
                  <a:tcPr marL="73152" marR="73152" marT="27432" marB="27432" anchor="ctr">
                    <a:solidFill>
                      <a:srgbClr val="EAF2EF"/>
                    </a:solidFill>
                  </a:tcPr>
                </a:tc>
                <a:tc>
                  <a:txBody>
                    <a:bodyPr/>
                    <a:lstStyle/>
                    <a:p>
                      <a:r>
                        <a:rPr sz="1300" b="0">
                          <a:solidFill>
                            <a:srgbClr val="1F2A2E"/>
                          </a:solidFill>
                          <a:latin typeface="Calibri"/>
                        </a:rPr>
                        <a:t>Logistic Regression</a:t>
                      </a:r>
                    </a:p>
                  </a:txBody>
                  <a:tcPr marL="73152" marR="73152" marT="27432" marB="27432" anchor="ctr">
                    <a:solidFill>
                      <a:srgbClr val="EAF2EF"/>
                    </a:solidFill>
                  </a:tcPr>
                </a:tc>
                <a:tc>
                  <a:txBody>
                    <a:bodyPr/>
                    <a:lstStyle/>
                    <a:p>
                      <a:r>
                        <a:rPr sz="1300" b="0">
                          <a:solidFill>
                            <a:srgbClr val="1F2A2E"/>
                          </a:solidFill>
                          <a:latin typeface="Calibri"/>
                        </a:rPr>
                        <a:t>Best CV F1; weak signal overall</a:t>
                      </a:r>
                    </a:p>
                  </a:txBody>
                  <a:tcPr marL="73152" marR="73152" marT="27432" marB="27432" anchor="ctr">
                    <a:solidFill>
                      <a:srgbClr val="EAF2EF"/>
                    </a:solidFill>
                  </a:tcPr>
                </a:tc>
                <a:extLst>
                  <a:ext uri="{0D108BD9-81ED-4DB2-BD59-A6C34878D82A}">
                    <a16:rowId xmlns:a16="http://schemas.microsoft.com/office/drawing/2014/main" val="10006"/>
                  </a:ext>
                </a:extLst>
              </a:tr>
            </a:tbl>
          </a:graphicData>
        </a:graphic>
      </p:graphicFrame>
      <p:sp>
        <p:nvSpPr>
          <p:cNvPr id="8" name="Rounded Rectangle 7"/>
          <p:cNvSpPr/>
          <p:nvPr/>
        </p:nvSpPr>
        <p:spPr>
          <a:xfrm>
            <a:off x="548640" y="5349240"/>
            <a:ext cx="5440680" cy="1005840"/>
          </a:xfrm>
          <a:prstGeom prst="roundRect">
            <a:avLst>
              <a:gd name="adj" fmla="val 6000"/>
            </a:avLst>
          </a:prstGeom>
          <a:solidFill>
            <a:srgbClr val="EA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58368" y="5413248"/>
            <a:ext cx="5221224" cy="365760"/>
          </a:xfrm>
          <a:prstGeom prst="rect">
            <a:avLst/>
          </a:prstGeom>
          <a:noFill/>
        </p:spPr>
        <p:txBody>
          <a:bodyPr wrap="square" lIns="45720" tIns="27432" rIns="45720" bIns="27432" anchor="t">
            <a:spAutoFit/>
          </a:bodyPr>
          <a:lstStyle/>
          <a:p>
            <a:pPr algn="l">
              <a:spcAft>
                <a:spcPts val="0"/>
              </a:spcAft>
            </a:pPr>
            <a:r>
              <a:rPr sz="1400" b="1">
                <a:solidFill>
                  <a:srgbClr val="0F4C3A"/>
                </a:solidFill>
                <a:latin typeface="Calibri"/>
              </a:rPr>
              <a:t>Regression: predicts a number</a:t>
            </a:r>
          </a:p>
        </p:txBody>
      </p:sp>
      <p:sp>
        <p:nvSpPr>
          <p:cNvPr id="10" name="TextBox 9"/>
          <p:cNvSpPr txBox="1"/>
          <p:nvPr/>
        </p:nvSpPr>
        <p:spPr>
          <a:xfrm>
            <a:off x="658368" y="5779007"/>
            <a:ext cx="5221224" cy="548640"/>
          </a:xfrm>
          <a:prstGeom prst="rect">
            <a:avLst/>
          </a:prstGeom>
          <a:noFill/>
        </p:spPr>
        <p:txBody>
          <a:bodyPr wrap="square" lIns="45720" tIns="27432" rIns="45720" bIns="27432" anchor="t">
            <a:spAutoFit/>
          </a:bodyPr>
          <a:lstStyle/>
          <a:p>
            <a:pPr algn="l">
              <a:spcAft>
                <a:spcPts val="200"/>
              </a:spcAft>
            </a:pPr>
            <a:r>
              <a:rPr sz="1300" b="0">
                <a:solidFill>
                  <a:srgbClr val="1F2A2E"/>
                </a:solidFill>
                <a:latin typeface="Calibri"/>
              </a:rPr>
              <a:t>Cost (₹), temperature drop (°C), electricity saved (kWh), rating (stars).</a:t>
            </a:r>
          </a:p>
        </p:txBody>
      </p:sp>
      <p:sp>
        <p:nvSpPr>
          <p:cNvPr id="11" name="Rounded Rectangle 10"/>
          <p:cNvSpPr/>
          <p:nvPr/>
        </p:nvSpPr>
        <p:spPr>
          <a:xfrm>
            <a:off x="6172200" y="5349240"/>
            <a:ext cx="5440680" cy="1005840"/>
          </a:xfrm>
          <a:prstGeom prst="roundRect">
            <a:avLst>
              <a:gd name="adj" fmla="val 6000"/>
            </a:avLst>
          </a:prstGeom>
          <a:solidFill>
            <a:srgbClr val="EA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281928" y="5413248"/>
            <a:ext cx="5221224" cy="365760"/>
          </a:xfrm>
          <a:prstGeom prst="rect">
            <a:avLst/>
          </a:prstGeom>
          <a:noFill/>
        </p:spPr>
        <p:txBody>
          <a:bodyPr wrap="square" lIns="45720" tIns="27432" rIns="45720" bIns="27432" anchor="t">
            <a:spAutoFit/>
          </a:bodyPr>
          <a:lstStyle/>
          <a:p>
            <a:pPr algn="l">
              <a:spcAft>
                <a:spcPts val="0"/>
              </a:spcAft>
            </a:pPr>
            <a:r>
              <a:rPr sz="1400" b="1">
                <a:solidFill>
                  <a:srgbClr val="0F4C3A"/>
                </a:solidFill>
                <a:latin typeface="Calibri"/>
              </a:rPr>
              <a:t>Classification: predicts a yes / no</a:t>
            </a:r>
          </a:p>
        </p:txBody>
      </p:sp>
      <p:sp>
        <p:nvSpPr>
          <p:cNvPr id="13" name="TextBox 12"/>
          <p:cNvSpPr txBox="1"/>
          <p:nvPr/>
        </p:nvSpPr>
        <p:spPr>
          <a:xfrm>
            <a:off x="6281928" y="5779007"/>
            <a:ext cx="5221224" cy="548640"/>
          </a:xfrm>
          <a:prstGeom prst="rect">
            <a:avLst/>
          </a:prstGeom>
          <a:noFill/>
        </p:spPr>
        <p:txBody>
          <a:bodyPr wrap="square" lIns="45720" tIns="27432" rIns="45720" bIns="27432" anchor="t">
            <a:spAutoFit/>
          </a:bodyPr>
          <a:lstStyle/>
          <a:p>
            <a:pPr algn="l">
              <a:spcAft>
                <a:spcPts val="200"/>
              </a:spcAft>
            </a:pPr>
            <a:r>
              <a:rPr sz="1300" b="0">
                <a:solidFill>
                  <a:srgbClr val="1F2A2E"/>
                </a:solidFill>
                <a:latin typeface="Calibri"/>
              </a:rPr>
              <a:t>High rating (≥ 4★) and customer referral, with a probability.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0F4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37744"/>
            <a:ext cx="8229600" cy="274320"/>
          </a:xfrm>
          <a:prstGeom prst="rect">
            <a:avLst/>
          </a:prstGeom>
          <a:noFill/>
        </p:spPr>
        <p:txBody>
          <a:bodyPr wrap="square" lIns="45720" tIns="27432" rIns="45720" bIns="27432" anchor="t">
            <a:spAutoFit/>
          </a:bodyPr>
          <a:lstStyle/>
          <a:p>
            <a:pPr algn="l">
              <a:spcAft>
                <a:spcPts val="0"/>
              </a:spcAft>
            </a:pPr>
            <a:r>
              <a:rPr sz="1200" b="1">
                <a:solidFill>
                  <a:srgbClr val="0E7C86"/>
                </a:solidFill>
                <a:latin typeface="Calibri"/>
              </a:rPr>
              <a:t>TECHNOLOGY STACK</a:t>
            </a:r>
          </a:p>
        </p:txBody>
      </p:sp>
      <p:sp>
        <p:nvSpPr>
          <p:cNvPr id="4" name="TextBox 3"/>
          <p:cNvSpPr txBox="1"/>
          <p:nvPr/>
        </p:nvSpPr>
        <p:spPr>
          <a:xfrm>
            <a:off x="548640" y="457200"/>
            <a:ext cx="11064240" cy="685800"/>
          </a:xfrm>
          <a:prstGeom prst="rect">
            <a:avLst/>
          </a:prstGeom>
          <a:noFill/>
        </p:spPr>
        <p:txBody>
          <a:bodyPr wrap="square" lIns="45720" tIns="27432" rIns="45720" bIns="27432" anchor="t">
            <a:spAutoFit/>
          </a:bodyPr>
          <a:lstStyle/>
          <a:p>
            <a:pPr algn="l">
              <a:spcAft>
                <a:spcPts val="0"/>
              </a:spcAft>
            </a:pPr>
            <a:r>
              <a:rPr sz="2800" b="1">
                <a:solidFill>
                  <a:srgbClr val="0F4C3A"/>
                </a:solidFill>
                <a:latin typeface="Calibri"/>
              </a:rPr>
              <a:t>A tested web product built on a standard, open technology stack</a:t>
            </a:r>
          </a:p>
        </p:txBody>
      </p:sp>
      <p:sp>
        <p:nvSpPr>
          <p:cNvPr id="5" name="TextBox 4"/>
          <p:cNvSpPr txBox="1"/>
          <p:nvPr/>
        </p:nvSpPr>
        <p:spPr>
          <a:xfrm>
            <a:off x="548640" y="6473952"/>
            <a:ext cx="9875520" cy="274320"/>
          </a:xfrm>
          <a:prstGeom prst="rect">
            <a:avLst/>
          </a:prstGeom>
          <a:noFill/>
        </p:spPr>
        <p:txBody>
          <a:bodyPr wrap="square" lIns="45720" tIns="27432" rIns="45720" bIns="27432" anchor="t">
            <a:spAutoFit/>
          </a:bodyPr>
          <a:lstStyle/>
          <a:p>
            <a:pPr algn="l">
              <a:spcAft>
                <a:spcPts val="0"/>
              </a:spcAft>
            </a:pPr>
            <a:r>
              <a:rPr sz="1100" b="0">
                <a:solidFill>
                  <a:srgbClr val="5F6E73"/>
                </a:solidFill>
                <a:latin typeface="Calibri"/>
              </a:rPr>
              <a:t>Source: requirements.txt, package.json, docs/architecture.md; 153 backend + 30 UI tests last run</a:t>
            </a:r>
          </a:p>
        </p:txBody>
      </p:sp>
      <p:sp>
        <p:nvSpPr>
          <p:cNvPr id="6" name="TextBox 5"/>
          <p:cNvSpPr txBox="1"/>
          <p:nvPr/>
        </p:nvSpPr>
        <p:spPr>
          <a:xfrm>
            <a:off x="10881360" y="6473952"/>
            <a:ext cx="777240" cy="274320"/>
          </a:xfrm>
          <a:prstGeom prst="rect">
            <a:avLst/>
          </a:prstGeom>
          <a:noFill/>
        </p:spPr>
        <p:txBody>
          <a:bodyPr wrap="square" lIns="45720" tIns="27432" rIns="45720" bIns="27432" anchor="t">
            <a:spAutoFit/>
          </a:bodyPr>
          <a:lstStyle/>
          <a:p>
            <a:pPr algn="r">
              <a:spcAft>
                <a:spcPts val="0"/>
              </a:spcAft>
            </a:pPr>
            <a:r>
              <a:rPr sz="1100" b="0">
                <a:solidFill>
                  <a:srgbClr val="5F6E73"/>
                </a:solidFill>
                <a:latin typeface="Calibri"/>
              </a:rPr>
              <a:t>5 / 8</a:t>
            </a:r>
          </a:p>
        </p:txBody>
      </p:sp>
      <p:sp>
        <p:nvSpPr>
          <p:cNvPr id="7" name="Rounded Rectangle 6"/>
          <p:cNvSpPr/>
          <p:nvPr/>
        </p:nvSpPr>
        <p:spPr>
          <a:xfrm>
            <a:off x="548640" y="1417320"/>
            <a:ext cx="2286000" cy="1097280"/>
          </a:xfrm>
          <a:prstGeom prst="roundRect">
            <a:avLst>
              <a:gd name="adj" fmla="val 6000"/>
            </a:avLst>
          </a:prstGeom>
          <a:solidFill>
            <a:srgbClr val="0F4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4360" y="1481328"/>
            <a:ext cx="2194560" cy="411480"/>
          </a:xfrm>
          <a:prstGeom prst="rect">
            <a:avLst/>
          </a:prstGeom>
          <a:noFill/>
        </p:spPr>
        <p:txBody>
          <a:bodyPr wrap="square" lIns="45720" tIns="27432" rIns="45720" bIns="27432" anchor="t">
            <a:spAutoFit/>
          </a:bodyPr>
          <a:lstStyle/>
          <a:p>
            <a:pPr algn="ctr">
              <a:spcAft>
                <a:spcPts val="0"/>
              </a:spcAft>
            </a:pPr>
            <a:r>
              <a:rPr sz="1700" b="1">
                <a:solidFill>
                  <a:srgbClr val="FFFFFF"/>
                </a:solidFill>
                <a:latin typeface="Calibri"/>
              </a:rPr>
              <a:t>Raw CSV</a:t>
            </a:r>
          </a:p>
        </p:txBody>
      </p:sp>
      <p:sp>
        <p:nvSpPr>
          <p:cNvPr id="9" name="TextBox 8"/>
          <p:cNvSpPr txBox="1"/>
          <p:nvPr/>
        </p:nvSpPr>
        <p:spPr>
          <a:xfrm>
            <a:off x="594360" y="1938528"/>
            <a:ext cx="2194560" cy="457200"/>
          </a:xfrm>
          <a:prstGeom prst="rect">
            <a:avLst/>
          </a:prstGeom>
          <a:noFill/>
        </p:spPr>
        <p:txBody>
          <a:bodyPr wrap="square" lIns="45720" tIns="27432" rIns="45720" bIns="27432" anchor="t">
            <a:spAutoFit/>
          </a:bodyPr>
          <a:lstStyle/>
          <a:p>
            <a:pPr algn="ctr">
              <a:spcAft>
                <a:spcPts val="0"/>
              </a:spcAft>
            </a:pPr>
            <a:r>
              <a:rPr sz="1300" b="0">
                <a:solidFill>
                  <a:srgbClr val="D9EAE4"/>
                </a:solidFill>
                <a:latin typeface="Calibri"/>
              </a:rPr>
              <a:t>pandas · read-only</a:t>
            </a:r>
          </a:p>
        </p:txBody>
      </p:sp>
      <p:sp>
        <p:nvSpPr>
          <p:cNvPr id="10" name="Right Arrow 9"/>
          <p:cNvSpPr/>
          <p:nvPr/>
        </p:nvSpPr>
        <p:spPr>
          <a:xfrm>
            <a:off x="2880360" y="1783080"/>
            <a:ext cx="548640" cy="365760"/>
          </a:xfrm>
          <a:prstGeom prst="rightArrow">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3474720" y="1417320"/>
            <a:ext cx="2286000" cy="1097280"/>
          </a:xfrm>
          <a:prstGeom prst="roundRect">
            <a:avLst>
              <a:gd name="adj" fmla="val 6000"/>
            </a:avLst>
          </a:prstGeom>
          <a:solidFill>
            <a:srgbClr val="0F4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520440" y="1481328"/>
            <a:ext cx="2194560" cy="411480"/>
          </a:xfrm>
          <a:prstGeom prst="rect">
            <a:avLst/>
          </a:prstGeom>
          <a:noFill/>
        </p:spPr>
        <p:txBody>
          <a:bodyPr wrap="square" lIns="45720" tIns="27432" rIns="45720" bIns="27432" anchor="t">
            <a:spAutoFit/>
          </a:bodyPr>
          <a:lstStyle/>
          <a:p>
            <a:pPr algn="ctr">
              <a:spcAft>
                <a:spcPts val="0"/>
              </a:spcAft>
            </a:pPr>
            <a:r>
              <a:rPr sz="1700" b="1">
                <a:solidFill>
                  <a:srgbClr val="FFFFFF"/>
                </a:solidFill>
                <a:latin typeface="Calibri"/>
              </a:rPr>
              <a:t>Audit &amp; cleaning</a:t>
            </a:r>
          </a:p>
        </p:txBody>
      </p:sp>
      <p:sp>
        <p:nvSpPr>
          <p:cNvPr id="13" name="TextBox 12"/>
          <p:cNvSpPr txBox="1"/>
          <p:nvPr/>
        </p:nvSpPr>
        <p:spPr>
          <a:xfrm>
            <a:off x="3520440" y="1938528"/>
            <a:ext cx="2194560" cy="457200"/>
          </a:xfrm>
          <a:prstGeom prst="rect">
            <a:avLst/>
          </a:prstGeom>
          <a:noFill/>
        </p:spPr>
        <p:txBody>
          <a:bodyPr wrap="square" lIns="45720" tIns="27432" rIns="45720" bIns="27432" anchor="t">
            <a:spAutoFit/>
          </a:bodyPr>
          <a:lstStyle/>
          <a:p>
            <a:pPr algn="ctr">
              <a:spcAft>
                <a:spcPts val="0"/>
              </a:spcAft>
            </a:pPr>
            <a:r>
              <a:rPr sz="1300" b="0">
                <a:solidFill>
                  <a:srgbClr val="D9EAE4"/>
                </a:solidFill>
                <a:latin typeface="Calibri"/>
              </a:rPr>
              <a:t>pandas · audit trail</a:t>
            </a:r>
          </a:p>
        </p:txBody>
      </p:sp>
      <p:sp>
        <p:nvSpPr>
          <p:cNvPr id="14" name="Right Arrow 13"/>
          <p:cNvSpPr/>
          <p:nvPr/>
        </p:nvSpPr>
        <p:spPr>
          <a:xfrm>
            <a:off x="5806440" y="1783080"/>
            <a:ext cx="548640" cy="365760"/>
          </a:xfrm>
          <a:prstGeom prst="rightArrow">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6400800" y="1417320"/>
            <a:ext cx="2286000" cy="1097280"/>
          </a:xfrm>
          <a:prstGeom prst="roundRect">
            <a:avLst>
              <a:gd name="adj" fmla="val 6000"/>
            </a:avLst>
          </a:prstGeom>
          <a:solidFill>
            <a:srgbClr val="0F4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446520" y="1481328"/>
            <a:ext cx="2194560" cy="411480"/>
          </a:xfrm>
          <a:prstGeom prst="rect">
            <a:avLst/>
          </a:prstGeom>
          <a:noFill/>
        </p:spPr>
        <p:txBody>
          <a:bodyPr wrap="square" lIns="45720" tIns="27432" rIns="45720" bIns="27432" anchor="t">
            <a:spAutoFit/>
          </a:bodyPr>
          <a:lstStyle/>
          <a:p>
            <a:pPr algn="ctr">
              <a:spcAft>
                <a:spcPts val="0"/>
              </a:spcAft>
            </a:pPr>
            <a:r>
              <a:rPr sz="1700" b="1">
                <a:solidFill>
                  <a:srgbClr val="FFFFFF"/>
                </a:solidFill>
                <a:latin typeface="Calibri"/>
              </a:rPr>
              <a:t>Train &amp; evaluate</a:t>
            </a:r>
          </a:p>
        </p:txBody>
      </p:sp>
      <p:sp>
        <p:nvSpPr>
          <p:cNvPr id="17" name="TextBox 16"/>
          <p:cNvSpPr txBox="1"/>
          <p:nvPr/>
        </p:nvSpPr>
        <p:spPr>
          <a:xfrm>
            <a:off x="6446520" y="1938528"/>
            <a:ext cx="2194560" cy="457200"/>
          </a:xfrm>
          <a:prstGeom prst="rect">
            <a:avLst/>
          </a:prstGeom>
          <a:noFill/>
        </p:spPr>
        <p:txBody>
          <a:bodyPr wrap="square" lIns="45720" tIns="27432" rIns="45720" bIns="27432" anchor="t">
            <a:spAutoFit/>
          </a:bodyPr>
          <a:lstStyle/>
          <a:p>
            <a:pPr algn="ctr">
              <a:spcAft>
                <a:spcPts val="0"/>
              </a:spcAft>
            </a:pPr>
            <a:r>
              <a:rPr sz="1300" b="0">
                <a:solidFill>
                  <a:srgbClr val="D9EAE4"/>
                </a:solidFill>
                <a:latin typeface="Calibri"/>
              </a:rPr>
              <a:t>scikit-learn · LightGBM</a:t>
            </a:r>
          </a:p>
        </p:txBody>
      </p:sp>
      <p:sp>
        <p:nvSpPr>
          <p:cNvPr id="18" name="Right Arrow 17"/>
          <p:cNvSpPr/>
          <p:nvPr/>
        </p:nvSpPr>
        <p:spPr>
          <a:xfrm>
            <a:off x="8732520" y="1783080"/>
            <a:ext cx="548640" cy="365760"/>
          </a:xfrm>
          <a:prstGeom prst="rightArrow">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9326880" y="1417320"/>
            <a:ext cx="2286000" cy="1097280"/>
          </a:xfrm>
          <a:prstGeom prst="roundRect">
            <a:avLst>
              <a:gd name="adj" fmla="val 6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372600" y="1481328"/>
            <a:ext cx="2194560" cy="411480"/>
          </a:xfrm>
          <a:prstGeom prst="rect">
            <a:avLst/>
          </a:prstGeom>
          <a:noFill/>
        </p:spPr>
        <p:txBody>
          <a:bodyPr wrap="square" lIns="45720" tIns="27432" rIns="45720" bIns="27432" anchor="t">
            <a:spAutoFit/>
          </a:bodyPr>
          <a:lstStyle/>
          <a:p>
            <a:pPr algn="ctr">
              <a:spcAft>
                <a:spcPts val="0"/>
              </a:spcAft>
            </a:pPr>
            <a:r>
              <a:rPr sz="1700" b="1">
                <a:solidFill>
                  <a:srgbClr val="FFFFFF"/>
                </a:solidFill>
                <a:latin typeface="Calibri"/>
              </a:rPr>
              <a:t>Saved models</a:t>
            </a:r>
          </a:p>
        </p:txBody>
      </p:sp>
      <p:sp>
        <p:nvSpPr>
          <p:cNvPr id="21" name="TextBox 20"/>
          <p:cNvSpPr txBox="1"/>
          <p:nvPr/>
        </p:nvSpPr>
        <p:spPr>
          <a:xfrm>
            <a:off x="9372600" y="1938528"/>
            <a:ext cx="2194560" cy="457200"/>
          </a:xfrm>
          <a:prstGeom prst="rect">
            <a:avLst/>
          </a:prstGeom>
          <a:noFill/>
        </p:spPr>
        <p:txBody>
          <a:bodyPr wrap="square" lIns="45720" tIns="27432" rIns="45720" bIns="27432" anchor="t">
            <a:spAutoFit/>
          </a:bodyPr>
          <a:lstStyle/>
          <a:p>
            <a:pPr algn="ctr">
              <a:spcAft>
                <a:spcPts val="0"/>
              </a:spcAft>
            </a:pPr>
            <a:r>
              <a:rPr sz="1300" b="0">
                <a:solidFill>
                  <a:srgbClr val="D9EAE4"/>
                </a:solidFill>
                <a:latin typeface="Calibri"/>
              </a:rPr>
              <a:t>joblib · 6 models</a:t>
            </a:r>
          </a:p>
        </p:txBody>
      </p:sp>
      <p:sp>
        <p:nvSpPr>
          <p:cNvPr id="22" name="Down Arrow 21"/>
          <p:cNvSpPr/>
          <p:nvPr/>
        </p:nvSpPr>
        <p:spPr>
          <a:xfrm>
            <a:off x="10515600" y="2606040"/>
            <a:ext cx="457200" cy="457200"/>
          </a:xfrm>
          <a:prstGeom prst="downArrow">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Down Arrow 22"/>
          <p:cNvSpPr/>
          <p:nvPr/>
        </p:nvSpPr>
        <p:spPr>
          <a:xfrm>
            <a:off x="7269480" y="2606040"/>
            <a:ext cx="457200" cy="457200"/>
          </a:xfrm>
          <a:prstGeom prst="downArrow">
            <a:avLst/>
          </a:prstGeom>
          <a:solidFill>
            <a:srgbClr val="5F6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p:nvPr/>
        </p:nvSpPr>
        <p:spPr>
          <a:xfrm>
            <a:off x="6217920" y="3154680"/>
            <a:ext cx="5394960" cy="1234440"/>
          </a:xfrm>
          <a:prstGeom prst="roundRect">
            <a:avLst>
              <a:gd name="adj" fmla="val 6000"/>
            </a:avLst>
          </a:prstGeom>
          <a:solidFill>
            <a:srgbClr val="EAF2EF"/>
          </a:solidFill>
          <a:ln w="15875">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355080" y="3200400"/>
            <a:ext cx="5120640" cy="365760"/>
          </a:xfrm>
          <a:prstGeom prst="rect">
            <a:avLst/>
          </a:prstGeom>
          <a:noFill/>
        </p:spPr>
        <p:txBody>
          <a:bodyPr wrap="square" lIns="45720" tIns="27432" rIns="45720" bIns="27432" anchor="t">
            <a:spAutoFit/>
          </a:bodyPr>
          <a:lstStyle/>
          <a:p>
            <a:pPr algn="l">
              <a:spcAft>
                <a:spcPts val="0"/>
              </a:spcAft>
            </a:pPr>
            <a:r>
              <a:rPr sz="1700" b="1">
                <a:solidFill>
                  <a:srgbClr val="0F4C3A"/>
                </a:solidFill>
                <a:latin typeface="Calibri"/>
              </a:rPr>
              <a:t>FastAPI backend</a:t>
            </a:r>
          </a:p>
        </p:txBody>
      </p:sp>
      <p:sp>
        <p:nvSpPr>
          <p:cNvPr id="26" name="TextBox 25"/>
          <p:cNvSpPr txBox="1"/>
          <p:nvPr/>
        </p:nvSpPr>
        <p:spPr>
          <a:xfrm>
            <a:off x="6355080" y="3593592"/>
            <a:ext cx="5120640" cy="777240"/>
          </a:xfrm>
          <a:prstGeom prst="rect">
            <a:avLst/>
          </a:prstGeom>
          <a:noFill/>
        </p:spPr>
        <p:txBody>
          <a:bodyPr wrap="square" lIns="45720" tIns="27432" rIns="45720" bIns="27432" anchor="t">
            <a:spAutoFit/>
          </a:bodyPr>
          <a:lstStyle/>
          <a:p>
            <a:pPr algn="l">
              <a:spcAft>
                <a:spcPts val="0"/>
              </a:spcAft>
            </a:pPr>
            <a:r>
              <a:rPr sz="1300" b="0">
                <a:solidFill>
                  <a:srgbClr val="1F2A2E"/>
                </a:solidFill>
                <a:latin typeface="Calibri"/>
              </a:rPr>
              <a:t>predict · compare options · explain · payback · PDF proposals (ReportLab) · strict input validation</a:t>
            </a:r>
          </a:p>
        </p:txBody>
      </p:sp>
      <p:sp>
        <p:nvSpPr>
          <p:cNvPr id="27" name="Rounded Rectangle 26"/>
          <p:cNvSpPr/>
          <p:nvPr/>
        </p:nvSpPr>
        <p:spPr>
          <a:xfrm>
            <a:off x="548640" y="3154680"/>
            <a:ext cx="5394960" cy="1234440"/>
          </a:xfrm>
          <a:prstGeom prst="roundRect">
            <a:avLst>
              <a:gd name="adj" fmla="val 6000"/>
            </a:avLst>
          </a:prstGeom>
          <a:solidFill>
            <a:srgbClr val="F3F4F4"/>
          </a:solidFill>
          <a:ln w="15875">
            <a:solidFill>
              <a:srgbClr val="D5DE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85800" y="3200400"/>
            <a:ext cx="5120640" cy="365760"/>
          </a:xfrm>
          <a:prstGeom prst="rect">
            <a:avLst/>
          </a:prstGeom>
          <a:noFill/>
        </p:spPr>
        <p:txBody>
          <a:bodyPr wrap="square" lIns="45720" tIns="27432" rIns="45720" bIns="27432" anchor="t">
            <a:spAutoFit/>
          </a:bodyPr>
          <a:lstStyle/>
          <a:p>
            <a:pPr algn="l">
              <a:spcAft>
                <a:spcPts val="0"/>
              </a:spcAft>
            </a:pPr>
            <a:r>
              <a:rPr sz="1700" b="1">
                <a:solidFill>
                  <a:srgbClr val="5F6E73"/>
                </a:solidFill>
                <a:latin typeface="Calibri"/>
              </a:rPr>
              <a:t>Reports and figures</a:t>
            </a:r>
          </a:p>
        </p:txBody>
      </p:sp>
      <p:sp>
        <p:nvSpPr>
          <p:cNvPr id="29" name="TextBox 28"/>
          <p:cNvSpPr txBox="1"/>
          <p:nvPr/>
        </p:nvSpPr>
        <p:spPr>
          <a:xfrm>
            <a:off x="685800" y="3593592"/>
            <a:ext cx="5120640" cy="777240"/>
          </a:xfrm>
          <a:prstGeom prst="rect">
            <a:avLst/>
          </a:prstGeom>
          <a:noFill/>
        </p:spPr>
        <p:txBody>
          <a:bodyPr wrap="square" lIns="45720" tIns="27432" rIns="45720" bIns="27432" anchor="t">
            <a:spAutoFit/>
          </a:bodyPr>
          <a:lstStyle/>
          <a:p>
            <a:pPr algn="l">
              <a:spcAft>
                <a:spcPts val="0"/>
              </a:spcAft>
            </a:pPr>
            <a:r>
              <a:rPr sz="1300" b="0">
                <a:solidFill>
                  <a:srgbClr val="1F2A2E"/>
                </a:solidFill>
                <a:latin typeface="Calibri"/>
              </a:rPr>
              <a:t>data-quality, evaluation and insight reports feed the performance and insight pages</a:t>
            </a:r>
          </a:p>
        </p:txBody>
      </p:sp>
      <p:sp>
        <p:nvSpPr>
          <p:cNvPr id="30" name="Up-Down Arrow 29"/>
          <p:cNvSpPr/>
          <p:nvPr/>
        </p:nvSpPr>
        <p:spPr>
          <a:xfrm>
            <a:off x="7315200" y="4434840"/>
            <a:ext cx="365760" cy="411480"/>
          </a:xfrm>
          <a:prstGeom prst="upDownArrow">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Up-Down Arrow 30"/>
          <p:cNvSpPr/>
          <p:nvPr/>
        </p:nvSpPr>
        <p:spPr>
          <a:xfrm>
            <a:off x="10058400" y="4434840"/>
            <a:ext cx="365760" cy="411480"/>
          </a:xfrm>
          <a:prstGeom prst="upDownArrow">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ounded Rectangle 31"/>
          <p:cNvSpPr/>
          <p:nvPr/>
        </p:nvSpPr>
        <p:spPr>
          <a:xfrm>
            <a:off x="6217920" y="4892040"/>
            <a:ext cx="2606040" cy="1417320"/>
          </a:xfrm>
          <a:prstGeom prst="roundRect">
            <a:avLst>
              <a:gd name="adj" fmla="val 6000"/>
            </a:avLst>
          </a:prstGeom>
          <a:solidFill>
            <a:srgbClr val="0F4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263640" y="4937760"/>
            <a:ext cx="2514600" cy="1325880"/>
          </a:xfrm>
          <a:prstGeom prst="rect">
            <a:avLst/>
          </a:prstGeom>
          <a:noFill/>
        </p:spPr>
        <p:txBody>
          <a:bodyPr wrap="square" lIns="45720" tIns="27432" rIns="45720" bIns="27432" anchor="ctr">
            <a:spAutoFit/>
          </a:bodyPr>
          <a:lstStyle/>
          <a:p>
            <a:pPr algn="ctr">
              <a:spcAft>
                <a:spcPts val="200"/>
              </a:spcAft>
            </a:pPr>
            <a:r>
              <a:rPr sz="1400" b="1">
                <a:solidFill>
                  <a:srgbClr val="FFFFFF"/>
                </a:solidFill>
                <a:latin typeface="Calibri"/>
              </a:rPr>
              <a:t>React + TypeScript + Vite</a:t>
            </a:r>
          </a:p>
          <a:p>
            <a:pPr algn="ctr">
              <a:spcAft>
                <a:spcPts val="200"/>
              </a:spcAft>
            </a:pPr>
            <a:r>
              <a:rPr sz="1300" b="0">
                <a:solidFill>
                  <a:srgbClr val="FFFFFF"/>
                </a:solidFill>
                <a:latin typeface="Calibri"/>
              </a:rPr>
              <a:t>Tailwind CSS · Recharts</a:t>
            </a:r>
          </a:p>
          <a:p>
            <a:pPr algn="ctr">
              <a:spcAft>
                <a:spcPts val="200"/>
              </a:spcAft>
            </a:pPr>
            <a:r>
              <a:rPr sz="1300" b="0">
                <a:solidFill>
                  <a:srgbClr val="FFFFFF"/>
                </a:solidFill>
                <a:latin typeface="Calibri"/>
              </a:rPr>
              <a:t>8 pages · accessible</a:t>
            </a:r>
          </a:p>
        </p:txBody>
      </p:sp>
      <p:sp>
        <p:nvSpPr>
          <p:cNvPr id="34" name="Rounded Rectangle 33"/>
          <p:cNvSpPr/>
          <p:nvPr/>
        </p:nvSpPr>
        <p:spPr>
          <a:xfrm>
            <a:off x="9006840" y="4892040"/>
            <a:ext cx="2606040" cy="1417320"/>
          </a:xfrm>
          <a:prstGeom prst="roundRect">
            <a:avLst>
              <a:gd name="adj" fmla="val 6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9052560" y="4937760"/>
            <a:ext cx="2514600" cy="1325880"/>
          </a:xfrm>
          <a:prstGeom prst="rect">
            <a:avLst/>
          </a:prstGeom>
          <a:noFill/>
        </p:spPr>
        <p:txBody>
          <a:bodyPr wrap="square" lIns="45720" tIns="27432" rIns="45720" bIns="27432" anchor="ctr">
            <a:spAutoFit/>
          </a:bodyPr>
          <a:lstStyle/>
          <a:p>
            <a:pPr algn="ctr">
              <a:spcAft>
                <a:spcPts val="100"/>
              </a:spcAft>
            </a:pPr>
            <a:r>
              <a:rPr sz="1400" b="1">
                <a:solidFill>
                  <a:srgbClr val="FFFFFF"/>
                </a:solidFill>
                <a:latin typeface="Calibri"/>
              </a:rPr>
              <a:t>Optional AI assistant</a:t>
            </a:r>
          </a:p>
          <a:p>
            <a:pPr algn="ctr">
              <a:spcAft>
                <a:spcPts val="100"/>
              </a:spcAft>
            </a:pPr>
            <a:r>
              <a:rPr sz="1200" b="0">
                <a:solidFill>
                  <a:srgbClr val="FFFFFF"/>
                </a:solidFill>
                <a:latin typeface="Calibri"/>
              </a:rPr>
              <a:t>Built-in (free): tested</a:t>
            </a:r>
          </a:p>
          <a:p>
            <a:pPr algn="ctr">
              <a:spcAft>
                <a:spcPts val="100"/>
              </a:spcAft>
            </a:pPr>
            <a:r>
              <a:rPr sz="1200" b="0">
                <a:solidFill>
                  <a:srgbClr val="FFFFFF"/>
                </a:solidFill>
                <a:latin typeface="Calibri"/>
              </a:rPr>
              <a:t>Gemini: live-tested</a:t>
            </a:r>
          </a:p>
          <a:p>
            <a:pPr algn="ctr">
              <a:spcAft>
                <a:spcPts val="100"/>
              </a:spcAft>
            </a:pPr>
            <a:r>
              <a:rPr sz="1200" b="0">
                <a:solidFill>
                  <a:srgbClr val="FFFFFF"/>
                </a:solidFill>
                <a:latin typeface="Calibri"/>
              </a:rPr>
              <a:t>Claude: built, not live-tested</a:t>
            </a:r>
          </a:p>
        </p:txBody>
      </p:sp>
      <p:sp>
        <p:nvSpPr>
          <p:cNvPr id="36" name="Rounded Rectangle 35"/>
          <p:cNvSpPr/>
          <p:nvPr/>
        </p:nvSpPr>
        <p:spPr>
          <a:xfrm>
            <a:off x="548640" y="4892040"/>
            <a:ext cx="5394960" cy="1417320"/>
          </a:xfrm>
          <a:prstGeom prst="roundRect">
            <a:avLst>
              <a:gd name="adj" fmla="val 6000"/>
            </a:avLst>
          </a:prstGeom>
          <a:solidFill>
            <a:srgbClr val="EA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658368" y="4956048"/>
            <a:ext cx="5175504" cy="365760"/>
          </a:xfrm>
          <a:prstGeom prst="rect">
            <a:avLst/>
          </a:prstGeom>
          <a:noFill/>
        </p:spPr>
        <p:txBody>
          <a:bodyPr wrap="square" lIns="45720" tIns="27432" rIns="45720" bIns="27432" anchor="t">
            <a:spAutoFit/>
          </a:bodyPr>
          <a:lstStyle/>
          <a:p>
            <a:pPr algn="l">
              <a:spcAft>
                <a:spcPts val="0"/>
              </a:spcAft>
            </a:pPr>
            <a:r>
              <a:rPr sz="1500" b="1">
                <a:solidFill>
                  <a:srgbClr val="0F4C3A"/>
                </a:solidFill>
                <a:latin typeface="Calibri"/>
              </a:rPr>
              <a:t>Quality gates</a:t>
            </a:r>
          </a:p>
        </p:txBody>
      </p:sp>
      <p:sp>
        <p:nvSpPr>
          <p:cNvPr id="38" name="TextBox 37"/>
          <p:cNvSpPr txBox="1"/>
          <p:nvPr/>
        </p:nvSpPr>
        <p:spPr>
          <a:xfrm>
            <a:off x="658368" y="5321807"/>
            <a:ext cx="5175504" cy="960120"/>
          </a:xfrm>
          <a:prstGeom prst="rect">
            <a:avLst/>
          </a:prstGeom>
          <a:noFill/>
        </p:spPr>
        <p:txBody>
          <a:bodyPr wrap="square" lIns="45720" tIns="27432" rIns="45720" bIns="27432" anchor="t">
            <a:spAutoFit/>
          </a:bodyPr>
          <a:lstStyle/>
          <a:p>
            <a:pPr algn="l">
              <a:spcAft>
                <a:spcPts val="200"/>
              </a:spcAft>
            </a:pPr>
            <a:r>
              <a:rPr sz="1300" b="0">
                <a:solidFill>
                  <a:srgbClr val="1F2A2E"/>
                </a:solidFill>
                <a:latin typeface="Calibri"/>
              </a:rPr>
              <a:t>153 backend + 30 frontend tests (incl. accessibility) · TypeScript type-check · production build · leakage and provenance checks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0F4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37744"/>
            <a:ext cx="8229600" cy="274320"/>
          </a:xfrm>
          <a:prstGeom prst="rect">
            <a:avLst/>
          </a:prstGeom>
          <a:noFill/>
        </p:spPr>
        <p:txBody>
          <a:bodyPr wrap="square" lIns="45720" tIns="27432" rIns="45720" bIns="27432" anchor="t">
            <a:spAutoFit/>
          </a:bodyPr>
          <a:lstStyle/>
          <a:p>
            <a:pPr algn="l">
              <a:spcAft>
                <a:spcPts val="0"/>
              </a:spcAft>
            </a:pPr>
            <a:r>
              <a:rPr sz="1200" b="1">
                <a:solidFill>
                  <a:srgbClr val="0E7C86"/>
                </a:solidFill>
                <a:latin typeface="Calibri"/>
              </a:rPr>
              <a:t>MODEL EVALUATION AND RESULTS</a:t>
            </a:r>
          </a:p>
        </p:txBody>
      </p:sp>
      <p:sp>
        <p:nvSpPr>
          <p:cNvPr id="4" name="TextBox 3"/>
          <p:cNvSpPr txBox="1"/>
          <p:nvPr/>
        </p:nvSpPr>
        <p:spPr>
          <a:xfrm>
            <a:off x="548640" y="457200"/>
            <a:ext cx="11064240" cy="685800"/>
          </a:xfrm>
          <a:prstGeom prst="rect">
            <a:avLst/>
          </a:prstGeom>
          <a:noFill/>
        </p:spPr>
        <p:txBody>
          <a:bodyPr wrap="square" lIns="45720" tIns="27432" rIns="45720" bIns="27432" anchor="t">
            <a:spAutoFit/>
          </a:bodyPr>
          <a:lstStyle/>
          <a:p>
            <a:pPr algn="l">
              <a:spcAft>
                <a:spcPts val="0"/>
              </a:spcAft>
            </a:pPr>
            <a:r>
              <a:rPr sz="2800" b="1">
                <a:solidFill>
                  <a:srgbClr val="0F4C3A"/>
                </a:solidFill>
                <a:latin typeface="Calibri"/>
              </a:rPr>
              <a:t>Strong on cost, cooling and savings; weak on rating and referral</a:t>
            </a:r>
          </a:p>
        </p:txBody>
      </p:sp>
      <p:sp>
        <p:nvSpPr>
          <p:cNvPr id="5" name="TextBox 4"/>
          <p:cNvSpPr txBox="1"/>
          <p:nvPr/>
        </p:nvSpPr>
        <p:spPr>
          <a:xfrm>
            <a:off x="548640" y="6473952"/>
            <a:ext cx="9875520" cy="274320"/>
          </a:xfrm>
          <a:prstGeom prst="rect">
            <a:avLst/>
          </a:prstGeom>
          <a:noFill/>
        </p:spPr>
        <p:txBody>
          <a:bodyPr wrap="square" lIns="45720" tIns="27432" rIns="45720" bIns="27432" anchor="t">
            <a:spAutoFit/>
          </a:bodyPr>
          <a:lstStyle/>
          <a:p>
            <a:pPr algn="l">
              <a:spcAft>
                <a:spcPts val="0"/>
              </a:spcAft>
            </a:pPr>
            <a:r>
              <a:rPr sz="1100" b="0">
                <a:solidFill>
                  <a:srgbClr val="5F6E73"/>
                </a:solidFill>
                <a:latin typeface="Calibri"/>
              </a:rPr>
              <a:t>Source: models/model_metadata.json, reports/significance.json. All results on 500 held-out buildings never used in training or tuning.</a:t>
            </a:r>
          </a:p>
        </p:txBody>
      </p:sp>
      <p:sp>
        <p:nvSpPr>
          <p:cNvPr id="6" name="TextBox 5"/>
          <p:cNvSpPr txBox="1"/>
          <p:nvPr/>
        </p:nvSpPr>
        <p:spPr>
          <a:xfrm>
            <a:off x="10881360" y="6473952"/>
            <a:ext cx="777240" cy="274320"/>
          </a:xfrm>
          <a:prstGeom prst="rect">
            <a:avLst/>
          </a:prstGeom>
          <a:noFill/>
        </p:spPr>
        <p:txBody>
          <a:bodyPr wrap="square" lIns="45720" tIns="27432" rIns="45720" bIns="27432" anchor="t">
            <a:spAutoFit/>
          </a:bodyPr>
          <a:lstStyle/>
          <a:p>
            <a:pPr algn="r">
              <a:spcAft>
                <a:spcPts val="0"/>
              </a:spcAft>
            </a:pPr>
            <a:r>
              <a:rPr sz="1100" b="0">
                <a:solidFill>
                  <a:srgbClr val="5F6E73"/>
                </a:solidFill>
                <a:latin typeface="Calibri"/>
              </a:rPr>
              <a:t>6 / 8</a:t>
            </a:r>
          </a:p>
        </p:txBody>
      </p:sp>
      <p:sp>
        <p:nvSpPr>
          <p:cNvPr id="7" name="TextBox 6"/>
          <p:cNvSpPr txBox="1"/>
          <p:nvPr/>
        </p:nvSpPr>
        <p:spPr>
          <a:xfrm>
            <a:off x="548640" y="1097280"/>
            <a:ext cx="11064240" cy="365760"/>
          </a:xfrm>
          <a:prstGeom prst="rect">
            <a:avLst/>
          </a:prstGeom>
          <a:noFill/>
        </p:spPr>
        <p:txBody>
          <a:bodyPr wrap="square" lIns="45720" tIns="27432" rIns="45720" bIns="27432" anchor="t">
            <a:spAutoFit/>
          </a:bodyPr>
          <a:lstStyle/>
          <a:p>
            <a:pPr algn="l">
              <a:spcAft>
                <a:spcPts val="0"/>
              </a:spcAft>
            </a:pPr>
            <a:r>
              <a:rPr sz="1200" b="1">
                <a:solidFill>
                  <a:srgbClr val="0F4C3A"/>
                </a:solidFill>
                <a:latin typeface="Calibri"/>
              </a:rPr>
              <a:t>MAE </a:t>
            </a:r>
            <a:r>
              <a:rPr sz="1200" b="0">
                <a:solidFill>
                  <a:srgbClr val="1F2A2E"/>
                </a:solidFill>
                <a:latin typeface="Calibri"/>
              </a:rPr>
              <a:t>average miss  ·  </a:t>
            </a:r>
            <a:r>
              <a:rPr sz="1200" b="1">
                <a:solidFill>
                  <a:srgbClr val="0F4C3A"/>
                </a:solidFill>
                <a:latin typeface="Calibri"/>
              </a:rPr>
              <a:t>RMSE </a:t>
            </a:r>
            <a:r>
              <a:rPr sz="1200" b="0">
                <a:solidFill>
                  <a:srgbClr val="1F2A2E"/>
                </a:solidFill>
                <a:latin typeface="Calibri"/>
              </a:rPr>
              <a:t>big misses weigh more  ·  </a:t>
            </a:r>
            <a:r>
              <a:rPr sz="1200" b="1">
                <a:solidFill>
                  <a:srgbClr val="0F4C3A"/>
                </a:solidFill>
                <a:latin typeface="Calibri"/>
              </a:rPr>
              <a:t>R² </a:t>
            </a:r>
            <a:r>
              <a:rPr sz="1200" b="0">
                <a:solidFill>
                  <a:srgbClr val="1F2A2E"/>
                </a:solidFill>
                <a:latin typeface="Calibri"/>
              </a:rPr>
              <a:t>variation explained  ·  </a:t>
            </a:r>
            <a:r>
              <a:rPr sz="1200" b="1">
                <a:solidFill>
                  <a:srgbClr val="0F4C3A"/>
                </a:solidFill>
                <a:latin typeface="Calibri"/>
              </a:rPr>
              <a:t>Accuracy </a:t>
            </a:r>
            <a:r>
              <a:rPr sz="1200" b="0">
                <a:solidFill>
                  <a:srgbClr val="1F2A2E"/>
                </a:solidFill>
                <a:latin typeface="Calibri"/>
              </a:rPr>
              <a:t>% correct  ·  </a:t>
            </a:r>
            <a:r>
              <a:rPr sz="1200" b="1">
                <a:solidFill>
                  <a:srgbClr val="0F4C3A"/>
                </a:solidFill>
                <a:latin typeface="Calibri"/>
              </a:rPr>
              <a:t>F1 </a:t>
            </a:r>
            <a:r>
              <a:rPr sz="1200" b="0">
                <a:solidFill>
                  <a:srgbClr val="1F2A2E"/>
                </a:solidFill>
                <a:latin typeface="Calibri"/>
              </a:rPr>
              <a:t>precision/recall balance  ·  </a:t>
            </a:r>
            <a:r>
              <a:rPr sz="1200" b="1">
                <a:solidFill>
                  <a:srgbClr val="0F4C3A"/>
                </a:solidFill>
                <a:latin typeface="Calibri"/>
              </a:rPr>
              <a:t>ROC-AUC </a:t>
            </a:r>
            <a:r>
              <a:rPr sz="1200" b="0">
                <a:solidFill>
                  <a:srgbClr val="1F2A2E"/>
                </a:solidFill>
                <a:latin typeface="Calibri"/>
              </a:rPr>
              <a:t>ranking skill (0.5 = chance)</a:t>
            </a:r>
          </a:p>
        </p:txBody>
      </p:sp>
      <p:graphicFrame>
        <p:nvGraphicFramePr>
          <p:cNvPr id="8" name="Chart 7"/>
          <p:cNvGraphicFramePr>
            <a:graphicFrameLocks noGrp="1"/>
          </p:cNvGraphicFramePr>
          <p:nvPr/>
        </p:nvGraphicFramePr>
        <p:xfrm>
          <a:off x="548640" y="1463040"/>
          <a:ext cx="3611880" cy="201168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9" name="Chart 8"/>
          <p:cNvGraphicFramePr>
            <a:graphicFrameLocks noGrp="1"/>
          </p:cNvGraphicFramePr>
          <p:nvPr/>
        </p:nvGraphicFramePr>
        <p:xfrm>
          <a:off x="4297680" y="1463040"/>
          <a:ext cx="3611880" cy="201168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0" name="Chart 9"/>
          <p:cNvGraphicFramePr>
            <a:graphicFrameLocks noGrp="1"/>
          </p:cNvGraphicFramePr>
          <p:nvPr/>
        </p:nvGraphicFramePr>
        <p:xfrm>
          <a:off x="8046720" y="1463040"/>
          <a:ext cx="3566160" cy="2011680"/>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11" name="Table 10"/>
          <p:cNvGraphicFramePr>
            <a:graphicFrameLocks noGrp="1"/>
          </p:cNvGraphicFramePr>
          <p:nvPr/>
        </p:nvGraphicFramePr>
        <p:xfrm>
          <a:off x="548640" y="3566160"/>
          <a:ext cx="6949440" cy="1389888"/>
        </p:xfrm>
        <a:graphic>
          <a:graphicData uri="http://schemas.openxmlformats.org/drawingml/2006/table">
            <a:tbl>
              <a:tblPr firstRow="1" bandRow="1">
                <a:tableStyleId>{5C22544A-7EE6-4342-B048-85BDC9FD1C3A}</a:tableStyleId>
              </a:tblPr>
              <a:tblGrid>
                <a:gridCol w="2148840">
                  <a:extLst>
                    <a:ext uri="{9D8B030D-6E8A-4147-A177-3AD203B41FA5}">
                      <a16:colId xmlns:a16="http://schemas.microsoft.com/office/drawing/2014/main" val="20000"/>
                    </a:ext>
                  </a:extLst>
                </a:gridCol>
                <a:gridCol w="1234440">
                  <a:extLst>
                    <a:ext uri="{9D8B030D-6E8A-4147-A177-3AD203B41FA5}">
                      <a16:colId xmlns:a16="http://schemas.microsoft.com/office/drawing/2014/main" val="20001"/>
                    </a:ext>
                  </a:extLst>
                </a:gridCol>
                <a:gridCol w="1234440">
                  <a:extLst>
                    <a:ext uri="{9D8B030D-6E8A-4147-A177-3AD203B41FA5}">
                      <a16:colId xmlns:a16="http://schemas.microsoft.com/office/drawing/2014/main" val="20002"/>
                    </a:ext>
                  </a:extLst>
                </a:gridCol>
                <a:gridCol w="731520">
                  <a:extLst>
                    <a:ext uri="{9D8B030D-6E8A-4147-A177-3AD203B41FA5}">
                      <a16:colId xmlns:a16="http://schemas.microsoft.com/office/drawing/2014/main" val="20003"/>
                    </a:ext>
                  </a:extLst>
                </a:gridCol>
                <a:gridCol w="1600200">
                  <a:extLst>
                    <a:ext uri="{9D8B030D-6E8A-4147-A177-3AD203B41FA5}">
                      <a16:colId xmlns:a16="http://schemas.microsoft.com/office/drawing/2014/main" val="20004"/>
                    </a:ext>
                  </a:extLst>
                </a:gridCol>
              </a:tblGrid>
              <a:tr h="347472">
                <a:tc>
                  <a:txBody>
                    <a:bodyPr/>
                    <a:lstStyle/>
                    <a:p>
                      <a:r>
                        <a:rPr sz="1200" b="1">
                          <a:solidFill>
                            <a:srgbClr val="FFFFFF"/>
                          </a:solidFill>
                          <a:latin typeface="Calibri"/>
                        </a:rPr>
                        <a:t>Task</a:t>
                      </a:r>
                    </a:p>
                  </a:txBody>
                  <a:tcPr marL="73152" marR="73152" marT="27432" marB="27432" anchor="ctr">
                    <a:solidFill>
                      <a:srgbClr val="0F4C3A"/>
                    </a:solidFill>
                  </a:tcPr>
                </a:tc>
                <a:tc>
                  <a:txBody>
                    <a:bodyPr/>
                    <a:lstStyle/>
                    <a:p>
                      <a:r>
                        <a:rPr sz="1200" b="1">
                          <a:solidFill>
                            <a:srgbClr val="FFFFFF"/>
                          </a:solidFill>
                          <a:latin typeface="Calibri"/>
                        </a:rPr>
                        <a:t>MAE</a:t>
                      </a:r>
                    </a:p>
                  </a:txBody>
                  <a:tcPr marL="73152" marR="73152" marT="27432" marB="27432" anchor="ctr">
                    <a:solidFill>
                      <a:srgbClr val="0F4C3A"/>
                    </a:solidFill>
                  </a:tcPr>
                </a:tc>
                <a:tc>
                  <a:txBody>
                    <a:bodyPr/>
                    <a:lstStyle/>
                    <a:p>
                      <a:r>
                        <a:rPr sz="1200" b="1">
                          <a:solidFill>
                            <a:srgbClr val="FFFFFF"/>
                          </a:solidFill>
                          <a:latin typeface="Calibri"/>
                        </a:rPr>
                        <a:t>RMSE</a:t>
                      </a:r>
                    </a:p>
                  </a:txBody>
                  <a:tcPr marL="73152" marR="73152" marT="27432" marB="27432" anchor="ctr">
                    <a:solidFill>
                      <a:srgbClr val="0F4C3A"/>
                    </a:solidFill>
                  </a:tcPr>
                </a:tc>
                <a:tc>
                  <a:txBody>
                    <a:bodyPr/>
                    <a:lstStyle/>
                    <a:p>
                      <a:r>
                        <a:rPr sz="1200" b="1">
                          <a:solidFill>
                            <a:srgbClr val="FFFFFF"/>
                          </a:solidFill>
                          <a:latin typeface="Calibri"/>
                        </a:rPr>
                        <a:t>R²</a:t>
                      </a:r>
                    </a:p>
                  </a:txBody>
                  <a:tcPr marL="73152" marR="73152" marT="27432" marB="27432" anchor="ctr">
                    <a:solidFill>
                      <a:srgbClr val="0F4C3A"/>
                    </a:solidFill>
                  </a:tcPr>
                </a:tc>
                <a:tc>
                  <a:txBody>
                    <a:bodyPr/>
                    <a:lstStyle/>
                    <a:p>
                      <a:r>
                        <a:rPr sz="1200" b="1">
                          <a:solidFill>
                            <a:srgbClr val="FFFFFF"/>
                          </a:solidFill>
                          <a:latin typeface="Calibri"/>
                        </a:rPr>
                        <a:t>Baseline MAE</a:t>
                      </a:r>
                    </a:p>
                  </a:txBody>
                  <a:tcPr marL="73152" marR="73152" marT="27432" marB="27432" anchor="ctr">
                    <a:solidFill>
                      <a:srgbClr val="0F4C3A"/>
                    </a:solidFill>
                  </a:tcPr>
                </a:tc>
                <a:extLst>
                  <a:ext uri="{0D108BD9-81ED-4DB2-BD59-A6C34878D82A}">
                    <a16:rowId xmlns:a16="http://schemas.microsoft.com/office/drawing/2014/main" val="10000"/>
                  </a:ext>
                </a:extLst>
              </a:tr>
              <a:tr h="347472">
                <a:tc>
                  <a:txBody>
                    <a:bodyPr/>
                    <a:lstStyle/>
                    <a:p>
                      <a:r>
                        <a:rPr sz="1200" b="1">
                          <a:solidFill>
                            <a:srgbClr val="1F2A2E"/>
                          </a:solidFill>
                          <a:latin typeface="Calibri"/>
                        </a:rPr>
                        <a:t>Installation cost</a:t>
                      </a:r>
                    </a:p>
                  </a:txBody>
                  <a:tcPr marL="73152" marR="73152" marT="27432" marB="27432" anchor="ctr">
                    <a:solidFill>
                      <a:srgbClr val="FFFFFF"/>
                    </a:solidFill>
                  </a:tcPr>
                </a:tc>
                <a:tc>
                  <a:txBody>
                    <a:bodyPr/>
                    <a:lstStyle/>
                    <a:p>
                      <a:r>
                        <a:rPr sz="1200" b="0">
                          <a:solidFill>
                            <a:srgbClr val="1F2A2E"/>
                          </a:solidFill>
                          <a:latin typeface="Calibri"/>
                        </a:rPr>
                        <a:t>₹25,299</a:t>
                      </a:r>
                    </a:p>
                  </a:txBody>
                  <a:tcPr marL="73152" marR="73152" marT="27432" marB="27432" anchor="ctr">
                    <a:solidFill>
                      <a:srgbClr val="FFFFFF"/>
                    </a:solidFill>
                  </a:tcPr>
                </a:tc>
                <a:tc>
                  <a:txBody>
                    <a:bodyPr/>
                    <a:lstStyle/>
                    <a:p>
                      <a:r>
                        <a:rPr sz="1200" b="0">
                          <a:solidFill>
                            <a:srgbClr val="1F2A2E"/>
                          </a:solidFill>
                          <a:latin typeface="Calibri"/>
                        </a:rPr>
                        <a:t>₹38,515</a:t>
                      </a:r>
                    </a:p>
                  </a:txBody>
                  <a:tcPr marL="73152" marR="73152" marT="27432" marB="27432" anchor="ctr">
                    <a:solidFill>
                      <a:srgbClr val="FFFFFF"/>
                    </a:solidFill>
                  </a:tcPr>
                </a:tc>
                <a:tc>
                  <a:txBody>
                    <a:bodyPr/>
                    <a:lstStyle/>
                    <a:p>
                      <a:r>
                        <a:rPr sz="1200" b="0">
                          <a:solidFill>
                            <a:srgbClr val="1F2A2E"/>
                          </a:solidFill>
                          <a:latin typeface="Calibri"/>
                        </a:rPr>
                        <a:t>0.998</a:t>
                      </a:r>
                    </a:p>
                  </a:txBody>
                  <a:tcPr marL="73152" marR="73152" marT="27432" marB="27432" anchor="ctr">
                    <a:solidFill>
                      <a:srgbClr val="FFFFFF"/>
                    </a:solidFill>
                  </a:tcPr>
                </a:tc>
                <a:tc>
                  <a:txBody>
                    <a:bodyPr/>
                    <a:lstStyle/>
                    <a:p>
                      <a:r>
                        <a:rPr sz="1200" b="0">
                          <a:solidFill>
                            <a:srgbClr val="1F2A2E"/>
                          </a:solidFill>
                          <a:latin typeface="Calibri"/>
                        </a:rPr>
                        <a:t>₹637,024</a:t>
                      </a:r>
                    </a:p>
                  </a:txBody>
                  <a:tcPr marL="73152" marR="73152" marT="27432" marB="27432" anchor="ctr">
                    <a:solidFill>
                      <a:srgbClr val="FFFFFF"/>
                    </a:solidFill>
                  </a:tcPr>
                </a:tc>
                <a:extLst>
                  <a:ext uri="{0D108BD9-81ED-4DB2-BD59-A6C34878D82A}">
                    <a16:rowId xmlns:a16="http://schemas.microsoft.com/office/drawing/2014/main" val="10001"/>
                  </a:ext>
                </a:extLst>
              </a:tr>
              <a:tr h="347472">
                <a:tc>
                  <a:txBody>
                    <a:bodyPr/>
                    <a:lstStyle/>
                    <a:p>
                      <a:r>
                        <a:rPr sz="1200" b="1">
                          <a:solidFill>
                            <a:srgbClr val="1F2A2E"/>
                          </a:solidFill>
                          <a:latin typeface="Calibri"/>
                        </a:rPr>
                        <a:t>Roof temperature drop</a:t>
                      </a:r>
                    </a:p>
                  </a:txBody>
                  <a:tcPr marL="73152" marR="73152" marT="27432" marB="27432" anchor="ctr">
                    <a:solidFill>
                      <a:srgbClr val="EAF2EF"/>
                    </a:solidFill>
                  </a:tcPr>
                </a:tc>
                <a:tc>
                  <a:txBody>
                    <a:bodyPr/>
                    <a:lstStyle/>
                    <a:p>
                      <a:r>
                        <a:rPr sz="1200" b="0">
                          <a:solidFill>
                            <a:srgbClr val="1F2A2E"/>
                          </a:solidFill>
                          <a:latin typeface="Calibri"/>
                        </a:rPr>
                        <a:t>0.41 °C</a:t>
                      </a:r>
                    </a:p>
                  </a:txBody>
                  <a:tcPr marL="73152" marR="73152" marT="27432" marB="27432" anchor="ctr">
                    <a:solidFill>
                      <a:srgbClr val="EAF2EF"/>
                    </a:solidFill>
                  </a:tcPr>
                </a:tc>
                <a:tc>
                  <a:txBody>
                    <a:bodyPr/>
                    <a:lstStyle/>
                    <a:p>
                      <a:r>
                        <a:rPr sz="1200" b="0">
                          <a:solidFill>
                            <a:srgbClr val="1F2A2E"/>
                          </a:solidFill>
                          <a:latin typeface="Calibri"/>
                        </a:rPr>
                        <a:t>0.51 °C</a:t>
                      </a:r>
                    </a:p>
                  </a:txBody>
                  <a:tcPr marL="73152" marR="73152" marT="27432" marB="27432" anchor="ctr">
                    <a:solidFill>
                      <a:srgbClr val="EAF2EF"/>
                    </a:solidFill>
                  </a:tcPr>
                </a:tc>
                <a:tc>
                  <a:txBody>
                    <a:bodyPr/>
                    <a:lstStyle/>
                    <a:p>
                      <a:r>
                        <a:rPr sz="1200" b="0">
                          <a:solidFill>
                            <a:srgbClr val="1F2A2E"/>
                          </a:solidFill>
                          <a:latin typeface="Calibri"/>
                        </a:rPr>
                        <a:t>0.948</a:t>
                      </a:r>
                    </a:p>
                  </a:txBody>
                  <a:tcPr marL="73152" marR="73152" marT="27432" marB="27432" anchor="ctr">
                    <a:solidFill>
                      <a:srgbClr val="EAF2EF"/>
                    </a:solidFill>
                  </a:tcPr>
                </a:tc>
                <a:tc>
                  <a:txBody>
                    <a:bodyPr/>
                    <a:lstStyle/>
                    <a:p>
                      <a:r>
                        <a:rPr sz="1200" b="0">
                          <a:solidFill>
                            <a:srgbClr val="1F2A2E"/>
                          </a:solidFill>
                          <a:latin typeface="Calibri"/>
                        </a:rPr>
                        <a:t>1.80 °C</a:t>
                      </a:r>
                    </a:p>
                  </a:txBody>
                  <a:tcPr marL="73152" marR="73152" marT="27432" marB="27432" anchor="ctr">
                    <a:solidFill>
                      <a:srgbClr val="EAF2EF"/>
                    </a:solidFill>
                  </a:tcPr>
                </a:tc>
                <a:extLst>
                  <a:ext uri="{0D108BD9-81ED-4DB2-BD59-A6C34878D82A}">
                    <a16:rowId xmlns:a16="http://schemas.microsoft.com/office/drawing/2014/main" val="10002"/>
                  </a:ext>
                </a:extLst>
              </a:tr>
              <a:tr h="347472">
                <a:tc>
                  <a:txBody>
                    <a:bodyPr/>
                    <a:lstStyle/>
                    <a:p>
                      <a:r>
                        <a:rPr sz="1200" b="1">
                          <a:solidFill>
                            <a:srgbClr val="1F2A2E"/>
                          </a:solidFill>
                          <a:latin typeface="Calibri"/>
                        </a:rPr>
                        <a:t>Electricity savings</a:t>
                      </a:r>
                    </a:p>
                  </a:txBody>
                  <a:tcPr marL="73152" marR="73152" marT="27432" marB="27432" anchor="ctr">
                    <a:solidFill>
                      <a:srgbClr val="FFFFFF"/>
                    </a:solidFill>
                  </a:tcPr>
                </a:tc>
                <a:tc>
                  <a:txBody>
                    <a:bodyPr/>
                    <a:lstStyle/>
                    <a:p>
                      <a:r>
                        <a:rPr sz="1200" b="0">
                          <a:solidFill>
                            <a:srgbClr val="1F2A2E"/>
                          </a:solidFill>
                          <a:latin typeface="Calibri"/>
                        </a:rPr>
                        <a:t>3.62 kWh</a:t>
                      </a:r>
                    </a:p>
                  </a:txBody>
                  <a:tcPr marL="73152" marR="73152" marT="27432" marB="27432" anchor="ctr">
                    <a:solidFill>
                      <a:srgbClr val="FFFFFF"/>
                    </a:solidFill>
                  </a:tcPr>
                </a:tc>
                <a:tc>
                  <a:txBody>
                    <a:bodyPr/>
                    <a:lstStyle/>
                    <a:p>
                      <a:r>
                        <a:rPr sz="1200" b="0">
                          <a:solidFill>
                            <a:srgbClr val="1F2A2E"/>
                          </a:solidFill>
                          <a:latin typeface="Calibri"/>
                        </a:rPr>
                        <a:t>5.87 kWh</a:t>
                      </a:r>
                    </a:p>
                  </a:txBody>
                  <a:tcPr marL="73152" marR="73152" marT="27432" marB="27432" anchor="ctr">
                    <a:solidFill>
                      <a:srgbClr val="FFFFFF"/>
                    </a:solidFill>
                  </a:tcPr>
                </a:tc>
                <a:tc>
                  <a:txBody>
                    <a:bodyPr/>
                    <a:lstStyle/>
                    <a:p>
                      <a:r>
                        <a:rPr sz="1200" b="0">
                          <a:solidFill>
                            <a:srgbClr val="1F2A2E"/>
                          </a:solidFill>
                          <a:latin typeface="Calibri"/>
                        </a:rPr>
                        <a:t>0.987</a:t>
                      </a:r>
                    </a:p>
                  </a:txBody>
                  <a:tcPr marL="73152" marR="73152" marT="27432" marB="27432" anchor="ctr">
                    <a:solidFill>
                      <a:srgbClr val="FFFFFF"/>
                    </a:solidFill>
                  </a:tcPr>
                </a:tc>
                <a:tc>
                  <a:txBody>
                    <a:bodyPr/>
                    <a:lstStyle/>
                    <a:p>
                      <a:r>
                        <a:rPr sz="1200" b="0">
                          <a:solidFill>
                            <a:srgbClr val="1F2A2E"/>
                          </a:solidFill>
                          <a:latin typeface="Calibri"/>
                        </a:rPr>
                        <a:t>38.4 kWh</a:t>
                      </a:r>
                    </a:p>
                  </a:txBody>
                  <a:tcPr marL="73152" marR="73152" marT="27432" marB="27432" anchor="ctr">
                    <a:solidFill>
                      <a:srgbClr val="FFFFFF"/>
                    </a:solidFill>
                  </a:tcPr>
                </a:tc>
                <a:extLst>
                  <a:ext uri="{0D108BD9-81ED-4DB2-BD59-A6C34878D82A}">
                    <a16:rowId xmlns:a16="http://schemas.microsoft.com/office/drawing/2014/main" val="10003"/>
                  </a:ext>
                </a:extLst>
              </a:tr>
            </a:tbl>
          </a:graphicData>
        </a:graphic>
      </p:graphicFrame>
      <p:graphicFrame>
        <p:nvGraphicFramePr>
          <p:cNvPr id="12" name="Table 11"/>
          <p:cNvGraphicFramePr>
            <a:graphicFrameLocks noGrp="1"/>
          </p:cNvGraphicFramePr>
          <p:nvPr/>
        </p:nvGraphicFramePr>
        <p:xfrm>
          <a:off x="548640" y="5074920"/>
          <a:ext cx="7452360" cy="1316736"/>
        </p:xfrm>
        <a:graphic>
          <a:graphicData uri="http://schemas.openxmlformats.org/drawingml/2006/table">
            <a:tbl>
              <a:tblPr firstRow="1" bandRow="1">
                <a:tableStyleId>{5C22544A-7EE6-4342-B048-85BDC9FD1C3A}</a:tableStyleId>
              </a:tblPr>
              <a:tblGrid>
                <a:gridCol w="1371600">
                  <a:extLst>
                    <a:ext uri="{9D8B030D-6E8A-4147-A177-3AD203B41FA5}">
                      <a16:colId xmlns:a16="http://schemas.microsoft.com/office/drawing/2014/main" val="20000"/>
                    </a:ext>
                  </a:extLst>
                </a:gridCol>
                <a:gridCol w="2788920">
                  <a:extLst>
                    <a:ext uri="{9D8B030D-6E8A-4147-A177-3AD203B41FA5}">
                      <a16:colId xmlns:a16="http://schemas.microsoft.com/office/drawing/2014/main" val="20001"/>
                    </a:ext>
                  </a:extLst>
                </a:gridCol>
                <a:gridCol w="192024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tblGrid>
              <a:tr h="329184">
                <a:tc>
                  <a:txBody>
                    <a:bodyPr/>
                    <a:lstStyle/>
                    <a:p>
                      <a:r>
                        <a:rPr sz="1100" b="1">
                          <a:solidFill>
                            <a:srgbClr val="FFFFFF"/>
                          </a:solidFill>
                          <a:latin typeface="Calibri"/>
                        </a:rPr>
                        <a:t>Task</a:t>
                      </a:r>
                    </a:p>
                  </a:txBody>
                  <a:tcPr marL="73152" marR="73152" marT="27432" marB="27432" anchor="ctr">
                    <a:solidFill>
                      <a:srgbClr val="0F4C3A"/>
                    </a:solidFill>
                  </a:tcPr>
                </a:tc>
                <a:tc>
                  <a:txBody>
                    <a:bodyPr/>
                    <a:lstStyle/>
                    <a:p>
                      <a:r>
                        <a:rPr sz="1100" b="1">
                          <a:solidFill>
                            <a:srgbClr val="FFFFFF"/>
                          </a:solidFill>
                          <a:latin typeface="Calibri"/>
                        </a:rPr>
                        <a:t>Our model</a:t>
                      </a:r>
                    </a:p>
                  </a:txBody>
                  <a:tcPr marL="73152" marR="73152" marT="27432" marB="27432" anchor="ctr">
                    <a:solidFill>
                      <a:srgbClr val="0F4C3A"/>
                    </a:solidFill>
                  </a:tcPr>
                </a:tc>
                <a:tc>
                  <a:txBody>
                    <a:bodyPr/>
                    <a:lstStyle/>
                    <a:p>
                      <a:r>
                        <a:rPr sz="1100" b="1">
                          <a:solidFill>
                            <a:srgbClr val="FFFFFF"/>
                          </a:solidFill>
                          <a:latin typeface="Calibri"/>
                        </a:rPr>
                        <a:t>Trivial baseline</a:t>
                      </a:r>
                    </a:p>
                  </a:txBody>
                  <a:tcPr marL="73152" marR="73152" marT="27432" marB="27432" anchor="ctr">
                    <a:solidFill>
                      <a:srgbClr val="0F4C3A"/>
                    </a:solidFill>
                  </a:tcPr>
                </a:tc>
                <a:tc>
                  <a:txBody>
                    <a:bodyPr/>
                    <a:lstStyle/>
                    <a:p>
                      <a:r>
                        <a:rPr sz="1100" b="1">
                          <a:solidFill>
                            <a:srgbClr val="FFFFFF"/>
                          </a:solidFill>
                          <a:latin typeface="Calibri"/>
                        </a:rPr>
                        <a:t>Verdict</a:t>
                      </a:r>
                    </a:p>
                  </a:txBody>
                  <a:tcPr marL="73152" marR="73152" marT="27432" marB="27432" anchor="ctr">
                    <a:solidFill>
                      <a:srgbClr val="0F4C3A"/>
                    </a:solidFill>
                  </a:tcPr>
                </a:tc>
                <a:extLst>
                  <a:ext uri="{0D108BD9-81ED-4DB2-BD59-A6C34878D82A}">
                    <a16:rowId xmlns:a16="http://schemas.microsoft.com/office/drawing/2014/main" val="10000"/>
                  </a:ext>
                </a:extLst>
              </a:tr>
              <a:tr h="329184">
                <a:tc>
                  <a:txBody>
                    <a:bodyPr/>
                    <a:lstStyle/>
                    <a:p>
                      <a:r>
                        <a:rPr sz="1100" b="1">
                          <a:solidFill>
                            <a:srgbClr val="1F2A2E"/>
                          </a:solidFill>
                          <a:latin typeface="Calibri"/>
                        </a:rPr>
                        <a:t>Rating (MAE)</a:t>
                      </a:r>
                    </a:p>
                  </a:txBody>
                  <a:tcPr marL="73152" marR="73152" marT="27432" marB="27432" anchor="ctr">
                    <a:solidFill>
                      <a:srgbClr val="FFFFFF"/>
                    </a:solidFill>
                  </a:tcPr>
                </a:tc>
                <a:tc>
                  <a:txBody>
                    <a:bodyPr/>
                    <a:lstStyle/>
                    <a:p>
                      <a:r>
                        <a:rPr sz="1100" b="0">
                          <a:solidFill>
                            <a:srgbClr val="1F2A2E"/>
                          </a:solidFill>
                          <a:latin typeface="Calibri"/>
                        </a:rPr>
                        <a:t>0.77 ★ · R² 0.36</a:t>
                      </a:r>
                    </a:p>
                  </a:txBody>
                  <a:tcPr marL="73152" marR="73152" marT="27432" marB="27432" anchor="ctr">
                    <a:solidFill>
                      <a:srgbClr val="FFFFFF"/>
                    </a:solidFill>
                  </a:tcPr>
                </a:tc>
                <a:tc>
                  <a:txBody>
                    <a:bodyPr/>
                    <a:lstStyle/>
                    <a:p>
                      <a:r>
                        <a:rPr sz="1100" b="0">
                          <a:solidFill>
                            <a:srgbClr val="1F2A2E"/>
                          </a:solidFill>
                          <a:latin typeface="Calibri"/>
                        </a:rPr>
                        <a:t>0.92 ★ (median)</a:t>
                      </a:r>
                    </a:p>
                  </a:txBody>
                  <a:tcPr marL="73152" marR="73152" marT="27432" marB="27432" anchor="ctr">
                    <a:solidFill>
                      <a:srgbClr val="FFFFFF"/>
                    </a:solidFill>
                  </a:tcPr>
                </a:tc>
                <a:tc>
                  <a:txBody>
                    <a:bodyPr/>
                    <a:lstStyle/>
                    <a:p>
                      <a:r>
                        <a:rPr sz="1100" b="0">
                          <a:solidFill>
                            <a:srgbClr val="1F2A2E"/>
                          </a:solidFill>
                          <a:latin typeface="Calibri"/>
                        </a:rPr>
                        <a:t>better</a:t>
                      </a:r>
                    </a:p>
                  </a:txBody>
                  <a:tcPr marL="73152" marR="73152" marT="27432" marB="27432" anchor="ctr">
                    <a:solidFill>
                      <a:srgbClr val="FFFFFF"/>
                    </a:solidFill>
                  </a:tcPr>
                </a:tc>
                <a:extLst>
                  <a:ext uri="{0D108BD9-81ED-4DB2-BD59-A6C34878D82A}">
                    <a16:rowId xmlns:a16="http://schemas.microsoft.com/office/drawing/2014/main" val="10001"/>
                  </a:ext>
                </a:extLst>
              </a:tr>
              <a:tr h="329184">
                <a:tc>
                  <a:txBody>
                    <a:bodyPr/>
                    <a:lstStyle/>
                    <a:p>
                      <a:r>
                        <a:rPr sz="1100" b="1">
                          <a:solidFill>
                            <a:srgbClr val="1F2A2E"/>
                          </a:solidFill>
                          <a:latin typeface="Calibri"/>
                        </a:rPr>
                        <a:t>High rating ≥4★</a:t>
                      </a:r>
                    </a:p>
                  </a:txBody>
                  <a:tcPr marL="73152" marR="73152" marT="27432" marB="27432" anchor="ctr">
                    <a:solidFill>
                      <a:srgbClr val="EAF2EF"/>
                    </a:solidFill>
                  </a:tcPr>
                </a:tc>
                <a:tc>
                  <a:txBody>
                    <a:bodyPr/>
                    <a:lstStyle/>
                    <a:p>
                      <a:r>
                        <a:rPr sz="1100" b="0">
                          <a:solidFill>
                            <a:srgbClr val="1F2A2E"/>
                          </a:solidFill>
                          <a:latin typeface="Calibri"/>
                        </a:rPr>
                        <a:t>acc 68.8% · F1 0.614 · AUC 0.76</a:t>
                      </a:r>
                    </a:p>
                  </a:txBody>
                  <a:tcPr marL="73152" marR="73152" marT="27432" marB="27432" anchor="ctr">
                    <a:solidFill>
                      <a:srgbClr val="EAF2EF"/>
                    </a:solidFill>
                  </a:tcPr>
                </a:tc>
                <a:tc>
                  <a:txBody>
                    <a:bodyPr/>
                    <a:lstStyle/>
                    <a:p>
                      <a:r>
                        <a:rPr sz="1100" b="0">
                          <a:solidFill>
                            <a:srgbClr val="1F2A2E"/>
                          </a:solidFill>
                          <a:latin typeface="Calibri"/>
                        </a:rPr>
                        <a:t>acc 57.6% · F1 0.596</a:t>
                      </a:r>
                    </a:p>
                  </a:txBody>
                  <a:tcPr marL="73152" marR="73152" marT="27432" marB="27432" anchor="ctr">
                    <a:solidFill>
                      <a:srgbClr val="EAF2EF"/>
                    </a:solidFill>
                  </a:tcPr>
                </a:tc>
                <a:tc>
                  <a:txBody>
                    <a:bodyPr/>
                    <a:lstStyle/>
                    <a:p>
                      <a:r>
                        <a:rPr sz="1100" b="0">
                          <a:solidFill>
                            <a:srgbClr val="1F2A2E"/>
                          </a:solidFill>
                          <a:latin typeface="Calibri"/>
                        </a:rPr>
                        <a:t>acc better · F1 n.s.</a:t>
                      </a:r>
                    </a:p>
                  </a:txBody>
                  <a:tcPr marL="73152" marR="73152" marT="27432" marB="27432" anchor="ctr">
                    <a:solidFill>
                      <a:srgbClr val="EAF2EF"/>
                    </a:solidFill>
                  </a:tcPr>
                </a:tc>
                <a:extLst>
                  <a:ext uri="{0D108BD9-81ED-4DB2-BD59-A6C34878D82A}">
                    <a16:rowId xmlns:a16="http://schemas.microsoft.com/office/drawing/2014/main" val="10002"/>
                  </a:ext>
                </a:extLst>
              </a:tr>
              <a:tr h="329184">
                <a:tc>
                  <a:txBody>
                    <a:bodyPr/>
                    <a:lstStyle/>
                    <a:p>
                      <a:r>
                        <a:rPr sz="1100" b="1">
                          <a:solidFill>
                            <a:srgbClr val="1F2A2E"/>
                          </a:solidFill>
                          <a:latin typeface="Calibri"/>
                        </a:rPr>
                        <a:t>Referral</a:t>
                      </a:r>
                    </a:p>
                  </a:txBody>
                  <a:tcPr marL="73152" marR="73152" marT="27432" marB="27432" anchor="ctr">
                    <a:solidFill>
                      <a:srgbClr val="FFFFFF"/>
                    </a:solidFill>
                  </a:tcPr>
                </a:tc>
                <a:tc>
                  <a:txBody>
                    <a:bodyPr/>
                    <a:lstStyle/>
                    <a:p>
                      <a:r>
                        <a:rPr sz="1100" b="0">
                          <a:solidFill>
                            <a:srgbClr val="1F2A2E"/>
                          </a:solidFill>
                          <a:latin typeface="Calibri"/>
                        </a:rPr>
                        <a:t>F1 0.569 · acc 51.2% · AUC 0.66</a:t>
                      </a:r>
                    </a:p>
                  </a:txBody>
                  <a:tcPr marL="73152" marR="73152" marT="27432" marB="27432" anchor="ctr">
                    <a:solidFill>
                      <a:srgbClr val="FFFFFF"/>
                    </a:solidFill>
                  </a:tcPr>
                </a:tc>
                <a:tc>
                  <a:txBody>
                    <a:bodyPr/>
                    <a:lstStyle/>
                    <a:p>
                      <a:r>
                        <a:rPr sz="1100" b="0">
                          <a:solidFill>
                            <a:srgbClr val="1F2A2E"/>
                          </a:solidFill>
                          <a:latin typeface="Calibri"/>
                        </a:rPr>
                        <a:t>F1 0.544 · acc 62.6%</a:t>
                      </a:r>
                    </a:p>
                  </a:txBody>
                  <a:tcPr marL="73152" marR="73152" marT="27432" marB="27432" anchor="ctr">
                    <a:solidFill>
                      <a:srgbClr val="FFFFFF"/>
                    </a:solidFill>
                  </a:tcPr>
                </a:tc>
                <a:tc>
                  <a:txBody>
                    <a:bodyPr/>
                    <a:lstStyle/>
                    <a:p>
                      <a:r>
                        <a:rPr sz="1100" b="0">
                          <a:solidFill>
                            <a:srgbClr val="1F2A2E"/>
                          </a:solidFill>
                          <a:latin typeface="Calibri"/>
                        </a:rPr>
                        <a:t>F1 n.s. · acc worse</a:t>
                      </a:r>
                    </a:p>
                  </a:txBody>
                  <a:tcPr marL="73152" marR="73152" marT="27432" marB="27432" anchor="ctr">
                    <a:solidFill>
                      <a:srgbClr val="FFFFFF"/>
                    </a:solidFill>
                  </a:tcPr>
                </a:tc>
                <a:extLst>
                  <a:ext uri="{0D108BD9-81ED-4DB2-BD59-A6C34878D82A}">
                    <a16:rowId xmlns:a16="http://schemas.microsoft.com/office/drawing/2014/main" val="10003"/>
                  </a:ext>
                </a:extLst>
              </a:tr>
            </a:tbl>
          </a:graphicData>
        </a:graphic>
      </p:graphicFrame>
      <p:sp>
        <p:nvSpPr>
          <p:cNvPr id="13" name="Rounded Rectangle 12"/>
          <p:cNvSpPr/>
          <p:nvPr/>
        </p:nvSpPr>
        <p:spPr>
          <a:xfrm>
            <a:off x="8183879" y="3566160"/>
            <a:ext cx="3429000" cy="1417320"/>
          </a:xfrm>
          <a:prstGeom prst="roundRect">
            <a:avLst>
              <a:gd name="adj" fmla="val 6000"/>
            </a:avLst>
          </a:prstGeom>
          <a:solidFill>
            <a:srgbClr val="EA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293607" y="3630168"/>
            <a:ext cx="3209544" cy="365760"/>
          </a:xfrm>
          <a:prstGeom prst="rect">
            <a:avLst/>
          </a:prstGeom>
          <a:noFill/>
        </p:spPr>
        <p:txBody>
          <a:bodyPr wrap="square" lIns="45720" tIns="27432" rIns="45720" bIns="27432" anchor="t">
            <a:spAutoFit/>
          </a:bodyPr>
          <a:lstStyle/>
          <a:p>
            <a:pPr algn="l">
              <a:spcAft>
                <a:spcPts val="0"/>
              </a:spcAft>
            </a:pPr>
            <a:r>
              <a:rPr sz="1400" b="1">
                <a:solidFill>
                  <a:srgbClr val="0F4C3A"/>
                </a:solidFill>
                <a:latin typeface="Calibri"/>
              </a:rPr>
              <a:t>Held-out evaluation</a:t>
            </a:r>
          </a:p>
        </p:txBody>
      </p:sp>
      <p:sp>
        <p:nvSpPr>
          <p:cNvPr id="15" name="TextBox 14"/>
          <p:cNvSpPr txBox="1"/>
          <p:nvPr/>
        </p:nvSpPr>
        <p:spPr>
          <a:xfrm>
            <a:off x="8293607" y="3995928"/>
            <a:ext cx="3209544" cy="960120"/>
          </a:xfrm>
          <a:prstGeom prst="rect">
            <a:avLst/>
          </a:prstGeom>
          <a:noFill/>
        </p:spPr>
        <p:txBody>
          <a:bodyPr wrap="square" lIns="45720" tIns="27432" rIns="45720" bIns="27432" anchor="t">
            <a:spAutoFit/>
          </a:bodyPr>
          <a:lstStyle/>
          <a:p>
            <a:pPr algn="l">
              <a:spcAft>
                <a:spcPts val="200"/>
              </a:spcAft>
            </a:pPr>
            <a:r>
              <a:rPr sz="1200" b="0">
                <a:solidFill>
                  <a:srgbClr val="1F2A2E"/>
                </a:solidFill>
                <a:latin typeface="Calibri"/>
              </a:rPr>
              <a:t>500 buildings set aside before modelling, scored once. Baselines scored on the same rows. 'Better' only if the 95% bootstrap interval excludes 0; n.s. = not statistically distinguishable.</a:t>
            </a:r>
          </a:p>
        </p:txBody>
      </p:sp>
      <p:sp>
        <p:nvSpPr>
          <p:cNvPr id="16" name="Rounded Rectangle 15"/>
          <p:cNvSpPr/>
          <p:nvPr/>
        </p:nvSpPr>
        <p:spPr>
          <a:xfrm>
            <a:off x="8183879" y="5074920"/>
            <a:ext cx="3429000" cy="1280160"/>
          </a:xfrm>
          <a:prstGeom prst="roundRect">
            <a:avLst>
              <a:gd name="adj" fmla="val 6000"/>
            </a:avLst>
          </a:prstGeom>
          <a:solidFill>
            <a:srgbClr val="F8E6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293607" y="5138928"/>
            <a:ext cx="3209544" cy="365760"/>
          </a:xfrm>
          <a:prstGeom prst="rect">
            <a:avLst/>
          </a:prstGeom>
          <a:noFill/>
        </p:spPr>
        <p:txBody>
          <a:bodyPr wrap="square" lIns="45720" tIns="27432" rIns="45720" bIns="27432" anchor="t">
            <a:spAutoFit/>
          </a:bodyPr>
          <a:lstStyle/>
          <a:p>
            <a:pPr algn="l">
              <a:spcAft>
                <a:spcPts val="0"/>
              </a:spcAft>
            </a:pPr>
            <a:r>
              <a:rPr sz="1400" b="1">
                <a:solidFill>
                  <a:srgbClr val="B0412C"/>
                </a:solidFill>
                <a:latin typeface="Calibri"/>
              </a:rPr>
              <a:t>Why rating/referral are weaker</a:t>
            </a:r>
          </a:p>
        </p:txBody>
      </p:sp>
      <p:sp>
        <p:nvSpPr>
          <p:cNvPr id="18" name="TextBox 17"/>
          <p:cNvSpPr txBox="1"/>
          <p:nvPr/>
        </p:nvSpPr>
        <p:spPr>
          <a:xfrm>
            <a:off x="8293607" y="5504688"/>
            <a:ext cx="3209544" cy="822959"/>
          </a:xfrm>
          <a:prstGeom prst="rect">
            <a:avLst/>
          </a:prstGeom>
          <a:noFill/>
        </p:spPr>
        <p:txBody>
          <a:bodyPr wrap="square" lIns="45720" tIns="27432" rIns="45720" bIns="27432" anchor="t">
            <a:spAutoFit/>
          </a:bodyPr>
          <a:lstStyle/>
          <a:p>
            <a:pPr algn="l">
              <a:spcAft>
                <a:spcPts val="200"/>
              </a:spcAft>
            </a:pPr>
            <a:r>
              <a:rPr sz="1200" b="0">
                <a:solidFill>
                  <a:srgbClr val="1F2A2E"/>
                </a:solidFill>
                <a:latin typeface="Calibri"/>
              </a:rPr>
              <a:t>They depend on experience after installation, not known at quote time. Use to rank, not promise.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0F4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37744"/>
            <a:ext cx="8229600" cy="274320"/>
          </a:xfrm>
          <a:prstGeom prst="rect">
            <a:avLst/>
          </a:prstGeom>
          <a:noFill/>
        </p:spPr>
        <p:txBody>
          <a:bodyPr wrap="square" lIns="45720" tIns="27432" rIns="45720" bIns="27432" anchor="t">
            <a:spAutoFit/>
          </a:bodyPr>
          <a:lstStyle/>
          <a:p>
            <a:pPr algn="l">
              <a:spcAft>
                <a:spcPts val="0"/>
              </a:spcAft>
            </a:pPr>
            <a:r>
              <a:rPr sz="1200" b="1">
                <a:solidFill>
                  <a:srgbClr val="0E7C86"/>
                </a:solidFill>
                <a:latin typeface="Calibri"/>
              </a:rPr>
              <a:t>SYSTEM DEMONSTRATION AND BUSINESS VALUE</a:t>
            </a:r>
          </a:p>
        </p:txBody>
      </p:sp>
      <p:sp>
        <p:nvSpPr>
          <p:cNvPr id="4" name="TextBox 3"/>
          <p:cNvSpPr txBox="1"/>
          <p:nvPr/>
        </p:nvSpPr>
        <p:spPr>
          <a:xfrm>
            <a:off x="548640" y="457200"/>
            <a:ext cx="11064240" cy="685800"/>
          </a:xfrm>
          <a:prstGeom prst="rect">
            <a:avLst/>
          </a:prstGeom>
          <a:noFill/>
        </p:spPr>
        <p:txBody>
          <a:bodyPr wrap="square" lIns="45720" tIns="27432" rIns="45720" bIns="27432" anchor="t">
            <a:spAutoFit/>
          </a:bodyPr>
          <a:lstStyle/>
          <a:p>
            <a:pPr algn="l">
              <a:spcAft>
                <a:spcPts val="0"/>
              </a:spcAft>
            </a:pPr>
            <a:r>
              <a:rPr sz="2800" b="1">
                <a:solidFill>
                  <a:srgbClr val="0F4C3A"/>
                </a:solidFill>
                <a:latin typeface="Calibri"/>
              </a:rPr>
              <a:t>Working software: predict, compare, check quality, propose</a:t>
            </a:r>
          </a:p>
        </p:txBody>
      </p:sp>
      <p:sp>
        <p:nvSpPr>
          <p:cNvPr id="5" name="TextBox 4"/>
          <p:cNvSpPr txBox="1"/>
          <p:nvPr/>
        </p:nvSpPr>
        <p:spPr>
          <a:xfrm>
            <a:off x="548640" y="6473952"/>
            <a:ext cx="9875520" cy="274320"/>
          </a:xfrm>
          <a:prstGeom prst="rect">
            <a:avLst/>
          </a:prstGeom>
          <a:noFill/>
        </p:spPr>
        <p:txBody>
          <a:bodyPr wrap="square" lIns="45720" tIns="27432" rIns="45720" bIns="27432" anchor="t">
            <a:spAutoFit/>
          </a:bodyPr>
          <a:lstStyle/>
          <a:p>
            <a:pPr algn="l">
              <a:spcAft>
                <a:spcPts val="0"/>
              </a:spcAft>
            </a:pPr>
            <a:r>
              <a:rPr sz="1100" b="0">
                <a:solidFill>
                  <a:srgbClr val="5F6E73"/>
                </a:solidFill>
                <a:latin typeface="Calibri"/>
              </a:rPr>
              <a:t>Source: screenshots of the running local application. Assistant: Gemini live-tested; Claude built but not live-tested.</a:t>
            </a:r>
          </a:p>
        </p:txBody>
      </p:sp>
      <p:sp>
        <p:nvSpPr>
          <p:cNvPr id="6" name="TextBox 5"/>
          <p:cNvSpPr txBox="1"/>
          <p:nvPr/>
        </p:nvSpPr>
        <p:spPr>
          <a:xfrm>
            <a:off x="10881360" y="6473952"/>
            <a:ext cx="777240" cy="274320"/>
          </a:xfrm>
          <a:prstGeom prst="rect">
            <a:avLst/>
          </a:prstGeom>
          <a:noFill/>
        </p:spPr>
        <p:txBody>
          <a:bodyPr wrap="square" lIns="45720" tIns="27432" rIns="45720" bIns="27432" anchor="t">
            <a:spAutoFit/>
          </a:bodyPr>
          <a:lstStyle/>
          <a:p>
            <a:pPr algn="r">
              <a:spcAft>
                <a:spcPts val="0"/>
              </a:spcAft>
            </a:pPr>
            <a:r>
              <a:rPr sz="1100" b="0">
                <a:solidFill>
                  <a:srgbClr val="5F6E73"/>
                </a:solidFill>
                <a:latin typeface="Calibri"/>
              </a:rPr>
              <a:t>7 / 8</a:t>
            </a:r>
          </a:p>
        </p:txBody>
      </p:sp>
      <p:pic>
        <p:nvPicPr>
          <p:cNvPr id="7" name="Picture 6" descr="d8_predict.png"/>
          <p:cNvPicPr>
            <a:picLocks noChangeAspect="1"/>
          </p:cNvPicPr>
          <p:nvPr/>
        </p:nvPicPr>
        <p:blipFill>
          <a:blip r:embed="rId3"/>
          <a:stretch>
            <a:fillRect/>
          </a:stretch>
        </p:blipFill>
        <p:spPr>
          <a:xfrm>
            <a:off x="548640" y="1234440"/>
            <a:ext cx="3611880" cy="1952367"/>
          </a:xfrm>
          <a:prstGeom prst="rect">
            <a:avLst/>
          </a:prstGeom>
        </p:spPr>
      </p:pic>
      <p:sp>
        <p:nvSpPr>
          <p:cNvPr id="8" name="TextBox 7"/>
          <p:cNvSpPr txBox="1"/>
          <p:nvPr/>
        </p:nvSpPr>
        <p:spPr>
          <a:xfrm>
            <a:off x="548640" y="3195951"/>
            <a:ext cx="3611880" cy="274320"/>
          </a:xfrm>
          <a:prstGeom prst="rect">
            <a:avLst/>
          </a:prstGeom>
          <a:noFill/>
        </p:spPr>
        <p:txBody>
          <a:bodyPr wrap="square" lIns="45720" tIns="27432" rIns="45720" bIns="27432" anchor="t">
            <a:spAutoFit/>
          </a:bodyPr>
          <a:lstStyle/>
          <a:p>
            <a:pPr algn="l">
              <a:spcAft>
                <a:spcPts val="0"/>
              </a:spcAft>
            </a:pPr>
            <a:r>
              <a:rPr sz="1100" b="1">
                <a:solidFill>
                  <a:srgbClr val="0F4C3A"/>
                </a:solidFill>
                <a:latin typeface="Calibri"/>
              </a:rPr>
              <a:t>Customer prediction: </a:t>
            </a:r>
            <a:r>
              <a:rPr sz="1100" b="0">
                <a:solidFill>
                  <a:srgbClr val="1F2A2E"/>
                </a:solidFill>
                <a:latin typeface="Calibri"/>
              </a:rPr>
              <a:t>cost, cooling, kWh, rating, referral</a:t>
            </a:r>
          </a:p>
        </p:txBody>
      </p:sp>
      <p:pic>
        <p:nvPicPr>
          <p:cNvPr id="9" name="Picture 8" descr="d8_compare.png"/>
          <p:cNvPicPr>
            <a:picLocks noChangeAspect="1"/>
          </p:cNvPicPr>
          <p:nvPr/>
        </p:nvPicPr>
        <p:blipFill>
          <a:blip r:embed="rId4"/>
          <a:stretch>
            <a:fillRect/>
          </a:stretch>
        </p:blipFill>
        <p:spPr>
          <a:xfrm>
            <a:off x="4297679" y="1234440"/>
            <a:ext cx="3611880" cy="1952367"/>
          </a:xfrm>
          <a:prstGeom prst="rect">
            <a:avLst/>
          </a:prstGeom>
        </p:spPr>
      </p:pic>
      <p:sp>
        <p:nvSpPr>
          <p:cNvPr id="10" name="TextBox 9"/>
          <p:cNvSpPr txBox="1"/>
          <p:nvPr/>
        </p:nvSpPr>
        <p:spPr>
          <a:xfrm>
            <a:off x="4297679" y="3195951"/>
            <a:ext cx="3611880" cy="274320"/>
          </a:xfrm>
          <a:prstGeom prst="rect">
            <a:avLst/>
          </a:prstGeom>
          <a:noFill/>
        </p:spPr>
        <p:txBody>
          <a:bodyPr wrap="square" lIns="45720" tIns="27432" rIns="45720" bIns="27432" anchor="t">
            <a:spAutoFit/>
          </a:bodyPr>
          <a:lstStyle/>
          <a:p>
            <a:pPr algn="l">
              <a:spcAft>
                <a:spcPts val="0"/>
              </a:spcAft>
            </a:pPr>
            <a:r>
              <a:rPr sz="1100" b="1">
                <a:solidFill>
                  <a:srgbClr val="0F4C3A"/>
                </a:solidFill>
                <a:latin typeface="Calibri"/>
              </a:rPr>
              <a:t>Option comparison: </a:t>
            </a:r>
            <a:r>
              <a:rPr sz="1100" b="0">
                <a:solidFill>
                  <a:srgbClr val="1F2A2E"/>
                </a:solidFill>
                <a:latin typeface="Calibri"/>
              </a:rPr>
              <a:t>15 method × quality options ranked</a:t>
            </a:r>
          </a:p>
        </p:txBody>
      </p:sp>
      <p:pic>
        <p:nvPicPr>
          <p:cNvPr id="11" name="Picture 10" descr="d8_performance.png"/>
          <p:cNvPicPr>
            <a:picLocks noChangeAspect="1"/>
          </p:cNvPicPr>
          <p:nvPr/>
        </p:nvPicPr>
        <p:blipFill>
          <a:blip r:embed="rId5"/>
          <a:stretch>
            <a:fillRect/>
          </a:stretch>
        </p:blipFill>
        <p:spPr>
          <a:xfrm>
            <a:off x="8046719" y="1234440"/>
            <a:ext cx="3611880" cy="1952367"/>
          </a:xfrm>
          <a:prstGeom prst="rect">
            <a:avLst/>
          </a:prstGeom>
        </p:spPr>
      </p:pic>
      <p:sp>
        <p:nvSpPr>
          <p:cNvPr id="12" name="TextBox 11"/>
          <p:cNvSpPr txBox="1"/>
          <p:nvPr/>
        </p:nvSpPr>
        <p:spPr>
          <a:xfrm>
            <a:off x="8046719" y="3195951"/>
            <a:ext cx="3611880" cy="274320"/>
          </a:xfrm>
          <a:prstGeom prst="rect">
            <a:avLst/>
          </a:prstGeom>
          <a:noFill/>
        </p:spPr>
        <p:txBody>
          <a:bodyPr wrap="square" lIns="45720" tIns="27432" rIns="45720" bIns="27432" anchor="t">
            <a:spAutoFit/>
          </a:bodyPr>
          <a:lstStyle/>
          <a:p>
            <a:pPr algn="l">
              <a:spcAft>
                <a:spcPts val="0"/>
              </a:spcAft>
            </a:pPr>
            <a:r>
              <a:rPr sz="1100" b="1">
                <a:solidFill>
                  <a:srgbClr val="0F4C3A"/>
                </a:solidFill>
                <a:latin typeface="Calibri"/>
              </a:rPr>
              <a:t>Model performance: </a:t>
            </a:r>
            <a:r>
              <a:rPr sz="1100" b="0">
                <a:solidFill>
                  <a:srgbClr val="1F2A2E"/>
                </a:solidFill>
                <a:latin typeface="Calibri"/>
              </a:rPr>
              <a:t>baselines, intervals, confusion matrix</a:t>
            </a:r>
          </a:p>
        </p:txBody>
      </p:sp>
      <p:pic>
        <p:nvPicPr>
          <p:cNvPr id="13" name="Picture 12" descr="d8_insights.png"/>
          <p:cNvPicPr>
            <a:picLocks noChangeAspect="1"/>
          </p:cNvPicPr>
          <p:nvPr/>
        </p:nvPicPr>
        <p:blipFill>
          <a:blip r:embed="rId6"/>
          <a:stretch>
            <a:fillRect/>
          </a:stretch>
        </p:blipFill>
        <p:spPr>
          <a:xfrm>
            <a:off x="548640" y="3593592"/>
            <a:ext cx="3611880" cy="1952367"/>
          </a:xfrm>
          <a:prstGeom prst="rect">
            <a:avLst/>
          </a:prstGeom>
        </p:spPr>
      </p:pic>
      <p:sp>
        <p:nvSpPr>
          <p:cNvPr id="14" name="TextBox 13"/>
          <p:cNvSpPr txBox="1"/>
          <p:nvPr/>
        </p:nvSpPr>
        <p:spPr>
          <a:xfrm>
            <a:off x="548640" y="5555103"/>
            <a:ext cx="3611880" cy="274320"/>
          </a:xfrm>
          <a:prstGeom prst="rect">
            <a:avLst/>
          </a:prstGeom>
          <a:noFill/>
        </p:spPr>
        <p:txBody>
          <a:bodyPr wrap="square" lIns="45720" tIns="27432" rIns="45720" bIns="27432" anchor="t">
            <a:spAutoFit/>
          </a:bodyPr>
          <a:lstStyle/>
          <a:p>
            <a:pPr algn="l">
              <a:spcAft>
                <a:spcPts val="0"/>
              </a:spcAft>
            </a:pPr>
            <a:r>
              <a:rPr sz="1100" b="1">
                <a:solidFill>
                  <a:srgbClr val="0F4C3A"/>
                </a:solidFill>
                <a:latin typeface="Calibri"/>
              </a:rPr>
              <a:t>Data-quality insights: </a:t>
            </a:r>
            <a:r>
              <a:rPr sz="1100" b="0">
                <a:solidFill>
                  <a:srgbClr val="1F2A2E"/>
                </a:solidFill>
                <a:latin typeface="Calibri"/>
              </a:rPr>
              <a:t>audit counts and cleaning decisions</a:t>
            </a:r>
          </a:p>
        </p:txBody>
      </p:sp>
      <p:pic>
        <p:nvPicPr>
          <p:cNvPr id="15" name="Picture 14" descr="d8_proposal.png"/>
          <p:cNvPicPr>
            <a:picLocks noChangeAspect="1"/>
          </p:cNvPicPr>
          <p:nvPr/>
        </p:nvPicPr>
        <p:blipFill>
          <a:blip r:embed="rId7"/>
          <a:stretch>
            <a:fillRect/>
          </a:stretch>
        </p:blipFill>
        <p:spPr>
          <a:xfrm>
            <a:off x="4297679" y="3593592"/>
            <a:ext cx="3611880" cy="1952367"/>
          </a:xfrm>
          <a:prstGeom prst="rect">
            <a:avLst/>
          </a:prstGeom>
        </p:spPr>
      </p:pic>
      <p:sp>
        <p:nvSpPr>
          <p:cNvPr id="16" name="TextBox 15"/>
          <p:cNvSpPr txBox="1"/>
          <p:nvPr/>
        </p:nvSpPr>
        <p:spPr>
          <a:xfrm>
            <a:off x="4297679" y="5555103"/>
            <a:ext cx="3611880" cy="274320"/>
          </a:xfrm>
          <a:prstGeom prst="rect">
            <a:avLst/>
          </a:prstGeom>
          <a:noFill/>
        </p:spPr>
        <p:txBody>
          <a:bodyPr wrap="square" lIns="45720" tIns="27432" rIns="45720" bIns="27432" anchor="t">
            <a:spAutoFit/>
          </a:bodyPr>
          <a:lstStyle/>
          <a:p>
            <a:pPr algn="l">
              <a:spcAft>
                <a:spcPts val="0"/>
              </a:spcAft>
            </a:pPr>
            <a:r>
              <a:rPr sz="1100" b="1">
                <a:solidFill>
                  <a:srgbClr val="0F4C3A"/>
                </a:solidFill>
                <a:latin typeface="Calibri"/>
              </a:rPr>
              <a:t>PDF proposal: </a:t>
            </a:r>
            <a:r>
              <a:rPr sz="1100" b="0">
                <a:solidFill>
                  <a:srgbClr val="1F2A2E"/>
                </a:solidFill>
                <a:latin typeface="Calibri"/>
              </a:rPr>
              <a:t>built from real predictions</a:t>
            </a:r>
          </a:p>
        </p:txBody>
      </p:sp>
      <p:pic>
        <p:nvPicPr>
          <p:cNvPr id="17" name="Picture 16" descr="d8_assistant.png"/>
          <p:cNvPicPr>
            <a:picLocks noChangeAspect="1"/>
          </p:cNvPicPr>
          <p:nvPr/>
        </p:nvPicPr>
        <p:blipFill>
          <a:blip r:embed="rId8"/>
          <a:stretch>
            <a:fillRect/>
          </a:stretch>
        </p:blipFill>
        <p:spPr>
          <a:xfrm>
            <a:off x="8046719" y="3593592"/>
            <a:ext cx="3611880" cy="1952367"/>
          </a:xfrm>
          <a:prstGeom prst="rect">
            <a:avLst/>
          </a:prstGeom>
        </p:spPr>
      </p:pic>
      <p:sp>
        <p:nvSpPr>
          <p:cNvPr id="18" name="TextBox 17"/>
          <p:cNvSpPr txBox="1"/>
          <p:nvPr/>
        </p:nvSpPr>
        <p:spPr>
          <a:xfrm>
            <a:off x="8046719" y="5555103"/>
            <a:ext cx="3611880" cy="274320"/>
          </a:xfrm>
          <a:prstGeom prst="rect">
            <a:avLst/>
          </a:prstGeom>
          <a:noFill/>
        </p:spPr>
        <p:txBody>
          <a:bodyPr wrap="square" lIns="45720" tIns="27432" rIns="45720" bIns="27432" anchor="t">
            <a:spAutoFit/>
          </a:bodyPr>
          <a:lstStyle/>
          <a:p>
            <a:pPr algn="l">
              <a:spcAft>
                <a:spcPts val="0"/>
              </a:spcAft>
            </a:pPr>
            <a:r>
              <a:rPr sz="1100" b="1">
                <a:solidFill>
                  <a:srgbClr val="0F4C3A"/>
                </a:solidFill>
                <a:latin typeface="Calibri"/>
              </a:rPr>
              <a:t>AI assistant: </a:t>
            </a:r>
            <a:r>
              <a:rPr sz="1100" b="0">
                <a:solidFill>
                  <a:srgbClr val="1F2A2E"/>
                </a:solidFill>
                <a:latin typeface="Calibri"/>
              </a:rPr>
              <a:t>Gemini live-tested; Claude untested</a:t>
            </a:r>
          </a:p>
        </p:txBody>
      </p:sp>
      <p:sp>
        <p:nvSpPr>
          <p:cNvPr id="19" name="Rounded Rectangle 18"/>
          <p:cNvSpPr/>
          <p:nvPr/>
        </p:nvSpPr>
        <p:spPr>
          <a:xfrm>
            <a:off x="548640" y="5989320"/>
            <a:ext cx="11064240" cy="411480"/>
          </a:xfrm>
          <a:prstGeom prst="roundRect">
            <a:avLst>
              <a:gd name="adj" fmla="val 6000"/>
            </a:avLst>
          </a:prstGeom>
          <a:solidFill>
            <a:srgbClr val="0F4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85800" y="6007608"/>
            <a:ext cx="10789920" cy="365760"/>
          </a:xfrm>
          <a:prstGeom prst="rect">
            <a:avLst/>
          </a:prstGeom>
          <a:noFill/>
        </p:spPr>
        <p:txBody>
          <a:bodyPr wrap="square" lIns="45720" tIns="27432" rIns="45720" bIns="27432" anchor="ctr">
            <a:spAutoFit/>
          </a:bodyPr>
          <a:lstStyle/>
          <a:p>
            <a:pPr algn="l">
              <a:spcAft>
                <a:spcPts val="0"/>
              </a:spcAft>
            </a:pPr>
            <a:r>
              <a:rPr sz="1300" b="1">
                <a:solidFill>
                  <a:srgbClr val="FFFFFF"/>
                </a:solidFill>
                <a:latin typeface="Calibri"/>
              </a:rPr>
              <a:t>Business value: prepare preliminary estimates in seconds, compare options before quoting, hand over a proposal with its assumptions stated.</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0F4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37744"/>
            <a:ext cx="8229600" cy="274320"/>
          </a:xfrm>
          <a:prstGeom prst="rect">
            <a:avLst/>
          </a:prstGeom>
          <a:noFill/>
        </p:spPr>
        <p:txBody>
          <a:bodyPr wrap="square" lIns="45720" tIns="27432" rIns="45720" bIns="27432" anchor="t">
            <a:spAutoFit/>
          </a:bodyPr>
          <a:lstStyle/>
          <a:p>
            <a:pPr algn="l">
              <a:spcAft>
                <a:spcPts val="0"/>
              </a:spcAft>
            </a:pPr>
            <a:r>
              <a:rPr sz="1200" b="1">
                <a:solidFill>
                  <a:srgbClr val="0E7C86"/>
                </a:solidFill>
                <a:latin typeface="Calibri"/>
              </a:rPr>
              <a:t>CONCLUSION AND FUTURE SCOPE</a:t>
            </a:r>
          </a:p>
        </p:txBody>
      </p:sp>
      <p:sp>
        <p:nvSpPr>
          <p:cNvPr id="4" name="TextBox 3"/>
          <p:cNvSpPr txBox="1"/>
          <p:nvPr/>
        </p:nvSpPr>
        <p:spPr>
          <a:xfrm>
            <a:off x="548640" y="457200"/>
            <a:ext cx="11064240" cy="685800"/>
          </a:xfrm>
          <a:prstGeom prst="rect">
            <a:avLst/>
          </a:prstGeom>
          <a:noFill/>
        </p:spPr>
        <p:txBody>
          <a:bodyPr wrap="square" lIns="45720" tIns="27432" rIns="45720" bIns="27432" anchor="t">
            <a:spAutoFit/>
          </a:bodyPr>
          <a:lstStyle/>
          <a:p>
            <a:pPr algn="l">
              <a:spcAft>
                <a:spcPts val="0"/>
              </a:spcAft>
            </a:pPr>
            <a:r>
              <a:rPr sz="2800" b="1">
                <a:solidFill>
                  <a:srgbClr val="0F4C3A"/>
                </a:solidFill>
                <a:latin typeface="Calibri"/>
              </a:rPr>
              <a:t>Explained, honest estimates from historical roofing data</a:t>
            </a:r>
          </a:p>
        </p:txBody>
      </p:sp>
      <p:sp>
        <p:nvSpPr>
          <p:cNvPr id="5" name="TextBox 4"/>
          <p:cNvSpPr txBox="1"/>
          <p:nvPr/>
        </p:nvSpPr>
        <p:spPr>
          <a:xfrm>
            <a:off x="548640" y="6473952"/>
            <a:ext cx="9875520" cy="274320"/>
          </a:xfrm>
          <a:prstGeom prst="rect">
            <a:avLst/>
          </a:prstGeom>
          <a:noFill/>
        </p:spPr>
        <p:txBody>
          <a:bodyPr wrap="square" lIns="45720" tIns="27432" rIns="45720" bIns="27432" anchor="t">
            <a:spAutoFit/>
          </a:bodyPr>
          <a:lstStyle/>
          <a:p>
            <a:pPr algn="l">
              <a:spcAft>
                <a:spcPts val="0"/>
              </a:spcAft>
            </a:pPr>
            <a:r>
              <a:rPr sz="1100" b="0">
                <a:solidFill>
                  <a:srgbClr val="5F6E73"/>
                </a:solidFill>
                <a:latin typeface="Calibri"/>
              </a:rPr>
              <a:t>Cool Roofing Intelligence · all figures from the project's saved reports. Future scope items are NOT implemented.</a:t>
            </a:r>
          </a:p>
        </p:txBody>
      </p:sp>
      <p:sp>
        <p:nvSpPr>
          <p:cNvPr id="6" name="TextBox 5"/>
          <p:cNvSpPr txBox="1"/>
          <p:nvPr/>
        </p:nvSpPr>
        <p:spPr>
          <a:xfrm>
            <a:off x="10881360" y="6473952"/>
            <a:ext cx="777240" cy="274320"/>
          </a:xfrm>
          <a:prstGeom prst="rect">
            <a:avLst/>
          </a:prstGeom>
          <a:noFill/>
        </p:spPr>
        <p:txBody>
          <a:bodyPr wrap="square" lIns="45720" tIns="27432" rIns="45720" bIns="27432" anchor="t">
            <a:spAutoFit/>
          </a:bodyPr>
          <a:lstStyle/>
          <a:p>
            <a:pPr algn="r">
              <a:spcAft>
                <a:spcPts val="0"/>
              </a:spcAft>
            </a:pPr>
            <a:r>
              <a:rPr sz="1100" b="0">
                <a:solidFill>
                  <a:srgbClr val="5F6E73"/>
                </a:solidFill>
                <a:latin typeface="Calibri"/>
              </a:rPr>
              <a:t>8 / 8</a:t>
            </a:r>
          </a:p>
        </p:txBody>
      </p:sp>
      <p:sp>
        <p:nvSpPr>
          <p:cNvPr id="7" name="Rounded Rectangle 6"/>
          <p:cNvSpPr/>
          <p:nvPr/>
        </p:nvSpPr>
        <p:spPr>
          <a:xfrm>
            <a:off x="548640" y="1325880"/>
            <a:ext cx="3566160" cy="3611880"/>
          </a:xfrm>
          <a:prstGeom prst="roundRect">
            <a:avLst>
              <a:gd name="adj" fmla="val 6000"/>
            </a:avLst>
          </a:prstGeom>
          <a:solidFill>
            <a:srgbClr val="EA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685800" y="1444752"/>
            <a:ext cx="3291840" cy="384048"/>
          </a:xfrm>
          <a:prstGeom prst="roundRect">
            <a:avLst>
              <a:gd name="adj" fmla="val 30000"/>
            </a:avLst>
          </a:prstGeom>
          <a:solidFill>
            <a:srgbClr val="0F4C3A"/>
          </a:solidFill>
          <a:ln>
            <a:noFill/>
          </a:ln>
          <a:effectLst/>
        </p:spPr>
        <p:style>
          <a:lnRef idx="1">
            <a:schemeClr val="accent1"/>
          </a:lnRef>
          <a:fillRef idx="3">
            <a:schemeClr val="accent1"/>
          </a:fillRef>
          <a:effectRef idx="2">
            <a:schemeClr val="accent1"/>
          </a:effectRef>
          <a:fontRef idx="minor">
            <a:schemeClr val="lt1"/>
          </a:fontRef>
        </p:style>
        <p:txBody>
          <a:bodyPr lIns="36576" tIns="0" rIns="36576" bIns="0" rtlCol="0" anchor="ctr"/>
          <a:lstStyle/>
          <a:p>
            <a:pPr algn="ctr"/>
            <a:r>
              <a:rPr sz="1300" b="1">
                <a:solidFill>
                  <a:srgbClr val="FFFFFF"/>
                </a:solidFill>
                <a:latin typeface="Calibri"/>
              </a:rPr>
              <a:t>What the project achieves</a:t>
            </a:r>
          </a:p>
        </p:txBody>
      </p:sp>
      <p:sp>
        <p:nvSpPr>
          <p:cNvPr id="9" name="TextBox 8"/>
          <p:cNvSpPr txBox="1"/>
          <p:nvPr/>
        </p:nvSpPr>
        <p:spPr>
          <a:xfrm>
            <a:off x="731520" y="1965960"/>
            <a:ext cx="3246120" cy="2926080"/>
          </a:xfrm>
          <a:prstGeom prst="rect">
            <a:avLst/>
          </a:prstGeom>
          <a:noFill/>
        </p:spPr>
        <p:txBody>
          <a:bodyPr wrap="square" lIns="45720" tIns="27432" rIns="45720" bIns="27432" anchor="t">
            <a:spAutoFit/>
          </a:bodyPr>
          <a:lstStyle/>
          <a:p>
            <a:pPr algn="l">
              <a:spcAft>
                <a:spcPts val="500"/>
              </a:spcAft>
            </a:pPr>
            <a:r>
              <a:rPr sz="1400" b="1">
                <a:solidFill>
                  <a:srgbClr val="0F4C3A"/>
                </a:solidFill>
                <a:latin typeface="Calibri"/>
              </a:rPr>
              <a:t>• </a:t>
            </a:r>
            <a:r>
              <a:rPr sz="1400" b="0">
                <a:solidFill>
                  <a:srgbClr val="1F2A2E"/>
                </a:solidFill>
                <a:latin typeface="Calibri"/>
              </a:rPr>
              <a:t>Audited 2,500-record dataset; 0 rows deleted</a:t>
            </a:r>
          </a:p>
          <a:p>
            <a:pPr algn="l">
              <a:spcAft>
                <a:spcPts val="500"/>
              </a:spcAft>
            </a:pPr>
            <a:r>
              <a:rPr sz="1400" b="1">
                <a:solidFill>
                  <a:srgbClr val="0F4C3A"/>
                </a:solidFill>
                <a:latin typeface="Calibri"/>
              </a:rPr>
              <a:t>• </a:t>
            </a:r>
            <a:r>
              <a:rPr sz="1400" b="0">
                <a:solidFill>
                  <a:srgbClr val="1F2A2E"/>
                </a:solidFill>
                <a:latin typeface="Calibri"/>
              </a:rPr>
              <a:t>5 tasks, 6 models, held-out evaluation</a:t>
            </a:r>
          </a:p>
          <a:p>
            <a:pPr algn="l">
              <a:spcAft>
                <a:spcPts val="500"/>
              </a:spcAft>
            </a:pPr>
            <a:r>
              <a:rPr sz="1400" b="1">
                <a:solidFill>
                  <a:srgbClr val="0F4C3A"/>
                </a:solidFill>
                <a:latin typeface="Calibri"/>
              </a:rPr>
              <a:t>• </a:t>
            </a:r>
            <a:r>
              <a:rPr sz="1400" b="0">
                <a:solidFill>
                  <a:srgbClr val="1F2A2E"/>
                </a:solidFill>
                <a:latin typeface="Calibri"/>
              </a:rPr>
              <a:t>Cost MAE ₹25,299</a:t>
            </a:r>
          </a:p>
          <a:p>
            <a:pPr algn="l">
              <a:spcAft>
                <a:spcPts val="500"/>
              </a:spcAft>
            </a:pPr>
            <a:r>
              <a:rPr sz="1400" b="1">
                <a:solidFill>
                  <a:srgbClr val="0F4C3A"/>
                </a:solidFill>
                <a:latin typeface="Calibri"/>
              </a:rPr>
              <a:t>• </a:t>
            </a:r>
            <a:r>
              <a:rPr sz="1400" b="0">
                <a:solidFill>
                  <a:srgbClr val="1F2A2E"/>
                </a:solidFill>
                <a:latin typeface="Calibri"/>
              </a:rPr>
              <a:t>Cooling MAE 0.41 °C · savings MAE 3.62 kWh</a:t>
            </a:r>
          </a:p>
          <a:p>
            <a:pPr algn="l">
              <a:spcAft>
                <a:spcPts val="500"/>
              </a:spcAft>
            </a:pPr>
            <a:r>
              <a:rPr sz="1400" b="1">
                <a:solidFill>
                  <a:srgbClr val="0F4C3A"/>
                </a:solidFill>
                <a:latin typeface="Calibri"/>
              </a:rPr>
              <a:t>• </a:t>
            </a:r>
            <a:r>
              <a:rPr sz="1400" b="0">
                <a:solidFill>
                  <a:srgbClr val="1F2A2E"/>
                </a:solidFill>
                <a:latin typeface="Calibri"/>
              </a:rPr>
              <a:t>Compare options · explain · PDF proposals</a:t>
            </a:r>
          </a:p>
        </p:txBody>
      </p:sp>
      <p:sp>
        <p:nvSpPr>
          <p:cNvPr id="10" name="Rounded Rectangle 9"/>
          <p:cNvSpPr/>
          <p:nvPr/>
        </p:nvSpPr>
        <p:spPr>
          <a:xfrm>
            <a:off x="4297679" y="1325880"/>
            <a:ext cx="3566160" cy="3611880"/>
          </a:xfrm>
          <a:prstGeom prst="roundRect">
            <a:avLst>
              <a:gd name="adj" fmla="val 6000"/>
            </a:avLst>
          </a:prstGeom>
          <a:solidFill>
            <a:srgbClr val="EA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4434840" y="1444752"/>
            <a:ext cx="3291840" cy="384048"/>
          </a:xfrm>
          <a:prstGeom prst="roundRect">
            <a:avLst>
              <a:gd name="adj" fmla="val 3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lIns="36576" tIns="0" rIns="36576" bIns="0" rtlCol="0" anchor="ctr"/>
          <a:lstStyle/>
          <a:p>
            <a:pPr algn="ctr"/>
            <a:r>
              <a:rPr sz="1300" b="1">
                <a:solidFill>
                  <a:srgbClr val="FFFFFF"/>
                </a:solidFill>
                <a:latin typeface="Calibri"/>
              </a:rPr>
              <a:t>Value and limitations</a:t>
            </a:r>
          </a:p>
        </p:txBody>
      </p:sp>
      <p:sp>
        <p:nvSpPr>
          <p:cNvPr id="12" name="TextBox 11"/>
          <p:cNvSpPr txBox="1"/>
          <p:nvPr/>
        </p:nvSpPr>
        <p:spPr>
          <a:xfrm>
            <a:off x="4480559" y="1965960"/>
            <a:ext cx="3246120" cy="2926080"/>
          </a:xfrm>
          <a:prstGeom prst="rect">
            <a:avLst/>
          </a:prstGeom>
          <a:noFill/>
        </p:spPr>
        <p:txBody>
          <a:bodyPr wrap="square" lIns="45720" tIns="27432" rIns="45720" bIns="27432" anchor="t">
            <a:spAutoFit/>
          </a:bodyPr>
          <a:lstStyle/>
          <a:p>
            <a:pPr algn="l">
              <a:spcAft>
                <a:spcPts val="500"/>
              </a:spcAft>
            </a:pPr>
            <a:r>
              <a:rPr sz="1400" b="1">
                <a:solidFill>
                  <a:srgbClr val="0E7C86"/>
                </a:solidFill>
                <a:latin typeface="Calibri"/>
              </a:rPr>
              <a:t>• </a:t>
            </a:r>
            <a:r>
              <a:rPr sz="1400" b="0">
                <a:solidFill>
                  <a:srgbClr val="1F2A2E"/>
                </a:solidFill>
                <a:latin typeface="Calibri"/>
              </a:rPr>
              <a:t>Faster preliminary estimates; options compared before quoting</a:t>
            </a:r>
          </a:p>
          <a:p>
            <a:pPr algn="l">
              <a:spcAft>
                <a:spcPts val="500"/>
              </a:spcAft>
            </a:pPr>
            <a:r>
              <a:rPr sz="1400" b="1">
                <a:solidFill>
                  <a:srgbClr val="0E7C86"/>
                </a:solidFill>
                <a:latin typeface="Calibri"/>
              </a:rPr>
              <a:t>• </a:t>
            </a:r>
            <a:r>
              <a:rPr sz="1400" b="0">
                <a:solidFill>
                  <a:srgbClr val="1F2A2E"/>
                </a:solidFill>
                <a:latin typeface="Calibri"/>
              </a:rPr>
              <a:t>Dataset: no time or location fields; 0 kWh fix is inferred</a:t>
            </a:r>
          </a:p>
          <a:p>
            <a:pPr algn="l">
              <a:spcAft>
                <a:spcPts val="500"/>
              </a:spcAft>
            </a:pPr>
            <a:r>
              <a:rPr sz="1400" b="1">
                <a:solidFill>
                  <a:srgbClr val="0E7C86"/>
                </a:solidFill>
                <a:latin typeface="Calibri"/>
              </a:rPr>
              <a:t>• </a:t>
            </a:r>
            <a:r>
              <a:rPr sz="1400" b="0">
                <a:solidFill>
                  <a:srgbClr val="1F2A2E"/>
                </a:solidFill>
                <a:latin typeface="Calibri"/>
              </a:rPr>
              <a:t>Rating and referral only weakly predictable</a:t>
            </a:r>
          </a:p>
          <a:p>
            <a:pPr algn="l">
              <a:spcAft>
                <a:spcPts val="500"/>
              </a:spcAft>
            </a:pPr>
            <a:r>
              <a:rPr sz="1400" b="1">
                <a:solidFill>
                  <a:srgbClr val="0E7C86"/>
                </a:solidFill>
                <a:latin typeface="Calibri"/>
              </a:rPr>
              <a:t>• </a:t>
            </a:r>
            <a:r>
              <a:rPr sz="1400" b="0">
                <a:solidFill>
                  <a:srgbClr val="1F2A2E"/>
                </a:solidFill>
                <a:latin typeface="Calibri"/>
              </a:rPr>
              <a:t>High rating = 4★ is our assumption</a:t>
            </a:r>
          </a:p>
          <a:p>
            <a:pPr algn="l">
              <a:spcAft>
                <a:spcPts val="500"/>
              </a:spcAft>
            </a:pPr>
            <a:r>
              <a:rPr sz="1400" b="1">
                <a:solidFill>
                  <a:srgbClr val="0E7C86"/>
                </a:solidFill>
                <a:latin typeface="Calibri"/>
              </a:rPr>
              <a:t>• </a:t>
            </a:r>
            <a:r>
              <a:rPr sz="1400" b="0">
                <a:solidFill>
                  <a:srgbClr val="1F2A2E"/>
                </a:solidFill>
                <a:latin typeface="Calibri"/>
              </a:rPr>
              <a:t>Estimates, not guarantees</a:t>
            </a:r>
          </a:p>
        </p:txBody>
      </p:sp>
      <p:sp>
        <p:nvSpPr>
          <p:cNvPr id="13" name="Rounded Rectangle 12"/>
          <p:cNvSpPr/>
          <p:nvPr/>
        </p:nvSpPr>
        <p:spPr>
          <a:xfrm>
            <a:off x="8046719" y="1325880"/>
            <a:ext cx="3566160" cy="3611880"/>
          </a:xfrm>
          <a:prstGeom prst="roundRect">
            <a:avLst>
              <a:gd name="adj" fmla="val 6000"/>
            </a:avLst>
          </a:prstGeom>
          <a:solidFill>
            <a:srgbClr val="F3F4F4"/>
          </a:solidFill>
          <a:ln w="15875">
            <a:solidFill>
              <a:srgbClr val="D5DE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8183879" y="1444752"/>
            <a:ext cx="3291840" cy="384048"/>
          </a:xfrm>
          <a:prstGeom prst="roundRect">
            <a:avLst>
              <a:gd name="adj" fmla="val 30000"/>
            </a:avLst>
          </a:prstGeom>
          <a:solidFill>
            <a:srgbClr val="5F6E73"/>
          </a:solidFill>
          <a:ln>
            <a:noFill/>
          </a:ln>
          <a:effectLst/>
        </p:spPr>
        <p:style>
          <a:lnRef idx="1">
            <a:schemeClr val="accent1"/>
          </a:lnRef>
          <a:fillRef idx="3">
            <a:schemeClr val="accent1"/>
          </a:fillRef>
          <a:effectRef idx="2">
            <a:schemeClr val="accent1"/>
          </a:effectRef>
          <a:fontRef idx="minor">
            <a:schemeClr val="lt1"/>
          </a:fontRef>
        </p:style>
        <p:txBody>
          <a:bodyPr lIns="36576" tIns="0" rIns="36576" bIns="0" rtlCol="0" anchor="ctr"/>
          <a:lstStyle/>
          <a:p>
            <a:pPr algn="ctr"/>
            <a:r>
              <a:rPr sz="1300" b="1">
                <a:solidFill>
                  <a:srgbClr val="FFFFFF"/>
                </a:solidFill>
                <a:latin typeface="Calibri"/>
              </a:rPr>
              <a:t>Future scope (not implemented)</a:t>
            </a:r>
          </a:p>
        </p:txBody>
      </p:sp>
      <p:sp>
        <p:nvSpPr>
          <p:cNvPr id="15" name="TextBox 14"/>
          <p:cNvSpPr txBox="1"/>
          <p:nvPr/>
        </p:nvSpPr>
        <p:spPr>
          <a:xfrm>
            <a:off x="8229599" y="1965960"/>
            <a:ext cx="3246120" cy="2926080"/>
          </a:xfrm>
          <a:prstGeom prst="rect">
            <a:avLst/>
          </a:prstGeom>
          <a:noFill/>
        </p:spPr>
        <p:txBody>
          <a:bodyPr wrap="square" lIns="45720" tIns="27432" rIns="45720" bIns="27432" anchor="t">
            <a:spAutoFit/>
          </a:bodyPr>
          <a:lstStyle/>
          <a:p>
            <a:pPr algn="l">
              <a:spcAft>
                <a:spcPts val="500"/>
              </a:spcAft>
            </a:pPr>
            <a:r>
              <a:rPr sz="1400" b="1">
                <a:solidFill>
                  <a:srgbClr val="5F6E73"/>
                </a:solidFill>
                <a:latin typeface="Calibri"/>
              </a:rPr>
              <a:t>• </a:t>
            </a:r>
            <a:r>
              <a:rPr sz="1400" b="0">
                <a:solidFill>
                  <a:srgbClr val="5F6E73"/>
                </a:solidFill>
                <a:latin typeface="Calibri"/>
              </a:rPr>
              <a:t>Validate on newly measured installations</a:t>
            </a:r>
          </a:p>
          <a:p>
            <a:pPr algn="l">
              <a:spcAft>
                <a:spcPts val="500"/>
              </a:spcAft>
            </a:pPr>
            <a:r>
              <a:rPr sz="1400" b="1">
                <a:solidFill>
                  <a:srgbClr val="5F6E73"/>
                </a:solidFill>
                <a:latin typeface="Calibri"/>
              </a:rPr>
              <a:t>• </a:t>
            </a:r>
            <a:r>
              <a:rPr sz="1400" b="0">
                <a:solidFill>
                  <a:srgbClr val="5F6E73"/>
                </a:solidFill>
                <a:latin typeface="Calibri"/>
              </a:rPr>
              <a:t>Digital-twin simulator</a:t>
            </a:r>
          </a:p>
          <a:p>
            <a:pPr algn="l">
              <a:spcAft>
                <a:spcPts val="500"/>
              </a:spcAft>
            </a:pPr>
            <a:r>
              <a:rPr sz="1400" b="1">
                <a:solidFill>
                  <a:srgbClr val="5F6E73"/>
                </a:solidFill>
                <a:latin typeface="Calibri"/>
              </a:rPr>
              <a:t>• </a:t>
            </a:r>
            <a:r>
              <a:rPr sz="1400" b="0">
                <a:solidFill>
                  <a:srgbClr val="5F6E73"/>
                </a:solidFill>
                <a:latin typeface="Calibri"/>
              </a:rPr>
              <a:t>Carbon-savings tracker</a:t>
            </a:r>
          </a:p>
          <a:p>
            <a:pPr algn="l">
              <a:spcAft>
                <a:spcPts val="500"/>
              </a:spcAft>
            </a:pPr>
            <a:r>
              <a:rPr sz="1400" b="1">
                <a:solidFill>
                  <a:srgbClr val="5F6E73"/>
                </a:solidFill>
                <a:latin typeface="Calibri"/>
              </a:rPr>
              <a:t>• </a:t>
            </a:r>
            <a:r>
              <a:rPr sz="1400" b="0">
                <a:solidFill>
                  <a:srgbClr val="5F6E73"/>
                </a:solidFill>
                <a:latin typeface="Calibri"/>
              </a:rPr>
              <a:t>Geo-climate intelligence</a:t>
            </a:r>
          </a:p>
        </p:txBody>
      </p:sp>
      <p:sp>
        <p:nvSpPr>
          <p:cNvPr id="16" name="Rounded Rectangle 15"/>
          <p:cNvSpPr/>
          <p:nvPr/>
        </p:nvSpPr>
        <p:spPr>
          <a:xfrm>
            <a:off x="548640" y="5074920"/>
            <a:ext cx="11064240" cy="868680"/>
          </a:xfrm>
          <a:prstGeom prst="roundRect">
            <a:avLst>
              <a:gd name="adj" fmla="val 6000"/>
            </a:avLst>
          </a:prstGeom>
          <a:solidFill>
            <a:srgbClr val="0F4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77240" y="5102352"/>
            <a:ext cx="10607040" cy="822960"/>
          </a:xfrm>
          <a:prstGeom prst="rect">
            <a:avLst/>
          </a:prstGeom>
          <a:noFill/>
        </p:spPr>
        <p:txBody>
          <a:bodyPr wrap="square" lIns="45720" tIns="27432" rIns="45720" bIns="27432" anchor="ctr">
            <a:spAutoFit/>
          </a:bodyPr>
          <a:lstStyle/>
          <a:p>
            <a:pPr algn="l">
              <a:spcAft>
                <a:spcPts val="0"/>
              </a:spcAft>
            </a:pPr>
            <a:r>
              <a:rPr sz="2000" b="1">
                <a:solidFill>
                  <a:srgbClr val="FFFFFF"/>
                </a:solidFill>
                <a:latin typeface="Calibri"/>
              </a:rPr>
              <a:t>Historical roofing data, turned into estimates a sales rep can trust, with the reasons and the limits attached.</a:t>
            </a:r>
          </a:p>
        </p:txBody>
      </p:sp>
      <p:sp>
        <p:nvSpPr>
          <p:cNvPr id="18" name="TextBox 17"/>
          <p:cNvSpPr txBox="1"/>
          <p:nvPr/>
        </p:nvSpPr>
        <p:spPr>
          <a:xfrm>
            <a:off x="548640" y="5989320"/>
            <a:ext cx="11064240" cy="457200"/>
          </a:xfrm>
          <a:prstGeom prst="rect">
            <a:avLst/>
          </a:prstGeom>
          <a:noFill/>
        </p:spPr>
        <p:txBody>
          <a:bodyPr wrap="square" lIns="45720" tIns="27432" rIns="45720" bIns="27432" anchor="t">
            <a:spAutoFit/>
          </a:bodyPr>
          <a:lstStyle/>
          <a:p>
            <a:pPr algn="ctr">
              <a:spcAft>
                <a:spcPts val="0"/>
              </a:spcAft>
            </a:pPr>
            <a:r>
              <a:rPr sz="2200" b="1">
                <a:solidFill>
                  <a:srgbClr val="0E7C86"/>
                </a:solidFill>
                <a:latin typeface="Calibri"/>
              </a:rPr>
              <a:t>Thank you · 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TotalTime>
  <Words>3009</Words>
  <Application>Microsoft Office PowerPoint</Application>
  <PresentationFormat>Widescreen</PresentationFormat>
  <Paragraphs>218</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Darsan I S</cp:lastModifiedBy>
  <cp:revision>2</cp:revision>
  <dcterms:created xsi:type="dcterms:W3CDTF">2013-01-27T09:14:16Z</dcterms:created>
  <dcterms:modified xsi:type="dcterms:W3CDTF">2026-10-18T10:40:33Z</dcterms:modified>
  <cp:category/>
</cp:coreProperties>
</file>