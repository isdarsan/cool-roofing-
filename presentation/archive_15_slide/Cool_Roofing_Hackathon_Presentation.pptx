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A2E"/>
                </a:solidFill>
                <a:latin typeface="Calibri"/>
              </a:rPr>
              <a:t>Installation cost, MAE (₹ lakh)</a:t>
            </a:r>
          </a:p>
        </c:rich>
      </c:tx>
      <c:layout/>
      <c:overlay val="0"/>
    </c:title>
    <c:autoTitleDeleted val="0"/>
    <c:plotArea>
      <c:barChart>
        <c:barDir val="col"/>
        <c:grouping val="clustered"/>
        <c:ser>
          <c:idx val="0"/>
          <c:order val="0"/>
          <c:tx>
            <c:strRef>
              <c:f>Sheet1!$B$1</c:f>
              <c:strCache>
                <c:ptCount val="1"/>
                <c:pt idx="0">
                  <c:v>MAE</c:v>
                </c:pt>
              </c:strCache>
            </c:strRef>
          </c:tx>
          <c:dPt>
            <c:idx val="0"/>
            <c:spPr>
              <a:solidFill>
                <a:srgbClr val="5F6E73"/>
              </a:solidFill>
            </c:spPr>
          </c:dPt>
          <c:dPt>
            <c:idx val="1"/>
            <c:spPr>
              <a:solidFill>
                <a:srgbClr val="0E7C86"/>
              </a:solidFill>
            </c:spPr>
          </c:dPt>
          <c:cat>
            <c:strRef>
              <c:f>Sheet1!$A$2:$A$3</c:f>
              <c:strCache>
                <c:ptCount val="2"/>
                <c:pt idx="0">
                  <c:v>Baseline</c:v>
                </c:pt>
                <c:pt idx="1">
                  <c:v>Our model</c:v>
                </c:pt>
              </c:strCache>
            </c:strRef>
          </c:cat>
          <c:val>
            <c:numRef>
              <c:f>Sheet1!$B$2:$B$3</c:f>
              <c:numCache>
                <c:formatCode>General</c:formatCode>
                <c:ptCount val="2"/>
                <c:pt idx="0">
                  <c:v>6.37</c:v>
                </c:pt>
                <c:pt idx="1">
                  <c:v>0.25</c:v>
                </c:pt>
              </c:numCache>
            </c:numRef>
          </c:val>
        </c:ser>
        <c:dLbls>
          <c:numFmt formatCode="&quot;₹&quot;0.00&quot; L&quot;" sourceLinked="0"/>
          <c:txPr>
            <a:bodyPr/>
            <a:lstStyle/>
            <a:p>
              <a:pPr>
                <a:defRPr sz="1300" b="1">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EDB"/>
            </a:solidFill>
          </a:ln>
        </c:spPr>
        <c:txPr>
          <a:bodyPr/>
          <a:lstStyle/>
          <a:p>
            <a:pPr>
              <a:defRPr sz="1200">
                <a:latin typeface="Calibri"/>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A2E"/>
                </a:solidFill>
                <a:latin typeface="Calibri"/>
              </a:rPr>
              <a:t>Temperature drop, MAE (°C)</a:t>
            </a:r>
          </a:p>
        </c:rich>
      </c:tx>
      <c:layout/>
      <c:overlay val="0"/>
    </c:title>
    <c:autoTitleDeleted val="0"/>
    <c:plotArea>
      <c:barChart>
        <c:barDir val="col"/>
        <c:grouping val="clustered"/>
        <c:ser>
          <c:idx val="0"/>
          <c:order val="0"/>
          <c:tx>
            <c:strRef>
              <c:f>Sheet1!$B$1</c:f>
              <c:strCache>
                <c:ptCount val="1"/>
                <c:pt idx="0">
                  <c:v>MAE</c:v>
                </c:pt>
              </c:strCache>
            </c:strRef>
          </c:tx>
          <c:dPt>
            <c:idx val="0"/>
            <c:spPr>
              <a:solidFill>
                <a:srgbClr val="5F6E73"/>
              </a:solidFill>
            </c:spPr>
          </c:dPt>
          <c:dPt>
            <c:idx val="1"/>
            <c:spPr>
              <a:solidFill>
                <a:srgbClr val="0E7C86"/>
              </a:solidFill>
            </c:spPr>
          </c:dPt>
          <c:cat>
            <c:strRef>
              <c:f>Sheet1!$A$2:$A$3</c:f>
              <c:strCache>
                <c:ptCount val="2"/>
                <c:pt idx="0">
                  <c:v>Baseline</c:v>
                </c:pt>
                <c:pt idx="1">
                  <c:v>Our model</c:v>
                </c:pt>
              </c:strCache>
            </c:strRef>
          </c:cat>
          <c:val>
            <c:numRef>
              <c:f>Sheet1!$B$2:$B$3</c:f>
              <c:numCache>
                <c:formatCode>General</c:formatCode>
                <c:ptCount val="2"/>
                <c:pt idx="0">
                  <c:v>1.8</c:v>
                </c:pt>
                <c:pt idx="1">
                  <c:v>0.41</c:v>
                </c:pt>
              </c:numCache>
            </c:numRef>
          </c:val>
        </c:ser>
        <c:dLbls>
          <c:numFmt formatCode="0.00&quot; °C&quot;" sourceLinked="0"/>
          <c:txPr>
            <a:bodyPr/>
            <a:lstStyle/>
            <a:p>
              <a:pPr>
                <a:defRPr sz="1300" b="1">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EDB"/>
            </a:solidFill>
          </a:ln>
        </c:spPr>
        <c:txPr>
          <a:bodyPr/>
          <a:lstStyle/>
          <a:p>
            <a:pPr>
              <a:defRPr sz="1200">
                <a:latin typeface="Calibri"/>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A2E"/>
                </a:solidFill>
                <a:latin typeface="Calibri"/>
              </a:rPr>
              <a:t>Electricity saved, MAE (kWh/month)</a:t>
            </a:r>
          </a:p>
        </c:rich>
      </c:tx>
      <c:layout/>
      <c:overlay val="0"/>
    </c:title>
    <c:autoTitleDeleted val="0"/>
    <c:plotArea>
      <c:barChart>
        <c:barDir val="col"/>
        <c:grouping val="clustered"/>
        <c:ser>
          <c:idx val="0"/>
          <c:order val="0"/>
          <c:tx>
            <c:strRef>
              <c:f>Sheet1!$B$1</c:f>
              <c:strCache>
                <c:ptCount val="1"/>
                <c:pt idx="0">
                  <c:v>MAE</c:v>
                </c:pt>
              </c:strCache>
            </c:strRef>
          </c:tx>
          <c:dPt>
            <c:idx val="0"/>
            <c:spPr>
              <a:solidFill>
                <a:srgbClr val="5F6E73"/>
              </a:solidFill>
            </c:spPr>
          </c:dPt>
          <c:dPt>
            <c:idx val="1"/>
            <c:spPr>
              <a:solidFill>
                <a:srgbClr val="0E7C86"/>
              </a:solidFill>
            </c:spPr>
          </c:dPt>
          <c:cat>
            <c:strRef>
              <c:f>Sheet1!$A$2:$A$3</c:f>
              <c:strCache>
                <c:ptCount val="2"/>
                <c:pt idx="0">
                  <c:v>Baseline</c:v>
                </c:pt>
                <c:pt idx="1">
                  <c:v>Our model</c:v>
                </c:pt>
              </c:strCache>
            </c:strRef>
          </c:cat>
          <c:val>
            <c:numRef>
              <c:f>Sheet1!$B$2:$B$3</c:f>
              <c:numCache>
                <c:formatCode>General</c:formatCode>
                <c:ptCount val="2"/>
                <c:pt idx="0">
                  <c:v>38.4</c:v>
                </c:pt>
                <c:pt idx="1">
                  <c:v>3.62</c:v>
                </c:pt>
              </c:numCache>
            </c:numRef>
          </c:val>
        </c:ser>
        <c:dLbls>
          <c:numFmt formatCode="0.0&quot; kWh&quot;" sourceLinked="0"/>
          <c:txPr>
            <a:bodyPr/>
            <a:lstStyle/>
            <a:p>
              <a:pPr>
                <a:defRPr sz="1300" b="1">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EDB"/>
            </a:solidFill>
          </a:ln>
        </c:spPr>
        <c:txPr>
          <a:bodyPr/>
          <a:lstStyle/>
          <a:p>
            <a:pPr>
              <a:defRPr sz="1200">
                <a:latin typeface="Calibri"/>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min] Good [morning/afternoon]. We built Cool Roofing Intelligence: a system that turns a cool-roofing company's historical installation records into estimates a sales representative can use before the first quote: what it will cost, how much cooler the roof gets, how many electricity units are saved, and how the customer is likely to feel afterwards. Everything you will see today comes from our saved evaluation reports and the running application, including the limitations.</a:t>
            </a:r>
          </a:p>
          <a:p>
            <a:r>
              <a:t>Takeaway: predictive, explainable and honest decision support for cooler buildings.</a:t>
            </a:r>
          </a:p>
          <a:p>
            <a:r>
              <a:t>Transition: let me start with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[~0.75 min] A customer walking in asks four things. How much will it cost? How much cooler will my roof get? How much electricity will I save each month? And will I be happy enough to recommend you? Today a sales rep answers these from experience. The company, however, has a valuable asset: records of thousands of past installations with the cost, the temperatures and electricity use before and after, and the customer's rating and referral. We have 2,500 of them. The opportunity is to learn from those records and give consistent, explained answers.</a:t>
            </a:r>
          </a:p>
          <a:p>
            <a:r>
              <a:t>Takeaway: the data to answer the questions already exists.</a:t>
            </a:r>
          </a:p>
          <a:p>
            <a:r>
              <a:t>Transition: here is the solution we built on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[~0.75 min] The product has three layers. The core, which is implemented and tested, answers the five required questions with six models, because customer rating is both a numeric prediction and a high-or-not classification. It starts with an audit and cleaning pipeline, because the raw data has problems. It compares every valid roofing option for the same building, explains each prediction, and produces a PDF proposal. The AI assistant is optional: it never calculates numbers itself, it only calls the same prediction service. The three items on the right are future ideas and are not built.</a:t>
            </a:r>
          </a:p>
          <a:p>
            <a:r>
              <a:t>Takeaway: a complete decision-support system, with a clear line between what exists and what is planned.</a:t>
            </a:r>
          </a:p>
          <a:p>
            <a:r>
              <a:t>Transition: all of it rests on the dataset, so let's look at that.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[~0.75 min] The dataset has 2,500 installation records and 15 columns: building profile (location, size, age), roofing details (existing roof, method, quality), cost, roof temperature and monthly electricity before and after, the customer rating from one to five, and whether the customer referred us. Cost is right-skewed and scales with building size. Roof temperature drops by about 2 to 13 degrees on valid records. Electricity savings are strongly tied to current usage; note the dashed line at zero, because some buildings used more electricity afterwards. Four input columns have 106 missing cells in total. About 36% of customers referred us, so referral is an imbalanced target.</a:t>
            </a:r>
          </a:p>
          <a:p>
            <a:r>
              <a:t>Takeaway: rich data with skewed targets and some gaps.</a:t>
            </a:r>
          </a:p>
          <a:p>
            <a:r>
              <a:t>Transition: and some values that should not be trusted.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Before modelling we audited every column. Two problems stood out. First, exactly 120 degrees appears as a roof temperature in 58 records, never anywhere near other readings, which would imply drops of plus or minus ninety degrees: that is confirmed invalid. Second, exactly zero kilowatt-hours appears 48 times while one to three kWh never occurs, and those rows are physically inconsistent. We treated them as placeholders. That is an inference, a strong one, but not a confirmed fact. We set invalid values to missing rather than guessing, and exclude a record only from the task that needs it. The result was measurable: electricity-savings error on the hold-out fell from 4.45 to 3.62 kWh. We also kept 167 buildings where electricity use went up, because those are real adverse outcomes, and deleting them would flatter the model. No record was deleted outright.</a:t>
            </a:r>
          </a:p>
          <a:p>
            <a:r>
              <a:t>Takeaway: cleaning decisions are documented, evidence-based and measurable.</a:t>
            </a:r>
          </a:p>
          <a:p>
            <a:r>
              <a:t>Transition: with clean data, we must also prevent leakage.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Two outcomes are derived: temperature drop is temperature before minus after, and electricity saved is units before minus after. The key design rule is that a model may only use facts known before installation. On the right, nine inputs are allowed: location, size, age, existing roof, the proposed method and quality, and three pre-installation measurements. Realised cost, the after-installation measurements, the customer's rating and the referral flag are forbidden, as is the building ID. This matters: for example, the referral rate is 61 percent for four-star-plus customers against 9 percent for one-to-two stars, so using the rating to predict referral would be pure leakage. For evaluation we fixed a hold-out of 500 buildings before any modelling. Tuning used five-fold cross-validation on the other 2,000. All preprocessing is fitted on training data only. Automated tests and independent controls, such as models trained on shuffled labels, confirm there is no leakage.</a:t>
            </a:r>
          </a:p>
          <a:p>
            <a:r>
              <a:t>Takeaway: the evaluation answers 'how well will this work on a new building?'.</a:t>
            </a:r>
          </a:p>
          <a:p>
            <a:r>
              <a:t>Transition: here is the system that implements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 pipeline flows left to right. The raw CSV is read-only; the audit and cleaning step produces a cleaned dataset and an audit trail; a feature contract and shared preprocessing pipelines feed training and evaluation, which saves six model files plus metadata. A FastAPI service loads the models once and serves prediction, option comparison, Shapley-value explanations, a payback calculator and PDF proposals. The React and TypeScript front end calls that API. The optional assistant also goes through the API: the language model can only call validated tools, so it never produces official numbers. Quality gates: 153 backend tests and 22 frontend tests including accessibility checks, a clean type check and production build.</a:t>
            </a:r>
          </a:p>
          <a:p>
            <a:r>
              <a:t>Takeaway: one shared feature contract keeps training and serving consistent.</a:t>
            </a:r>
          </a:p>
          <a:p>
            <a:r>
              <a:t>Transition: now the models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There are five prediction tasks but six trained models, because the rating task has two parts: a regression for the one-to-five rating, scored by mean absolute error, and a classifier for 'high rating', scored by accuracy. Regression predicts a number, such as rupees or degrees; classification predicts a category or probability, such as will the customer refer. Note that the best cost model is not the fanciest one: a log-linear ridge regression beat gradient boosting because cost behaves like size times a rate. The two LightGBM savings and cooling models predict a fraction and multiply it back, which suits how those outcomes scale. Each model is compared with a baseline and tuned with cross-validation only.</a:t>
            </a:r>
          </a:p>
          <a:p>
            <a:r>
              <a:t>Takeaway: we chose models by validation evidence, not sophistication.</a:t>
            </a:r>
          </a:p>
          <a:p>
            <a:r>
              <a:t>Transition: how do we measure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A quick guide to the metrics. MAE is the average size of the miss, in the unit of the thing we predict. RMSE also measures error but squares it first, so large misses count more. For yes-or-no tasks, accuracy is the share of correct answers, but it can be misleading when classes are imbalanced: always predicting 'no referral' is right 63 percent of the time. F1 balances precision, how many flagged customers truly are, with recall, how many true cases we catch. Our protocol: the 500-building hold-out was fixed before modelling and scored once. Baselines were declared before looking at it. We call a model 'better' only if a paired bootstrap interval of the improvement excludes zero. An independent review also rebuilt every number from the saved models and replicated the whole selection on a hold-out that exploration had never touched.</a:t>
            </a:r>
          </a:p>
          <a:p>
            <a:r>
              <a:t>Takeaway: results are honest and statistically checked.</a:t>
            </a:r>
          </a:p>
          <a:p>
            <a:r>
              <a:t>Transition: first, the three regression results.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For the three regression tasks, each chart compares the baseline, which just predicts the training average, with our selected model, in the task's own unit. Cost: the typical miss falls from ₹637,024 to ₹25,299, about 25 times smaller. Cooling: from 1.80 to 0.41 degrees Celsius. Electricity saved: from 38.4 to 3.62 kWh a month. In all three, the paired bootstrap interval of the improvement is far above zero. R-squared is 0.998, 0.948 and 0.987. An ablation shows these come from legitimate inputs: remove building size and the cost R-squared collapses to 0.22; remove method and quality and cooling drops to 0.25. One caveat: our nominal 80 percent likely-range intervals actually cover 78%, 79% and 76%, so they are slightly narrow.</a:t>
            </a:r>
          </a:p>
          <a:p>
            <a:r>
              <a:t>Takeaway: strong, statistically supported accuracy where the data is structured.</a:t>
            </a:r>
          </a:p>
          <a:p>
            <a:r>
              <a:t>Transition: the human-outcome tasks are harder.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These two tasks depend on what happens after installation, so they are harder at quote time. For ratings, mean error is 0.77 stars against 0.92 for the baseline, a significant gain. For high rating, defined as four stars or more, which is our assumption, accuracy is 0.688 against 0.576 for the majority class, also significant, and the AUC is 0.76. But the F1 of 0.61 is not distinguishable from simply saying everyone will rate highly. Referral is the weakest. At its best-F1 cut-off the model catches most referrers, recall 0.86, but flags many people wrongly. F1 is 0.57, statistically indistinguishable from predicting everyone refers at 0.54, and accuracy 0.512 is significantly worse than the majority-class 0.626. The AUC of 0.66 shows a real but weak ranking signal. Even knowing the realised savings would only reach 0.68 AUC, so the information mostly isn't in the data. We use it to rank follow-ups, never to promise.</a:t>
            </a:r>
          </a:p>
          <a:p>
            <a:r>
              <a:t>Takeaway: being transparent about weak results is part of the engineering.</a:t>
            </a:r>
          </a:p>
          <a:p>
            <a:r>
              <a:t>Transition: what actually drives the strong results?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On the left is global feature importance from the hold-out set, meaning how much accuracy drops when an input is shuffled. Building size dominates cost; the roofing method and quality dominate cooling; current electricity use and AC count dominate savings; AC count and the method matter most for ratings and referrals. On the right, we ask the model what happens on concrete roofs, the only roofs that accept all five methods, if every building used each method in turn. Coated options are consistently strongest on cooling, savings and predicted satisfaction, but there is no single best method for everyone, and roof type limits what can be installed. Basic coating is cheapest but weakest. These are associations from past installations, not proof of cause. Also, at a plausible electricity price the savings alone would take very long to repay the cost, so the business case rests on comfort and benefits the data doesn't measure.</a:t>
            </a:r>
          </a:p>
          <a:p>
            <a:r>
              <a:t>Takeaway: explanations are specific, computed, and carefully worded.</a:t>
            </a:r>
          </a:p>
          <a:p>
            <a:r>
              <a:t>Transition: and here is how it looks in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These are real screenshots from the running app. Top left, the prediction workspace: the rep enters a few facts and gets cost, cooling, electricity savings, rating and referral, each with a likely range and a reliability flag, plus a 'why this estimate' explanation and an optional payback calculator that never assumes a tariff. Top right, the comparison page ranks every valid method and quality combination for the same building, with adjustable priorities and a transparent score. Below: the model performance page with baselines and confidence intervals, the PDF proposal page, and the optional AI assistant, which answered live through Gemini by calling the same prediction tools. The Claude integration is built, but we could not live-test it because that account has no credit.</a:t>
            </a:r>
          </a:p>
          <a:p>
            <a:r>
              <a:t>Takeaway: this is working software, not a mock-up.</a:t>
            </a:r>
          </a:p>
          <a:p>
            <a:r>
              <a:t>Transition: finally, value and limits.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[~0.75 min] For the business, the product gives a consistent first estimate in well under a second, lets a rep compare fifteen option combinations for the same building, explains each prediction, makes every assumption visible, and produces a proposal PDF. We are equally clear about limits. Predictions are estimates, not guarantees. The zero-kilowatt-hour treatment is an inference. Rating and referral models are weak. The high-rating threshold is our assumption. Method effects are associations from observational data, there is no time or location field to test drift, and the Claude integration has not been live-tested. The roadmap on the right is future work only: a digital-twin simulator, a carbon-savings tracker and geo-climate intelligence are not built. The most valuable next step is validating against newly measured installations.</a:t>
            </a:r>
          </a:p>
          <a:p>
            <a:r>
              <a:t>Takeaway: real value, bounded claims.</a:t>
            </a:r>
          </a:p>
          <a:p>
            <a:r>
              <a:t>Transition: to close.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min] To close. We built a complete system: a cleaned and audited dataset, six models for five tasks, honest hold-out evaluation with baselines and significance tests, explanations, an option-comparison engine, PDF proposals and an optional assistant. The evaluation supports strong predictions of cost, cooling and electricity savings, and modest but real signal for ratings, while referrals remain a ranking aid only. Our strongest contribution may be the discipline: finding the hidden placeholders, preventing leakage, and reporting weak results plainly. The next step is validating on new, measured installations. Thank you; we're happy to take questions.</a:t>
            </a:r>
          </a:p>
          <a:p>
            <a:r>
              <a:t>Takeaway: trustworthy, explainable decisions from historical roofing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937760" cy="6858000"/>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88720" y="2926080"/>
            <a:ext cx="2560320" cy="2377440"/>
          </a:xfrm>
          <a:prstGeom prst="roundRect">
            <a:avLst>
              <a:gd name="adj" fmla="val 2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960120" y="1691640"/>
            <a:ext cx="3017520" cy="1280160"/>
          </a:xfrm>
          <a:prstGeom prst="triangl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600200" y="3749039"/>
            <a:ext cx="502920" cy="685800"/>
          </a:xfrm>
          <a:prstGeom prst="roundRect">
            <a:avLst>
              <a:gd name="adj" fmla="val 4000"/>
            </a:avLst>
          </a:prstGeom>
          <a:solidFill>
            <a:srgbClr val="B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377440" y="3749039"/>
            <a:ext cx="502920" cy="685800"/>
          </a:xfrm>
          <a:prstGeom prst="roundRect">
            <a:avLst>
              <a:gd name="adj" fmla="val 4000"/>
            </a:avLst>
          </a:prstGeom>
          <a:solidFill>
            <a:srgbClr val="B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154680" y="3749039"/>
            <a:ext cx="502920" cy="685800"/>
          </a:xfrm>
          <a:prstGeom prst="roundRect">
            <a:avLst>
              <a:gd name="adj" fmla="val 4000"/>
            </a:avLst>
          </a:prstGeom>
          <a:solidFill>
            <a:srgbClr val="B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566160" y="640080"/>
            <a:ext cx="868680" cy="86868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0288" y="1005839"/>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397456" y="1471376"/>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931920" y="1664207"/>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466383" y="1471376"/>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273552" y="1005839"/>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66383" y="540303"/>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931920" y="347471"/>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97456" y="540303"/>
            <a:ext cx="128016" cy="12801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5852160"/>
            <a:ext cx="4114800" cy="457200"/>
          </a:xfrm>
          <a:prstGeom prst="rect">
            <a:avLst/>
          </a:prstGeom>
          <a:noFill/>
        </p:spPr>
        <p:txBody>
          <a:bodyPr wrap="square" lIns="45720" rIns="45720" tIns="27432" bIns="27432" anchor="t">
            <a:spAutoFit/>
          </a:bodyPr>
          <a:lstStyle/>
          <a:p>
            <a:pPr algn="l">
              <a:spcAft>
                <a:spcPts val="0"/>
              </a:spcAft>
            </a:pPr>
            <a:r>
              <a:rPr sz="1500" b="1">
                <a:solidFill>
                  <a:srgbClr val="BBD3CC"/>
                </a:solidFill>
                <a:latin typeface="Calibri"/>
              </a:rPr>
              <a:t>Cooler roofs · lower bills · clearer quotes</a:t>
            </a:r>
          </a:p>
        </p:txBody>
      </p:sp>
      <p:sp>
        <p:nvSpPr>
          <p:cNvPr id="18" name="TextBox 17"/>
          <p:cNvSpPr txBox="1"/>
          <p:nvPr/>
        </p:nvSpPr>
        <p:spPr>
          <a:xfrm>
            <a:off x="5486400" y="1554480"/>
            <a:ext cx="6217920" cy="457200"/>
          </a:xfrm>
          <a:prstGeom prst="rect">
            <a:avLst/>
          </a:prstGeom>
          <a:noFill/>
        </p:spPr>
        <p:txBody>
          <a:bodyPr wrap="square" lIns="45720" rIns="45720" tIns="27432" bIns="27432" anchor="t">
            <a:spAutoFit/>
          </a:bodyPr>
          <a:lstStyle/>
          <a:p>
            <a:pPr algn="l">
              <a:spcAft>
                <a:spcPts val="0"/>
              </a:spcAft>
            </a:pPr>
            <a:r>
              <a:rPr sz="1400" b="1">
                <a:solidFill>
                  <a:srgbClr val="0E7C86"/>
                </a:solidFill>
                <a:latin typeface="Calibri"/>
              </a:rPr>
              <a:t>HACKATHON PROJECT</a:t>
            </a:r>
          </a:p>
        </p:txBody>
      </p:sp>
      <p:sp>
        <p:nvSpPr>
          <p:cNvPr id="19" name="TextBox 18"/>
          <p:cNvSpPr txBox="1"/>
          <p:nvPr/>
        </p:nvSpPr>
        <p:spPr>
          <a:xfrm>
            <a:off x="5486400" y="1965960"/>
            <a:ext cx="6309360" cy="1737360"/>
          </a:xfrm>
          <a:prstGeom prst="rect">
            <a:avLst/>
          </a:prstGeom>
          <a:noFill/>
        </p:spPr>
        <p:txBody>
          <a:bodyPr wrap="square" lIns="45720" rIns="45720" tIns="27432" bIns="27432" anchor="t">
            <a:spAutoFit/>
          </a:bodyPr>
          <a:lstStyle/>
          <a:p>
            <a:pPr algn="l">
              <a:spcAft>
                <a:spcPts val="0"/>
              </a:spcAft>
            </a:pPr>
            <a:r>
              <a:rPr sz="5000" b="1">
                <a:solidFill>
                  <a:srgbClr val="0F4C3A"/>
                </a:solidFill>
                <a:latin typeface="Calibri"/>
              </a:rPr>
              <a:t>Cool Roofing</a:t>
            </a:r>
          </a:p>
          <a:p>
            <a:pPr algn="l">
              <a:spcAft>
                <a:spcPts val="0"/>
              </a:spcAft>
            </a:pPr>
            <a:r>
              <a:rPr sz="5000" b="1">
                <a:solidFill>
                  <a:srgbClr val="0F4C3A"/>
                </a:solidFill>
                <a:latin typeface="Calibri"/>
              </a:rPr>
              <a:t>Intelligence</a:t>
            </a:r>
          </a:p>
        </p:txBody>
      </p:sp>
      <p:sp>
        <p:nvSpPr>
          <p:cNvPr id="20" name="TextBox 19"/>
          <p:cNvSpPr txBox="1"/>
          <p:nvPr/>
        </p:nvSpPr>
        <p:spPr>
          <a:xfrm>
            <a:off x="5486400" y="3794760"/>
            <a:ext cx="6126480" cy="914400"/>
          </a:xfrm>
          <a:prstGeom prst="rect">
            <a:avLst/>
          </a:prstGeom>
          <a:noFill/>
        </p:spPr>
        <p:txBody>
          <a:bodyPr wrap="square" lIns="45720" rIns="45720" tIns="27432" bIns="27432" anchor="t">
            <a:spAutoFit/>
          </a:bodyPr>
          <a:lstStyle/>
          <a:p>
            <a:pPr algn="l">
              <a:spcAft>
                <a:spcPts val="0"/>
              </a:spcAft>
            </a:pPr>
            <a:r>
              <a:rPr sz="2200" b="0">
                <a:solidFill>
                  <a:srgbClr val="1F2A2E"/>
                </a:solidFill>
                <a:latin typeface="Calibri"/>
              </a:rPr>
              <a:t>Cost, comfort and energy-savings predictions before the first quote</a:t>
            </a:r>
          </a:p>
        </p:txBody>
      </p:sp>
      <p:sp>
        <p:nvSpPr>
          <p:cNvPr id="21" name="Rectangle 20"/>
          <p:cNvSpPr/>
          <p:nvPr/>
        </p:nvSpPr>
        <p:spPr>
          <a:xfrm>
            <a:off x="5532120" y="4892040"/>
            <a:ext cx="6126480" cy="3657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0" y="5029200"/>
            <a:ext cx="6217920" cy="914400"/>
          </a:xfrm>
          <a:prstGeom prst="rect">
            <a:avLst/>
          </a:prstGeom>
          <a:noFill/>
        </p:spPr>
        <p:txBody>
          <a:bodyPr wrap="square" lIns="45720" rIns="45720" tIns="27432" bIns="27432" anchor="t">
            <a:spAutoFit/>
          </a:bodyPr>
          <a:lstStyle/>
          <a:p>
            <a:pPr algn="l">
              <a:spcAft>
                <a:spcPts val="200"/>
              </a:spcAft>
            </a:pPr>
            <a:r>
              <a:rPr sz="1600" b="0">
                <a:solidFill>
                  <a:srgbClr val="5F6E73"/>
                </a:solidFill>
                <a:latin typeface="Calibri"/>
              </a:rPr>
              <a:t>Learned from 2,500 real installations</a:t>
            </a:r>
          </a:p>
          <a:p>
            <a:pPr algn="l">
              <a:spcAft>
                <a:spcPts val="200"/>
              </a:spcAft>
            </a:pPr>
            <a:r>
              <a:rPr sz="1600" b="0">
                <a:solidFill>
                  <a:srgbClr val="5F6E73"/>
                </a:solidFill>
                <a:latin typeface="Calibri"/>
              </a:rPr>
              <a:t>5 prediction tasks · 6 models · explainable · tested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THE PROBLEM</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A roofing quote still rests on four open questions</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cool_roofing_problem.md; 2,500 historical installation records</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2 / 15</a:t>
            </a:r>
          </a:p>
        </p:txBody>
      </p:sp>
      <p:sp>
        <p:nvSpPr>
          <p:cNvPr id="7" name="Rounded Rectangle 6"/>
          <p:cNvSpPr/>
          <p:nvPr/>
        </p:nvSpPr>
        <p:spPr>
          <a:xfrm>
            <a:off x="548640" y="1508760"/>
            <a:ext cx="2651760" cy="23774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08760"/>
            <a:ext cx="2651760" cy="91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783080"/>
            <a:ext cx="2377440" cy="914400"/>
          </a:xfrm>
          <a:prstGeom prst="rect">
            <a:avLst/>
          </a:prstGeom>
          <a:noFill/>
        </p:spPr>
        <p:txBody>
          <a:bodyPr wrap="square" lIns="45720" rIns="45720" tIns="27432" bIns="27432" anchor="t">
            <a:spAutoFit/>
          </a:bodyPr>
          <a:lstStyle/>
          <a:p>
            <a:pPr algn="l">
              <a:spcAft>
                <a:spcPts val="0"/>
              </a:spcAft>
            </a:pPr>
            <a:r>
              <a:rPr sz="2000" b="1">
                <a:solidFill>
                  <a:srgbClr val="0F4C3A"/>
                </a:solidFill>
                <a:latin typeface="Calibri"/>
              </a:rPr>
              <a:t>How much will it cost?</a:t>
            </a:r>
          </a:p>
        </p:txBody>
      </p:sp>
      <p:sp>
        <p:nvSpPr>
          <p:cNvPr id="10" name="TextBox 9"/>
          <p:cNvSpPr txBox="1"/>
          <p:nvPr/>
        </p:nvSpPr>
        <p:spPr>
          <a:xfrm>
            <a:off x="685800" y="2743200"/>
            <a:ext cx="2377440" cy="1097280"/>
          </a:xfrm>
          <a:prstGeom prst="rect">
            <a:avLst/>
          </a:prstGeom>
          <a:noFill/>
        </p:spPr>
        <p:txBody>
          <a:bodyPr wrap="square" lIns="45720" rIns="45720" tIns="27432" bIns="27432" anchor="t">
            <a:spAutoFit/>
          </a:bodyPr>
          <a:lstStyle/>
          <a:p>
            <a:pPr algn="l">
              <a:spcAft>
                <a:spcPts val="0"/>
              </a:spcAft>
            </a:pPr>
            <a:r>
              <a:rPr sz="1500" b="0">
                <a:solidFill>
                  <a:srgbClr val="1F2A2E"/>
                </a:solidFill>
                <a:latin typeface="Calibri"/>
              </a:rPr>
              <a:t>Installation cost depends on size, method, quality and roof.</a:t>
            </a:r>
          </a:p>
        </p:txBody>
      </p:sp>
      <p:sp>
        <p:nvSpPr>
          <p:cNvPr id="11" name="Rounded Rectangle 10"/>
          <p:cNvSpPr/>
          <p:nvPr/>
        </p:nvSpPr>
        <p:spPr>
          <a:xfrm>
            <a:off x="3364992" y="1508760"/>
            <a:ext cx="2651760" cy="23774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64992" y="1508760"/>
            <a:ext cx="2651760" cy="9144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2152" y="1783080"/>
            <a:ext cx="2377440" cy="914400"/>
          </a:xfrm>
          <a:prstGeom prst="rect">
            <a:avLst/>
          </a:prstGeom>
          <a:noFill/>
        </p:spPr>
        <p:txBody>
          <a:bodyPr wrap="square" lIns="45720" rIns="45720" tIns="27432" bIns="27432" anchor="t">
            <a:spAutoFit/>
          </a:bodyPr>
          <a:lstStyle/>
          <a:p>
            <a:pPr algn="l">
              <a:spcAft>
                <a:spcPts val="0"/>
              </a:spcAft>
            </a:pPr>
            <a:r>
              <a:rPr sz="2000" b="1">
                <a:solidFill>
                  <a:srgbClr val="0F4C3A"/>
                </a:solidFill>
                <a:latin typeface="Calibri"/>
              </a:rPr>
              <a:t>How much cooler will the roof get?</a:t>
            </a:r>
          </a:p>
        </p:txBody>
      </p:sp>
      <p:sp>
        <p:nvSpPr>
          <p:cNvPr id="14" name="TextBox 13"/>
          <p:cNvSpPr txBox="1"/>
          <p:nvPr/>
        </p:nvSpPr>
        <p:spPr>
          <a:xfrm>
            <a:off x="3502152" y="2743200"/>
            <a:ext cx="2377440" cy="1097280"/>
          </a:xfrm>
          <a:prstGeom prst="rect">
            <a:avLst/>
          </a:prstGeom>
          <a:noFill/>
        </p:spPr>
        <p:txBody>
          <a:bodyPr wrap="square" lIns="45720" rIns="45720" tIns="27432" bIns="27432" anchor="t">
            <a:spAutoFit/>
          </a:bodyPr>
          <a:lstStyle/>
          <a:p>
            <a:pPr algn="l">
              <a:spcAft>
                <a:spcPts val="0"/>
              </a:spcAft>
            </a:pPr>
            <a:r>
              <a:rPr sz="1500" b="0">
                <a:solidFill>
                  <a:srgbClr val="1F2A2E"/>
                </a:solidFill>
                <a:latin typeface="Calibri"/>
              </a:rPr>
              <a:t>Cooling varies by method and quality, not just by price.</a:t>
            </a:r>
          </a:p>
        </p:txBody>
      </p:sp>
      <p:sp>
        <p:nvSpPr>
          <p:cNvPr id="15" name="Rounded Rectangle 14"/>
          <p:cNvSpPr/>
          <p:nvPr/>
        </p:nvSpPr>
        <p:spPr>
          <a:xfrm>
            <a:off x="6181344" y="1508760"/>
            <a:ext cx="2651760" cy="23774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508760"/>
            <a:ext cx="2651760" cy="91440"/>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1783080"/>
            <a:ext cx="2377440" cy="914400"/>
          </a:xfrm>
          <a:prstGeom prst="rect">
            <a:avLst/>
          </a:prstGeom>
          <a:noFill/>
        </p:spPr>
        <p:txBody>
          <a:bodyPr wrap="square" lIns="45720" rIns="45720" tIns="27432" bIns="27432" anchor="t">
            <a:spAutoFit/>
          </a:bodyPr>
          <a:lstStyle/>
          <a:p>
            <a:pPr algn="l">
              <a:spcAft>
                <a:spcPts val="0"/>
              </a:spcAft>
            </a:pPr>
            <a:r>
              <a:rPr sz="2000" b="1">
                <a:solidFill>
                  <a:srgbClr val="0F4C3A"/>
                </a:solidFill>
                <a:latin typeface="Calibri"/>
              </a:rPr>
              <a:t>How many kWh will we save?</a:t>
            </a:r>
          </a:p>
        </p:txBody>
      </p:sp>
      <p:sp>
        <p:nvSpPr>
          <p:cNvPr id="18" name="TextBox 17"/>
          <p:cNvSpPr txBox="1"/>
          <p:nvPr/>
        </p:nvSpPr>
        <p:spPr>
          <a:xfrm>
            <a:off x="6318504" y="2743200"/>
            <a:ext cx="2377440" cy="1097280"/>
          </a:xfrm>
          <a:prstGeom prst="rect">
            <a:avLst/>
          </a:prstGeom>
          <a:noFill/>
        </p:spPr>
        <p:txBody>
          <a:bodyPr wrap="square" lIns="45720" rIns="45720" tIns="27432" bIns="27432" anchor="t">
            <a:spAutoFit/>
          </a:bodyPr>
          <a:lstStyle/>
          <a:p>
            <a:pPr algn="l">
              <a:spcAft>
                <a:spcPts val="0"/>
              </a:spcAft>
            </a:pPr>
            <a:r>
              <a:rPr sz="1500" b="0">
                <a:solidFill>
                  <a:srgbClr val="1F2A2E"/>
                </a:solidFill>
                <a:latin typeface="Calibri"/>
              </a:rPr>
              <a:t>Savings depend on current usage and AC load, and can be near zero.</a:t>
            </a:r>
          </a:p>
        </p:txBody>
      </p:sp>
      <p:sp>
        <p:nvSpPr>
          <p:cNvPr id="19" name="Rounded Rectangle 18"/>
          <p:cNvSpPr/>
          <p:nvPr/>
        </p:nvSpPr>
        <p:spPr>
          <a:xfrm>
            <a:off x="8997696" y="1508760"/>
            <a:ext cx="2651760" cy="23774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97696" y="1508760"/>
            <a:ext cx="2651760" cy="91440"/>
          </a:xfrm>
          <a:prstGeom prst="rect">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34856" y="1783080"/>
            <a:ext cx="2377440" cy="914400"/>
          </a:xfrm>
          <a:prstGeom prst="rect">
            <a:avLst/>
          </a:prstGeom>
          <a:noFill/>
        </p:spPr>
        <p:txBody>
          <a:bodyPr wrap="square" lIns="45720" rIns="45720" tIns="27432" bIns="27432" anchor="t">
            <a:spAutoFit/>
          </a:bodyPr>
          <a:lstStyle/>
          <a:p>
            <a:pPr algn="l">
              <a:spcAft>
                <a:spcPts val="0"/>
              </a:spcAft>
            </a:pPr>
            <a:r>
              <a:rPr sz="2000" b="1">
                <a:solidFill>
                  <a:srgbClr val="0F4C3A"/>
                </a:solidFill>
                <a:latin typeface="Calibri"/>
              </a:rPr>
              <a:t>Will they rate us highly and refer us?</a:t>
            </a:r>
          </a:p>
        </p:txBody>
      </p:sp>
      <p:sp>
        <p:nvSpPr>
          <p:cNvPr id="22" name="TextBox 21"/>
          <p:cNvSpPr txBox="1"/>
          <p:nvPr/>
        </p:nvSpPr>
        <p:spPr>
          <a:xfrm>
            <a:off x="9134856" y="2743200"/>
            <a:ext cx="2377440" cy="1097280"/>
          </a:xfrm>
          <a:prstGeom prst="rect">
            <a:avLst/>
          </a:prstGeom>
          <a:noFill/>
        </p:spPr>
        <p:txBody>
          <a:bodyPr wrap="square" lIns="45720" rIns="45720" tIns="27432" bIns="27432" anchor="t">
            <a:spAutoFit/>
          </a:bodyPr>
          <a:lstStyle/>
          <a:p>
            <a:pPr algn="l">
              <a:spcAft>
                <a:spcPts val="0"/>
              </a:spcAft>
            </a:pPr>
            <a:r>
              <a:rPr sz="1500" b="0">
                <a:solidFill>
                  <a:srgbClr val="1F2A2E"/>
                </a:solidFill>
                <a:latin typeface="Calibri"/>
              </a:rPr>
              <a:t>Satisfaction and referrals are driven by experience after the work.</a:t>
            </a:r>
          </a:p>
        </p:txBody>
      </p:sp>
      <p:sp>
        <p:nvSpPr>
          <p:cNvPr id="23" name="Down Arrow 22"/>
          <p:cNvSpPr/>
          <p:nvPr/>
        </p:nvSpPr>
        <p:spPr>
          <a:xfrm>
            <a:off x="5669280" y="4023360"/>
            <a:ext cx="822960" cy="548640"/>
          </a:xfrm>
          <a:prstGeom prst="downArrow">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4709160"/>
            <a:ext cx="11064240" cy="150876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846320"/>
            <a:ext cx="10515600" cy="457200"/>
          </a:xfrm>
          <a:prstGeom prst="rect">
            <a:avLst/>
          </a:prstGeom>
          <a:noFill/>
        </p:spPr>
        <p:txBody>
          <a:bodyPr wrap="square" lIns="45720" rIns="45720" tIns="27432" bIns="27432" anchor="t">
            <a:spAutoFit/>
          </a:bodyPr>
          <a:lstStyle/>
          <a:p>
            <a:pPr algn="l">
              <a:spcAft>
                <a:spcPts val="0"/>
              </a:spcAft>
            </a:pPr>
            <a:r>
              <a:rPr sz="1600" b="1">
                <a:solidFill>
                  <a:srgbClr val="E8A33D"/>
                </a:solidFill>
                <a:latin typeface="Calibri"/>
              </a:rPr>
              <a:t>The opportunity</a:t>
            </a:r>
          </a:p>
        </p:txBody>
      </p:sp>
      <p:sp>
        <p:nvSpPr>
          <p:cNvPr id="26" name="TextBox 25"/>
          <p:cNvSpPr txBox="1"/>
          <p:nvPr/>
        </p:nvSpPr>
        <p:spPr>
          <a:xfrm>
            <a:off x="822960" y="5257800"/>
            <a:ext cx="10515600" cy="914400"/>
          </a:xfrm>
          <a:prstGeom prst="rect">
            <a:avLst/>
          </a:prstGeom>
          <a:noFill/>
        </p:spPr>
        <p:txBody>
          <a:bodyPr wrap="square" lIns="45720" rIns="45720" tIns="27432" bIns="27432" anchor="t">
            <a:spAutoFit/>
          </a:bodyPr>
          <a:lstStyle/>
          <a:p>
            <a:pPr algn="l">
              <a:spcAft>
                <a:spcPts val="0"/>
              </a:spcAft>
            </a:pPr>
            <a:r>
              <a:rPr sz="1800" b="0">
                <a:solidFill>
                  <a:srgbClr val="FFFFFF"/>
                </a:solidFill>
                <a:latin typeface="Calibri"/>
              </a:rPr>
              <a:t>2,500 past installations record cost, roof temperature and electricity use before and after, plus the customer's rating and referral. That is enough to learn from, if the data can be trusted and the answers are explained honestly.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THE SOLUTION</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One system that predicts, compares, explains and proposes</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Status taken from the repository: implemented and tested vs. optional vs. future</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3 / 15</a:t>
            </a:r>
          </a:p>
        </p:txBody>
      </p:sp>
      <p:sp>
        <p:nvSpPr>
          <p:cNvPr id="7" name="Rounded Rectangle 6"/>
          <p:cNvSpPr/>
          <p:nvPr/>
        </p:nvSpPr>
        <p:spPr>
          <a:xfrm>
            <a:off x="548640" y="1508760"/>
            <a:ext cx="3566160" cy="47548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645920"/>
            <a:ext cx="3291840" cy="384048"/>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FFFFFF"/>
                </a:solidFill>
                <a:latin typeface="Calibri"/>
              </a:rPr>
              <a:t>CORE: implemented and tested</a:t>
            </a:r>
          </a:p>
        </p:txBody>
      </p:sp>
      <p:sp>
        <p:nvSpPr>
          <p:cNvPr id="9" name="TextBox 8"/>
          <p:cNvSpPr txBox="1"/>
          <p:nvPr/>
        </p:nvSpPr>
        <p:spPr>
          <a:xfrm>
            <a:off x="731520" y="2194560"/>
            <a:ext cx="3246120" cy="4023360"/>
          </a:xfrm>
          <a:prstGeom prst="rect">
            <a:avLst/>
          </a:prstGeom>
          <a:noFill/>
        </p:spPr>
        <p:txBody>
          <a:bodyPr wrap="square" lIns="45720" rIns="45720" tIns="27432" bIns="27432" anchor="t">
            <a:spAutoFit/>
          </a:bodyPr>
          <a:lstStyle/>
          <a:p>
            <a:pPr algn="l">
              <a:spcAft>
                <a:spcPts val="800"/>
              </a:spcAft>
            </a:pPr>
            <a:r>
              <a:rPr sz="1700" b="1">
                <a:solidFill>
                  <a:srgbClr val="0F4C3A"/>
                </a:solidFill>
                <a:latin typeface="Calibri"/>
              </a:rPr>
              <a:t>• </a:t>
            </a:r>
            <a:r>
              <a:rPr sz="1700" b="0">
                <a:solidFill>
                  <a:srgbClr val="1F2A2E"/>
                </a:solidFill>
                <a:latin typeface="Calibri"/>
              </a:rPr>
              <a:t>5 prediction tasks → 6 models</a:t>
            </a:r>
          </a:p>
          <a:p>
            <a:pPr algn="l">
              <a:spcAft>
                <a:spcPts val="800"/>
              </a:spcAft>
            </a:pPr>
            <a:r>
              <a:rPr sz="1700" b="1">
                <a:solidFill>
                  <a:srgbClr val="0F4C3A"/>
                </a:solidFill>
                <a:latin typeface="Calibri"/>
              </a:rPr>
              <a:t>• </a:t>
            </a:r>
            <a:r>
              <a:rPr sz="1700" b="0">
                <a:solidFill>
                  <a:srgbClr val="1F2A2E"/>
                </a:solidFill>
                <a:latin typeface="Calibri"/>
              </a:rPr>
              <a:t>Data audit and cleaning pipeline</a:t>
            </a:r>
          </a:p>
          <a:p>
            <a:pPr algn="l">
              <a:spcAft>
                <a:spcPts val="800"/>
              </a:spcAft>
            </a:pPr>
            <a:r>
              <a:rPr sz="1700" b="1">
                <a:solidFill>
                  <a:srgbClr val="0F4C3A"/>
                </a:solidFill>
                <a:latin typeface="Calibri"/>
              </a:rPr>
              <a:t>• </a:t>
            </a:r>
            <a:r>
              <a:rPr sz="1700" b="0">
                <a:solidFill>
                  <a:srgbClr val="1F2A2E"/>
                </a:solidFill>
                <a:latin typeface="Calibri"/>
              </a:rPr>
              <a:t>Hold-out evaluation vs baselines</a:t>
            </a:r>
          </a:p>
          <a:p>
            <a:pPr algn="l">
              <a:spcAft>
                <a:spcPts val="800"/>
              </a:spcAft>
            </a:pPr>
            <a:r>
              <a:rPr sz="1700" b="1">
                <a:solidFill>
                  <a:srgbClr val="0F4C3A"/>
                </a:solidFill>
                <a:latin typeface="Calibri"/>
              </a:rPr>
              <a:t>• </a:t>
            </a:r>
            <a:r>
              <a:rPr sz="1700" b="0">
                <a:solidFill>
                  <a:srgbClr val="1F2A2E"/>
                </a:solidFill>
                <a:latin typeface="Calibri"/>
              </a:rPr>
              <a:t>Roofing-option comparison engine</a:t>
            </a:r>
          </a:p>
          <a:p>
            <a:pPr algn="l">
              <a:spcAft>
                <a:spcPts val="800"/>
              </a:spcAft>
            </a:pPr>
            <a:r>
              <a:rPr sz="1700" b="1">
                <a:solidFill>
                  <a:srgbClr val="0F4C3A"/>
                </a:solidFill>
                <a:latin typeface="Calibri"/>
              </a:rPr>
              <a:t>• </a:t>
            </a:r>
            <a:r>
              <a:rPr sz="1700" b="0">
                <a:solidFill>
                  <a:srgbClr val="1F2A2E"/>
                </a:solidFill>
                <a:latin typeface="Calibri"/>
              </a:rPr>
              <a:t>Per-customer explanations</a:t>
            </a:r>
          </a:p>
          <a:p>
            <a:pPr algn="l">
              <a:spcAft>
                <a:spcPts val="800"/>
              </a:spcAft>
            </a:pPr>
            <a:r>
              <a:rPr sz="1700" b="1">
                <a:solidFill>
                  <a:srgbClr val="0F4C3A"/>
                </a:solidFill>
                <a:latin typeface="Calibri"/>
              </a:rPr>
              <a:t>• </a:t>
            </a:r>
            <a:r>
              <a:rPr sz="1700" b="0">
                <a:solidFill>
                  <a:srgbClr val="1F2A2E"/>
                </a:solidFill>
                <a:latin typeface="Calibri"/>
              </a:rPr>
              <a:t>Payback calculator (your tariff)</a:t>
            </a:r>
          </a:p>
          <a:p>
            <a:pPr algn="l">
              <a:spcAft>
                <a:spcPts val="800"/>
              </a:spcAft>
            </a:pPr>
            <a:r>
              <a:rPr sz="1700" b="1">
                <a:solidFill>
                  <a:srgbClr val="0F4C3A"/>
                </a:solidFill>
                <a:latin typeface="Calibri"/>
              </a:rPr>
              <a:t>• </a:t>
            </a:r>
            <a:r>
              <a:rPr sz="1700" b="0">
                <a:solidFill>
                  <a:srgbClr val="1F2A2E"/>
                </a:solidFill>
                <a:latin typeface="Calibri"/>
              </a:rPr>
              <a:t>PDF customer proposals</a:t>
            </a:r>
          </a:p>
          <a:p>
            <a:pPr algn="l">
              <a:spcAft>
                <a:spcPts val="800"/>
              </a:spcAft>
            </a:pPr>
            <a:r>
              <a:rPr sz="1700" b="1">
                <a:solidFill>
                  <a:srgbClr val="0F4C3A"/>
                </a:solidFill>
                <a:latin typeface="Calibri"/>
              </a:rPr>
              <a:t>• </a:t>
            </a:r>
            <a:r>
              <a:rPr sz="1700" b="0">
                <a:solidFill>
                  <a:srgbClr val="1F2A2E"/>
                </a:solidFill>
                <a:latin typeface="Calibri"/>
              </a:rPr>
              <a:t>React app + FastAPI service</a:t>
            </a:r>
          </a:p>
        </p:txBody>
      </p:sp>
      <p:sp>
        <p:nvSpPr>
          <p:cNvPr id="10" name="Rounded Rectangle 9"/>
          <p:cNvSpPr/>
          <p:nvPr/>
        </p:nvSpPr>
        <p:spPr>
          <a:xfrm>
            <a:off x="4297679" y="1508760"/>
            <a:ext cx="3566160" cy="47548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34840" y="1645920"/>
            <a:ext cx="3291840" cy="384048"/>
          </a:xfrm>
          <a:prstGeom prst="roundRect">
            <a:avLst>
              <a:gd name="adj" fmla="val 3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FFFFFF"/>
                </a:solidFill>
                <a:latin typeface="Calibri"/>
              </a:rPr>
              <a:t>OPTIONAL: implemented</a:t>
            </a:r>
          </a:p>
        </p:txBody>
      </p:sp>
      <p:sp>
        <p:nvSpPr>
          <p:cNvPr id="12" name="TextBox 11"/>
          <p:cNvSpPr txBox="1"/>
          <p:nvPr/>
        </p:nvSpPr>
        <p:spPr>
          <a:xfrm>
            <a:off x="4480559" y="2194560"/>
            <a:ext cx="3246120" cy="4023360"/>
          </a:xfrm>
          <a:prstGeom prst="rect">
            <a:avLst/>
          </a:prstGeom>
          <a:noFill/>
        </p:spPr>
        <p:txBody>
          <a:bodyPr wrap="square" lIns="45720" rIns="45720" tIns="27432" bIns="27432" anchor="t">
            <a:spAutoFit/>
          </a:bodyPr>
          <a:lstStyle/>
          <a:p>
            <a:pPr algn="l">
              <a:spcAft>
                <a:spcPts val="800"/>
              </a:spcAft>
            </a:pPr>
            <a:r>
              <a:rPr sz="1700" b="1">
                <a:solidFill>
                  <a:srgbClr val="0E7C86"/>
                </a:solidFill>
                <a:latin typeface="Calibri"/>
              </a:rPr>
              <a:t>• </a:t>
            </a:r>
            <a:r>
              <a:rPr sz="1700" b="0">
                <a:solidFill>
                  <a:srgbClr val="1F2A2E"/>
                </a:solidFill>
                <a:latin typeface="Calibri"/>
              </a:rPr>
              <a:t>AI sales assistant: built-in free mode, plus Gemini (live-tested)</a:t>
            </a:r>
          </a:p>
          <a:p>
            <a:pPr algn="l">
              <a:spcAft>
                <a:spcPts val="800"/>
              </a:spcAft>
            </a:pPr>
            <a:r>
              <a:rPr sz="1700" b="1">
                <a:solidFill>
                  <a:srgbClr val="0E7C86"/>
                </a:solidFill>
                <a:latin typeface="Calibri"/>
              </a:rPr>
              <a:t>• </a:t>
            </a:r>
            <a:r>
              <a:rPr sz="1700" b="0">
                <a:solidFill>
                  <a:srgbClr val="1F2A2E"/>
                </a:solidFill>
                <a:latin typeface="Calibri"/>
              </a:rPr>
              <a:t>Claude integration built, not live-tested (no credit)</a:t>
            </a:r>
          </a:p>
          <a:p>
            <a:pPr algn="l">
              <a:spcAft>
                <a:spcPts val="800"/>
              </a:spcAft>
            </a:pPr>
            <a:r>
              <a:rPr sz="1700" b="1">
                <a:solidFill>
                  <a:srgbClr val="0E7C86"/>
                </a:solidFill>
                <a:latin typeface="Calibri"/>
              </a:rPr>
              <a:t>• </a:t>
            </a:r>
            <a:r>
              <a:rPr sz="1700" b="0">
                <a:solidFill>
                  <a:srgbClr val="1F2A2E"/>
                </a:solidFill>
                <a:latin typeface="Calibri"/>
              </a:rPr>
              <a:t>Assistant only calls validated tools; it cannot invent predictions</a:t>
            </a:r>
          </a:p>
        </p:txBody>
      </p:sp>
      <p:sp>
        <p:nvSpPr>
          <p:cNvPr id="13" name="Rounded Rectangle 12"/>
          <p:cNvSpPr/>
          <p:nvPr/>
        </p:nvSpPr>
        <p:spPr>
          <a:xfrm>
            <a:off x="8046719" y="1508760"/>
            <a:ext cx="3566160" cy="4754880"/>
          </a:xfrm>
          <a:prstGeom prst="roundRect">
            <a:avLst>
              <a:gd name="adj" fmla="val 6000"/>
            </a:avLst>
          </a:prstGeom>
          <a:solidFill>
            <a:srgbClr val="F3F4F4"/>
          </a:solidFill>
          <a:ln w="15875">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83879" y="1645920"/>
            <a:ext cx="3291840" cy="384048"/>
          </a:xfrm>
          <a:prstGeom prst="roundRect">
            <a:avLst>
              <a:gd name="adj" fmla="val 30000"/>
            </a:avLst>
          </a:prstGeom>
          <a:solidFill>
            <a:srgbClr val="5F6E73"/>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FFFFFF"/>
                </a:solidFill>
                <a:latin typeface="Calibri"/>
              </a:rPr>
              <a:t>FUTURE: not built</a:t>
            </a:r>
          </a:p>
        </p:txBody>
      </p:sp>
      <p:sp>
        <p:nvSpPr>
          <p:cNvPr id="15" name="TextBox 14"/>
          <p:cNvSpPr txBox="1"/>
          <p:nvPr/>
        </p:nvSpPr>
        <p:spPr>
          <a:xfrm>
            <a:off x="8229599" y="2194560"/>
            <a:ext cx="3246120" cy="4023360"/>
          </a:xfrm>
          <a:prstGeom prst="rect">
            <a:avLst/>
          </a:prstGeom>
          <a:noFill/>
        </p:spPr>
        <p:txBody>
          <a:bodyPr wrap="square" lIns="45720" rIns="45720" tIns="27432" bIns="27432" anchor="t">
            <a:spAutoFit/>
          </a:bodyPr>
          <a:lstStyle/>
          <a:p>
            <a:pPr algn="l">
              <a:spcAft>
                <a:spcPts val="800"/>
              </a:spcAft>
            </a:pPr>
            <a:r>
              <a:rPr sz="1700" b="1">
                <a:solidFill>
                  <a:srgbClr val="5F6E73"/>
                </a:solidFill>
                <a:latin typeface="Calibri"/>
              </a:rPr>
              <a:t>• </a:t>
            </a:r>
            <a:r>
              <a:rPr sz="1700" b="0">
                <a:solidFill>
                  <a:srgbClr val="5F6E73"/>
                </a:solidFill>
                <a:latin typeface="Calibri"/>
              </a:rPr>
              <a:t>Digital-twin simulator</a:t>
            </a:r>
          </a:p>
          <a:p>
            <a:pPr algn="l">
              <a:spcAft>
                <a:spcPts val="800"/>
              </a:spcAft>
            </a:pPr>
            <a:r>
              <a:rPr sz="1700" b="1">
                <a:solidFill>
                  <a:srgbClr val="5F6E73"/>
                </a:solidFill>
                <a:latin typeface="Calibri"/>
              </a:rPr>
              <a:t>• </a:t>
            </a:r>
            <a:r>
              <a:rPr sz="1700" b="0">
                <a:solidFill>
                  <a:srgbClr val="5F6E73"/>
                </a:solidFill>
                <a:latin typeface="Calibri"/>
              </a:rPr>
              <a:t>Carbon-savings tracker</a:t>
            </a:r>
          </a:p>
          <a:p>
            <a:pPr algn="l">
              <a:spcAft>
                <a:spcPts val="800"/>
              </a:spcAft>
            </a:pPr>
            <a:r>
              <a:rPr sz="1700" b="1">
                <a:solidFill>
                  <a:srgbClr val="5F6E73"/>
                </a:solidFill>
                <a:latin typeface="Calibri"/>
              </a:rPr>
              <a:t>• </a:t>
            </a:r>
            <a:r>
              <a:rPr sz="1700" b="0">
                <a:solidFill>
                  <a:srgbClr val="5F6E73"/>
                </a:solidFill>
                <a:latin typeface="Calibri"/>
              </a:rPr>
              <a:t>Geo-climate intelligence</a:t>
            </a:r>
          </a:p>
          <a:p>
            <a:pPr algn="l">
              <a:spcAft>
                <a:spcPts val="800"/>
              </a:spcAft>
            </a:pPr>
            <a:r>
              <a:rPr sz="1700" b="1">
                <a:solidFill>
                  <a:srgbClr val="5F6E73"/>
                </a:solidFill>
                <a:latin typeface="Calibri"/>
              </a:rPr>
              <a:t>• </a:t>
            </a:r>
            <a:r>
              <a:rPr sz="1700" b="0">
                <a:solidFill>
                  <a:srgbClr val="5F6E73"/>
                </a:solidFill>
                <a:latin typeface="Calibri"/>
              </a:rPr>
              <a:t>Validation on newly measured installations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DATASET AND EXPLORATION</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2,500 installations, 15 columns, three measurable outcomes</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dataset/cool_roofing_data.csv (read-only); charts computed from reports/data_profile.json after cleaning</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4 / 15</a:t>
            </a:r>
          </a:p>
        </p:txBody>
      </p:sp>
      <p:pic>
        <p:nvPicPr>
          <p:cNvPr id="7" name="Picture 6" descr="chart_target_distributions.png"/>
          <p:cNvPicPr>
            <a:picLocks noChangeAspect="1"/>
          </p:cNvPicPr>
          <p:nvPr/>
        </p:nvPicPr>
        <p:blipFill>
          <a:blip r:embed="rId3"/>
          <a:stretch>
            <a:fillRect/>
          </a:stretch>
        </p:blipFill>
        <p:spPr>
          <a:xfrm>
            <a:off x="548640" y="1371600"/>
            <a:ext cx="11064240" cy="2153936"/>
          </a:xfrm>
          <a:prstGeom prst="rect">
            <a:avLst/>
          </a:prstGeom>
        </p:spPr>
      </p:pic>
      <p:pic>
        <p:nvPicPr>
          <p:cNvPr id="8" name="Picture 7" descr="chart_missingness.png"/>
          <p:cNvPicPr>
            <a:picLocks noChangeAspect="1"/>
          </p:cNvPicPr>
          <p:nvPr/>
        </p:nvPicPr>
        <p:blipFill>
          <a:blip r:embed="rId4"/>
          <a:stretch>
            <a:fillRect/>
          </a:stretch>
        </p:blipFill>
        <p:spPr>
          <a:xfrm>
            <a:off x="548640" y="3794760"/>
            <a:ext cx="5394960" cy="2199339"/>
          </a:xfrm>
          <a:prstGeom prst="rect">
            <a:avLst/>
          </a:prstGeom>
        </p:spPr>
      </p:pic>
      <p:pic>
        <p:nvPicPr>
          <p:cNvPr id="9" name="Picture 8" descr="chart_rating_referral.png"/>
          <p:cNvPicPr>
            <a:picLocks noChangeAspect="1"/>
          </p:cNvPicPr>
          <p:nvPr/>
        </p:nvPicPr>
        <p:blipFill>
          <a:blip r:embed="rId5"/>
          <a:stretch>
            <a:fillRect/>
          </a:stretch>
        </p:blipFill>
        <p:spPr>
          <a:xfrm>
            <a:off x="6217920" y="3794760"/>
            <a:ext cx="5394960" cy="2201256"/>
          </a:xfrm>
          <a:prstGeom prst="rect">
            <a:avLst/>
          </a:prstGeom>
        </p:spPr>
      </p:pic>
      <p:sp>
        <p:nvSpPr>
          <p:cNvPr id="10" name="TextBox 9"/>
          <p:cNvSpPr txBox="1"/>
          <p:nvPr/>
        </p:nvSpPr>
        <p:spPr>
          <a:xfrm>
            <a:off x="548640" y="6126480"/>
            <a:ext cx="11064240" cy="320040"/>
          </a:xfrm>
          <a:prstGeom prst="rect">
            <a:avLst/>
          </a:prstGeom>
          <a:noFill/>
        </p:spPr>
        <p:txBody>
          <a:bodyPr wrap="square" lIns="45720" rIns="45720" tIns="27432" bIns="27432" anchor="t">
            <a:spAutoFit/>
          </a:bodyPr>
          <a:lstStyle/>
          <a:p>
            <a:pPr algn="l">
              <a:spcAft>
                <a:spcPts val="0"/>
              </a:spcAft>
            </a:pPr>
            <a:r>
              <a:rPr sz="1200" b="0">
                <a:solidFill>
                  <a:srgbClr val="5F6E73"/>
                </a:solidFill>
                <a:latin typeface="Calibri"/>
              </a:rPr>
              <a:t>Records: 2,500  ·  Inputs: location, size, age, existing roof, method, quality, start temperature, AC units, current kWh  ·  Outcomes: cost, temperature, electricity, rating, referral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DATA QUALITY</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The audit found two silent placeholders that would have corrupted the models</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reports/data_quality_report.md, reports/cleaning_audit.csv (record-level audit trail); raw file never modified</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5 / 15</a:t>
            </a:r>
          </a:p>
        </p:txBody>
      </p:sp>
      <p:pic>
        <p:nvPicPr>
          <p:cNvPr id="7" name="Picture 6" descr="chart_anomalies.png"/>
          <p:cNvPicPr>
            <a:picLocks noChangeAspect="1"/>
          </p:cNvPicPr>
          <p:nvPr/>
        </p:nvPicPr>
        <p:blipFill>
          <a:blip r:embed="rId3"/>
          <a:stretch>
            <a:fillRect/>
          </a:stretch>
        </p:blipFill>
        <p:spPr>
          <a:xfrm>
            <a:off x="548640" y="1371600"/>
            <a:ext cx="6035040" cy="2661415"/>
          </a:xfrm>
          <a:prstGeom prst="rect">
            <a:avLst/>
          </a:prstGeom>
        </p:spPr>
      </p:pic>
      <p:pic>
        <p:nvPicPr>
          <p:cNvPr id="8" name="Picture 7" descr="chart_temperature_cleaning.png"/>
          <p:cNvPicPr>
            <a:picLocks noChangeAspect="1"/>
          </p:cNvPicPr>
          <p:nvPr/>
        </p:nvPicPr>
        <p:blipFill>
          <a:blip r:embed="rId4"/>
          <a:stretch>
            <a:fillRect/>
          </a:stretch>
        </p:blipFill>
        <p:spPr>
          <a:xfrm>
            <a:off x="6766560" y="1371600"/>
            <a:ext cx="4846320" cy="2484395"/>
          </a:xfrm>
          <a:prstGeom prst="rect">
            <a:avLst/>
          </a:prstGeom>
        </p:spPr>
      </p:pic>
      <p:sp>
        <p:nvSpPr>
          <p:cNvPr id="9" name="Rounded Rectangle 8"/>
          <p:cNvSpPr/>
          <p:nvPr/>
        </p:nvSpPr>
        <p:spPr>
          <a:xfrm>
            <a:off x="548640" y="4434840"/>
            <a:ext cx="3611880" cy="1783080"/>
          </a:xfrm>
          <a:prstGeom prst="roundRect">
            <a:avLst>
              <a:gd name="adj" fmla="val 6000"/>
            </a:avLst>
          </a:prstGeom>
          <a:solidFill>
            <a:srgbClr val="F8E6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507992"/>
            <a:ext cx="3392424" cy="365760"/>
          </a:xfrm>
          <a:prstGeom prst="rect">
            <a:avLst/>
          </a:prstGeom>
          <a:noFill/>
        </p:spPr>
        <p:txBody>
          <a:bodyPr wrap="square" lIns="45720" rIns="45720" tIns="27432" bIns="27432" anchor="t">
            <a:spAutoFit/>
          </a:bodyPr>
          <a:lstStyle/>
          <a:p>
            <a:pPr algn="l">
              <a:spcAft>
                <a:spcPts val="0"/>
              </a:spcAft>
            </a:pPr>
            <a:r>
              <a:rPr sz="1600" b="1">
                <a:solidFill>
                  <a:srgbClr val="B0412C"/>
                </a:solidFill>
                <a:latin typeface="Calibri"/>
              </a:rPr>
              <a:t>Confirmed invalid</a:t>
            </a:r>
          </a:p>
        </p:txBody>
      </p:sp>
      <p:sp>
        <p:nvSpPr>
          <p:cNvPr id="11" name="TextBox 10"/>
          <p:cNvSpPr txBox="1"/>
          <p:nvPr/>
        </p:nvSpPr>
        <p:spPr>
          <a:xfrm>
            <a:off x="658368" y="4892040"/>
            <a:ext cx="3392424" cy="1280160"/>
          </a:xfrm>
          <a:prstGeom prst="rect">
            <a:avLst/>
          </a:prstGeom>
          <a:noFill/>
        </p:spPr>
        <p:txBody>
          <a:bodyPr wrap="square" lIns="45720" rIns="45720" tIns="27432" bIns="27432" anchor="t">
            <a:spAutoFit/>
          </a:bodyPr>
          <a:lstStyle/>
          <a:p>
            <a:pPr algn="l">
              <a:spcAft>
                <a:spcPts val="0"/>
              </a:spcAft>
            </a:pPr>
            <a:r>
              <a:rPr sz="1400" b="0">
                <a:solidFill>
                  <a:srgbClr val="1F2A2E"/>
                </a:solidFill>
                <a:latin typeface="Calibri"/>
              </a:rPr>
              <a:t>120 °C roof temperature: 58 records (32 before, 26 after)</a:t>
            </a:r>
          </a:p>
          <a:p>
            <a:pPr algn="l">
              <a:spcAft>
                <a:spcPts val="0"/>
              </a:spcAft>
            </a:pPr>
            <a:r>
              <a:rPr sz="1400" b="0">
                <a:solidFill>
                  <a:srgbClr val="1F2A2E"/>
                </a:solidFill>
                <a:latin typeface="Calibri"/>
              </a:rPr>
              <a:t>Set to missing, never capped or guessed</a:t>
            </a:r>
          </a:p>
        </p:txBody>
      </p:sp>
      <p:sp>
        <p:nvSpPr>
          <p:cNvPr id="12" name="Rounded Rectangle 11"/>
          <p:cNvSpPr/>
          <p:nvPr/>
        </p:nvSpPr>
        <p:spPr>
          <a:xfrm>
            <a:off x="4297680" y="4434840"/>
            <a:ext cx="3611880" cy="1783080"/>
          </a:xfrm>
          <a:prstGeom prst="roundRect">
            <a:avLst>
              <a:gd name="adj" fmla="val 6000"/>
            </a:avLst>
          </a:prstGeom>
          <a:solidFill>
            <a:srgbClr val="FBF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8" y="4507992"/>
            <a:ext cx="3392424" cy="365760"/>
          </a:xfrm>
          <a:prstGeom prst="rect">
            <a:avLst/>
          </a:prstGeom>
          <a:noFill/>
        </p:spPr>
        <p:txBody>
          <a:bodyPr wrap="square" lIns="45720" rIns="45720" tIns="27432" bIns="27432" anchor="t">
            <a:spAutoFit/>
          </a:bodyPr>
          <a:lstStyle/>
          <a:p>
            <a:pPr algn="l">
              <a:spcAft>
                <a:spcPts val="0"/>
              </a:spcAft>
            </a:pPr>
            <a:r>
              <a:rPr sz="1600" b="1">
                <a:solidFill>
                  <a:srgbClr val="8A5A00"/>
                </a:solidFill>
                <a:latin typeface="Calibri"/>
              </a:rPr>
              <a:t>Inferred, high confidence</a:t>
            </a:r>
          </a:p>
        </p:txBody>
      </p:sp>
      <p:sp>
        <p:nvSpPr>
          <p:cNvPr id="14" name="TextBox 13"/>
          <p:cNvSpPr txBox="1"/>
          <p:nvPr/>
        </p:nvSpPr>
        <p:spPr>
          <a:xfrm>
            <a:off x="4407408" y="4892040"/>
            <a:ext cx="3392424" cy="1280160"/>
          </a:xfrm>
          <a:prstGeom prst="rect">
            <a:avLst/>
          </a:prstGeom>
          <a:noFill/>
        </p:spPr>
        <p:txBody>
          <a:bodyPr wrap="square" lIns="45720" rIns="45720" tIns="27432" bIns="27432" anchor="t">
            <a:spAutoFit/>
          </a:bodyPr>
          <a:lstStyle/>
          <a:p>
            <a:pPr algn="l">
              <a:spcAft>
                <a:spcPts val="0"/>
              </a:spcAft>
            </a:pPr>
            <a:r>
              <a:rPr sz="1400" b="0">
                <a:solidFill>
                  <a:srgbClr val="1F2A2E"/>
                </a:solidFill>
                <a:latin typeface="Calibri"/>
              </a:rPr>
              <a:t>0 kWh: 48 readings. No 1–3 kWh values exist; rows are physically inconsistent</a:t>
            </a:r>
          </a:p>
          <a:p>
            <a:pPr algn="l">
              <a:spcAft>
                <a:spcPts val="0"/>
              </a:spcAft>
            </a:pPr>
            <a:r>
              <a:rPr sz="1400" b="0">
                <a:solidFill>
                  <a:srgbClr val="1F2A2E"/>
                </a:solidFill>
                <a:latin typeface="Calibri"/>
              </a:rPr>
              <a:t>Effect: savings MAE 4.45 → 3.62 kWh</a:t>
            </a:r>
          </a:p>
        </p:txBody>
      </p:sp>
      <p:sp>
        <p:nvSpPr>
          <p:cNvPr id="15" name="Rounded Rectangle 14"/>
          <p:cNvSpPr/>
          <p:nvPr/>
        </p:nvSpPr>
        <p:spPr>
          <a:xfrm>
            <a:off x="8046720" y="4434840"/>
            <a:ext cx="3566160" cy="1783080"/>
          </a:xfrm>
          <a:prstGeom prst="roundRect">
            <a:avLst>
              <a:gd name="adj" fmla="val 6000"/>
            </a:avLst>
          </a:prstGeom>
          <a:solidFill>
            <a:srgbClr val="DD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4507992"/>
            <a:ext cx="3346704" cy="365760"/>
          </a:xfrm>
          <a:prstGeom prst="rect">
            <a:avLst/>
          </a:prstGeom>
          <a:noFill/>
        </p:spPr>
        <p:txBody>
          <a:bodyPr wrap="square" lIns="45720" rIns="45720" tIns="27432" bIns="27432" anchor="t">
            <a:spAutoFit/>
          </a:bodyPr>
          <a:lstStyle/>
          <a:p>
            <a:pPr algn="l">
              <a:spcAft>
                <a:spcPts val="0"/>
              </a:spcAft>
            </a:pPr>
            <a:r>
              <a:rPr sz="1600" b="1">
                <a:solidFill>
                  <a:srgbClr val="0E7C86"/>
                </a:solidFill>
                <a:latin typeface="Calibri"/>
              </a:rPr>
              <a:t>Kept on purpose</a:t>
            </a:r>
          </a:p>
        </p:txBody>
      </p:sp>
      <p:sp>
        <p:nvSpPr>
          <p:cNvPr id="17" name="TextBox 16"/>
          <p:cNvSpPr txBox="1"/>
          <p:nvPr/>
        </p:nvSpPr>
        <p:spPr>
          <a:xfrm>
            <a:off x="8156448" y="4892040"/>
            <a:ext cx="3346704" cy="1280160"/>
          </a:xfrm>
          <a:prstGeom prst="rect">
            <a:avLst/>
          </a:prstGeom>
          <a:noFill/>
        </p:spPr>
        <p:txBody>
          <a:bodyPr wrap="square" lIns="45720" rIns="45720" tIns="27432" bIns="27432" anchor="t">
            <a:spAutoFit/>
          </a:bodyPr>
          <a:lstStyle/>
          <a:p>
            <a:pPr algn="l">
              <a:spcAft>
                <a:spcPts val="0"/>
              </a:spcAft>
            </a:pPr>
            <a:r>
              <a:rPr sz="1400" b="0">
                <a:solidFill>
                  <a:srgbClr val="1F2A2E"/>
                </a:solidFill>
                <a:latin typeface="Calibri"/>
              </a:rPr>
              <a:t>167 buildings used MORE electricity after install: real adverse outcomes</a:t>
            </a:r>
          </a:p>
          <a:p>
            <a:pPr algn="l">
              <a:spcAft>
                <a:spcPts val="0"/>
              </a:spcAft>
            </a:pPr>
            <a:r>
              <a:rPr sz="1400" b="0">
                <a:solidFill>
                  <a:srgbClr val="1F2A2E"/>
                </a:solidFill>
                <a:latin typeface="Calibri"/>
              </a:rPr>
              <a:t>0 records deleted; exclusions are per task 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TARGETS, FEATURES AND LEAKAGE PREVENTION</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Only what a rep knows at the table can be a model input</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docs/feature_contract.md; tests/test_features_leakage.py, tests/test_model_review.py</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6 / 15</a:t>
            </a:r>
          </a:p>
        </p:txBody>
      </p:sp>
      <p:sp>
        <p:nvSpPr>
          <p:cNvPr id="7" name="Rounded Rectangle 6"/>
          <p:cNvSpPr/>
          <p:nvPr/>
        </p:nvSpPr>
        <p:spPr>
          <a:xfrm>
            <a:off x="548640" y="1417320"/>
            <a:ext cx="5394960" cy="8686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490472"/>
            <a:ext cx="5175504" cy="365760"/>
          </a:xfrm>
          <a:prstGeom prst="rect">
            <a:avLst/>
          </a:prstGeom>
          <a:noFill/>
        </p:spPr>
        <p:txBody>
          <a:bodyPr wrap="square" lIns="45720" rIns="45720" tIns="27432" bIns="27432" anchor="t">
            <a:spAutoFit/>
          </a:bodyPr>
          <a:lstStyle/>
          <a:p>
            <a:pPr algn="l">
              <a:spcAft>
                <a:spcPts val="0"/>
              </a:spcAft>
            </a:pPr>
            <a:r>
              <a:rPr sz="1400" b="1">
                <a:solidFill>
                  <a:srgbClr val="0F4C3A"/>
                </a:solidFill>
                <a:latin typeface="Calibri"/>
              </a:rPr>
              <a:t>Temperature drop (°C)</a:t>
            </a:r>
          </a:p>
        </p:txBody>
      </p:sp>
      <p:sp>
        <p:nvSpPr>
          <p:cNvPr id="9" name="TextBox 8"/>
          <p:cNvSpPr txBox="1"/>
          <p:nvPr/>
        </p:nvSpPr>
        <p:spPr>
          <a:xfrm>
            <a:off x="658368" y="1874519"/>
            <a:ext cx="5175504" cy="365759"/>
          </a:xfrm>
          <a:prstGeom prst="rect">
            <a:avLst/>
          </a:prstGeom>
          <a:noFill/>
        </p:spPr>
        <p:txBody>
          <a:bodyPr wrap="square" lIns="45720" rIns="45720" tIns="27432" bIns="27432" anchor="t">
            <a:spAutoFit/>
          </a:bodyPr>
          <a:lstStyle/>
          <a:p>
            <a:pPr algn="l">
              <a:spcAft>
                <a:spcPts val="0"/>
              </a:spcAft>
            </a:pPr>
            <a:r>
              <a:rPr sz="1500" b="0">
                <a:solidFill>
                  <a:srgbClr val="1F2A2E"/>
                </a:solidFill>
                <a:latin typeface="Calibri"/>
              </a:rPr>
              <a:t>= roof temperature before − roof temperature after</a:t>
            </a:r>
          </a:p>
        </p:txBody>
      </p:sp>
      <p:sp>
        <p:nvSpPr>
          <p:cNvPr id="10" name="Rounded Rectangle 9"/>
          <p:cNvSpPr/>
          <p:nvPr/>
        </p:nvSpPr>
        <p:spPr>
          <a:xfrm>
            <a:off x="548640" y="2377440"/>
            <a:ext cx="5394960" cy="8686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450592"/>
            <a:ext cx="5175504" cy="365760"/>
          </a:xfrm>
          <a:prstGeom prst="rect">
            <a:avLst/>
          </a:prstGeom>
          <a:noFill/>
        </p:spPr>
        <p:txBody>
          <a:bodyPr wrap="square" lIns="45720" rIns="45720" tIns="27432" bIns="27432" anchor="t">
            <a:spAutoFit/>
          </a:bodyPr>
          <a:lstStyle/>
          <a:p>
            <a:pPr algn="l">
              <a:spcAft>
                <a:spcPts val="0"/>
              </a:spcAft>
            </a:pPr>
            <a:r>
              <a:rPr sz="1400" b="1">
                <a:solidFill>
                  <a:srgbClr val="0F4C3A"/>
                </a:solidFill>
                <a:latin typeface="Calibri"/>
              </a:rPr>
              <a:t>Electricity saved (kWh / month)</a:t>
            </a:r>
          </a:p>
        </p:txBody>
      </p:sp>
      <p:sp>
        <p:nvSpPr>
          <p:cNvPr id="12" name="TextBox 11"/>
          <p:cNvSpPr txBox="1"/>
          <p:nvPr/>
        </p:nvSpPr>
        <p:spPr>
          <a:xfrm>
            <a:off x="658368" y="2834640"/>
            <a:ext cx="5175504" cy="365759"/>
          </a:xfrm>
          <a:prstGeom prst="rect">
            <a:avLst/>
          </a:prstGeom>
          <a:noFill/>
        </p:spPr>
        <p:txBody>
          <a:bodyPr wrap="square" lIns="45720" rIns="45720" tIns="27432" bIns="27432" anchor="t">
            <a:spAutoFit/>
          </a:bodyPr>
          <a:lstStyle/>
          <a:p>
            <a:pPr algn="l">
              <a:spcAft>
                <a:spcPts val="0"/>
              </a:spcAft>
            </a:pPr>
            <a:r>
              <a:rPr sz="1500" b="0">
                <a:solidFill>
                  <a:srgbClr val="1F2A2E"/>
                </a:solidFill>
                <a:latin typeface="Calibri"/>
              </a:rPr>
              <a:t>= monthly kWh before − monthly kWh after</a:t>
            </a:r>
          </a:p>
        </p:txBody>
      </p:sp>
      <p:sp>
        <p:nvSpPr>
          <p:cNvPr id="13" name="TextBox 12"/>
          <p:cNvSpPr txBox="1"/>
          <p:nvPr/>
        </p:nvSpPr>
        <p:spPr>
          <a:xfrm>
            <a:off x="548640" y="3429000"/>
            <a:ext cx="5394960" cy="365760"/>
          </a:xfrm>
          <a:prstGeom prst="rect">
            <a:avLst/>
          </a:prstGeom>
          <a:noFill/>
        </p:spPr>
        <p:txBody>
          <a:bodyPr wrap="square" lIns="45720" rIns="45720" tIns="27432" bIns="27432" anchor="t">
            <a:spAutoFit/>
          </a:bodyPr>
          <a:lstStyle/>
          <a:p>
            <a:pPr algn="l">
              <a:spcAft>
                <a:spcPts val="0"/>
              </a:spcAft>
            </a:pPr>
            <a:r>
              <a:rPr sz="1600" b="1">
                <a:solidFill>
                  <a:srgbClr val="0F4C3A"/>
                </a:solidFill>
                <a:latin typeface="Calibri"/>
              </a:rPr>
              <a:t>Evaluation protocol</a:t>
            </a:r>
          </a:p>
        </p:txBody>
      </p:sp>
      <p:sp>
        <p:nvSpPr>
          <p:cNvPr id="14" name="Rounded Rectangle 13"/>
          <p:cNvSpPr/>
          <p:nvPr/>
        </p:nvSpPr>
        <p:spPr>
          <a:xfrm>
            <a:off x="548640" y="3840480"/>
            <a:ext cx="5394960" cy="566928"/>
          </a:xfrm>
          <a:prstGeom prst="roundRect">
            <a:avLst>
              <a:gd name="adj" fmla="val 1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886200"/>
            <a:ext cx="5212080" cy="457200"/>
          </a:xfrm>
          <a:prstGeom prst="rect">
            <a:avLst/>
          </a:prstGeom>
          <a:noFill/>
        </p:spPr>
        <p:txBody>
          <a:bodyPr wrap="square" lIns="45720" rIns="45720" tIns="27432" bIns="27432" anchor="ctr">
            <a:spAutoFit/>
          </a:bodyPr>
          <a:lstStyle/>
          <a:p>
            <a:pPr algn="ctr">
              <a:spcAft>
                <a:spcPts val="0"/>
              </a:spcAft>
            </a:pPr>
            <a:r>
              <a:rPr sz="1600" b="1">
                <a:solidFill>
                  <a:srgbClr val="FFFFFF"/>
                </a:solidFill>
                <a:latin typeface="Calibri"/>
              </a:rPr>
              <a:t>2,500 buildings</a:t>
            </a:r>
          </a:p>
        </p:txBody>
      </p:sp>
      <p:sp>
        <p:nvSpPr>
          <p:cNvPr id="16" name="Rounded Rectangle 15"/>
          <p:cNvSpPr/>
          <p:nvPr/>
        </p:nvSpPr>
        <p:spPr>
          <a:xfrm>
            <a:off x="548640" y="4526280"/>
            <a:ext cx="4297680" cy="685800"/>
          </a:xfrm>
          <a:prstGeom prst="roundRect">
            <a:avLst>
              <a:gd name="adj" fmla="val 1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544568"/>
            <a:ext cx="4206240" cy="640080"/>
          </a:xfrm>
          <a:prstGeom prst="rect">
            <a:avLst/>
          </a:prstGeom>
          <a:noFill/>
        </p:spPr>
        <p:txBody>
          <a:bodyPr wrap="square" lIns="45720" rIns="45720" tIns="27432" bIns="27432" anchor="ctr">
            <a:spAutoFit/>
          </a:bodyPr>
          <a:lstStyle/>
          <a:p>
            <a:pPr algn="ctr">
              <a:spcAft>
                <a:spcPts val="0"/>
              </a:spcAft>
            </a:pPr>
            <a:r>
              <a:rPr sz="1400" b="1">
                <a:solidFill>
                  <a:srgbClr val="FFFFFF"/>
                </a:solidFill>
                <a:latin typeface="Calibri"/>
              </a:rPr>
              <a:t>2,000 train + validation</a:t>
            </a:r>
          </a:p>
          <a:p>
            <a:pPr algn="ctr">
              <a:spcAft>
                <a:spcPts val="0"/>
              </a:spcAft>
            </a:pPr>
            <a:r>
              <a:rPr sz="1400" b="1">
                <a:solidFill>
                  <a:srgbClr val="FFFFFF"/>
                </a:solidFill>
                <a:latin typeface="Calibri"/>
              </a:rPr>
              <a:t>5-fold CV: tuning and selection</a:t>
            </a:r>
          </a:p>
        </p:txBody>
      </p:sp>
      <p:sp>
        <p:nvSpPr>
          <p:cNvPr id="18" name="Rounded Rectangle 17"/>
          <p:cNvSpPr/>
          <p:nvPr/>
        </p:nvSpPr>
        <p:spPr>
          <a:xfrm>
            <a:off x="4937760" y="4526280"/>
            <a:ext cx="1005840" cy="685800"/>
          </a:xfrm>
          <a:prstGeom prst="roundRect">
            <a:avLst>
              <a:gd name="adj" fmla="val 10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0" y="4544568"/>
            <a:ext cx="1005840" cy="640080"/>
          </a:xfrm>
          <a:prstGeom prst="rect">
            <a:avLst/>
          </a:prstGeom>
          <a:noFill/>
        </p:spPr>
        <p:txBody>
          <a:bodyPr wrap="square" lIns="45720" rIns="45720" tIns="27432" bIns="27432" anchor="ctr">
            <a:spAutoFit/>
          </a:bodyPr>
          <a:lstStyle/>
          <a:p>
            <a:pPr algn="ctr">
              <a:spcAft>
                <a:spcPts val="0"/>
              </a:spcAft>
            </a:pPr>
            <a:r>
              <a:rPr sz="1400" b="1">
                <a:solidFill>
                  <a:srgbClr val="1F2A2E"/>
                </a:solidFill>
                <a:latin typeface="Calibri"/>
              </a:rPr>
              <a:t>500</a:t>
            </a:r>
          </a:p>
          <a:p>
            <a:pPr algn="ctr">
              <a:spcAft>
                <a:spcPts val="0"/>
              </a:spcAft>
            </a:pPr>
            <a:r>
              <a:rPr sz="1400" b="1">
                <a:solidFill>
                  <a:srgbClr val="1F2A2E"/>
                </a:solidFill>
                <a:latin typeface="Calibri"/>
              </a:rPr>
              <a:t>hold-out</a:t>
            </a:r>
          </a:p>
        </p:txBody>
      </p:sp>
      <p:sp>
        <p:nvSpPr>
          <p:cNvPr id="20" name="TextBox 19"/>
          <p:cNvSpPr txBox="1"/>
          <p:nvPr/>
        </p:nvSpPr>
        <p:spPr>
          <a:xfrm>
            <a:off x="548640" y="5349240"/>
            <a:ext cx="5394960" cy="1005840"/>
          </a:xfrm>
          <a:prstGeom prst="rect">
            <a:avLst/>
          </a:prstGeom>
          <a:noFill/>
        </p:spPr>
        <p:txBody>
          <a:bodyPr wrap="square" lIns="45720" rIns="45720" tIns="27432" bIns="27432" anchor="t">
            <a:spAutoFit/>
          </a:bodyPr>
          <a:lstStyle/>
          <a:p>
            <a:pPr algn="l">
              <a:spcAft>
                <a:spcPts val="200"/>
              </a:spcAft>
            </a:pPr>
            <a:r>
              <a:rPr sz="1400" b="0">
                <a:solidFill>
                  <a:srgbClr val="1F2A2E"/>
                </a:solidFill>
                <a:latin typeface="Calibri"/>
              </a:rPr>
              <a:t>• Preprocessing fitted on training folds only</a:t>
            </a:r>
          </a:p>
          <a:p>
            <a:pPr algn="l">
              <a:spcAft>
                <a:spcPts val="200"/>
              </a:spcAft>
            </a:pPr>
            <a:r>
              <a:rPr sz="1400" b="0">
                <a:solidFill>
                  <a:srgbClr val="1F2A2E"/>
                </a:solidFill>
                <a:latin typeface="Calibri"/>
              </a:rPr>
              <a:t>• Hold-out scored once; baselines declared first</a:t>
            </a:r>
          </a:p>
          <a:p>
            <a:pPr algn="l">
              <a:spcAft>
                <a:spcPts val="200"/>
              </a:spcAft>
            </a:pPr>
            <a:r>
              <a:rPr sz="1400" b="0">
                <a:solidFill>
                  <a:srgbClr val="1F2A2E"/>
                </a:solidFill>
                <a:latin typeface="Calibri"/>
              </a:rPr>
              <a:t>• Shuffled-label and ID-only controls sit at chance</a:t>
            </a:r>
          </a:p>
        </p:txBody>
      </p:sp>
      <p:sp>
        <p:nvSpPr>
          <p:cNvPr id="21" name="TextBox 20"/>
          <p:cNvSpPr txBox="1"/>
          <p:nvPr/>
        </p:nvSpPr>
        <p:spPr>
          <a:xfrm>
            <a:off x="6309360" y="1371600"/>
            <a:ext cx="5303520" cy="365760"/>
          </a:xfrm>
          <a:prstGeom prst="rect">
            <a:avLst/>
          </a:prstGeom>
          <a:noFill/>
        </p:spPr>
        <p:txBody>
          <a:bodyPr wrap="square" lIns="45720" rIns="45720" tIns="27432" bIns="27432" anchor="t">
            <a:spAutoFit/>
          </a:bodyPr>
          <a:lstStyle/>
          <a:p>
            <a:pPr algn="l">
              <a:spcAft>
                <a:spcPts val="0"/>
              </a:spcAft>
            </a:pPr>
            <a:r>
              <a:rPr sz="1500" b="1">
                <a:solidFill>
                  <a:srgbClr val="0F4C3A"/>
                </a:solidFill>
                <a:latin typeface="Calibri"/>
              </a:rPr>
              <a:t>ALLOWED at quote time (9 inputs)</a:t>
            </a:r>
          </a:p>
        </p:txBody>
      </p:sp>
      <p:sp>
        <p:nvSpPr>
          <p:cNvPr id="22" name="Rounded Rectangle 21"/>
          <p:cNvSpPr/>
          <p:nvPr/>
        </p:nvSpPr>
        <p:spPr>
          <a:xfrm>
            <a:off x="6309360" y="1783080"/>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Location type</a:t>
            </a:r>
          </a:p>
        </p:txBody>
      </p:sp>
      <p:sp>
        <p:nvSpPr>
          <p:cNvPr id="23" name="Rounded Rectangle 22"/>
          <p:cNvSpPr/>
          <p:nvPr/>
        </p:nvSpPr>
        <p:spPr>
          <a:xfrm>
            <a:off x="8110728" y="1783080"/>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Building size</a:t>
            </a:r>
          </a:p>
        </p:txBody>
      </p:sp>
      <p:sp>
        <p:nvSpPr>
          <p:cNvPr id="24" name="Rounded Rectangle 23"/>
          <p:cNvSpPr/>
          <p:nvPr/>
        </p:nvSpPr>
        <p:spPr>
          <a:xfrm>
            <a:off x="9912096" y="1783080"/>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Building age</a:t>
            </a:r>
          </a:p>
        </p:txBody>
      </p:sp>
      <p:sp>
        <p:nvSpPr>
          <p:cNvPr id="25" name="Rounded Rectangle 24"/>
          <p:cNvSpPr/>
          <p:nvPr/>
        </p:nvSpPr>
        <p:spPr>
          <a:xfrm>
            <a:off x="6309360" y="2258568"/>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Existing roof</a:t>
            </a:r>
          </a:p>
        </p:txBody>
      </p:sp>
      <p:sp>
        <p:nvSpPr>
          <p:cNvPr id="26" name="Rounded Rectangle 25"/>
          <p:cNvSpPr/>
          <p:nvPr/>
        </p:nvSpPr>
        <p:spPr>
          <a:xfrm>
            <a:off x="8110728" y="2258568"/>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Proposed method</a:t>
            </a:r>
          </a:p>
        </p:txBody>
      </p:sp>
      <p:sp>
        <p:nvSpPr>
          <p:cNvPr id="27" name="Rounded Rectangle 26"/>
          <p:cNvSpPr/>
          <p:nvPr/>
        </p:nvSpPr>
        <p:spPr>
          <a:xfrm>
            <a:off x="9912096" y="2258568"/>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Proposed quality</a:t>
            </a:r>
          </a:p>
        </p:txBody>
      </p:sp>
      <p:sp>
        <p:nvSpPr>
          <p:cNvPr id="28" name="Rounded Rectangle 27"/>
          <p:cNvSpPr/>
          <p:nvPr/>
        </p:nvSpPr>
        <p:spPr>
          <a:xfrm>
            <a:off x="6309360" y="2734056"/>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Start roof temp.</a:t>
            </a:r>
          </a:p>
        </p:txBody>
      </p:sp>
      <p:sp>
        <p:nvSpPr>
          <p:cNvPr id="29" name="Rounded Rectangle 28"/>
          <p:cNvSpPr/>
          <p:nvPr/>
        </p:nvSpPr>
        <p:spPr>
          <a:xfrm>
            <a:off x="8110728" y="2734056"/>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AC units</a:t>
            </a:r>
          </a:p>
        </p:txBody>
      </p:sp>
      <p:sp>
        <p:nvSpPr>
          <p:cNvPr id="30" name="Rounded Rectangle 29"/>
          <p:cNvSpPr/>
          <p:nvPr/>
        </p:nvSpPr>
        <p:spPr>
          <a:xfrm>
            <a:off x="9912096" y="2734056"/>
            <a:ext cx="1719072" cy="347472"/>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Current kWh</a:t>
            </a:r>
          </a:p>
        </p:txBody>
      </p:sp>
      <p:sp>
        <p:nvSpPr>
          <p:cNvPr id="31" name="TextBox 30"/>
          <p:cNvSpPr txBox="1"/>
          <p:nvPr/>
        </p:nvSpPr>
        <p:spPr>
          <a:xfrm>
            <a:off x="6309360" y="3337560"/>
            <a:ext cx="5303520" cy="365760"/>
          </a:xfrm>
          <a:prstGeom prst="rect">
            <a:avLst/>
          </a:prstGeom>
          <a:noFill/>
        </p:spPr>
        <p:txBody>
          <a:bodyPr wrap="square" lIns="45720" rIns="45720" tIns="27432" bIns="27432" anchor="t">
            <a:spAutoFit/>
          </a:bodyPr>
          <a:lstStyle/>
          <a:p>
            <a:pPr algn="l">
              <a:spcAft>
                <a:spcPts val="0"/>
              </a:spcAft>
            </a:pPr>
            <a:r>
              <a:rPr sz="1500" b="1">
                <a:solidFill>
                  <a:srgbClr val="B0412C"/>
                </a:solidFill>
                <a:latin typeface="Calibri"/>
              </a:rPr>
              <a:t>FORBIDDEN as inputs</a:t>
            </a:r>
          </a:p>
        </p:txBody>
      </p:sp>
      <p:sp>
        <p:nvSpPr>
          <p:cNvPr id="32" name="Rounded Rectangle 31"/>
          <p:cNvSpPr/>
          <p:nvPr/>
        </p:nvSpPr>
        <p:spPr>
          <a:xfrm>
            <a:off x="6309360" y="3749039"/>
            <a:ext cx="1719072" cy="347472"/>
          </a:xfrm>
          <a:prstGeom prst="roundRect">
            <a:avLst>
              <a:gd name="adj" fmla="val 30000"/>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Realised cost</a:t>
            </a:r>
          </a:p>
        </p:txBody>
      </p:sp>
      <p:sp>
        <p:nvSpPr>
          <p:cNvPr id="33" name="Rounded Rectangle 32"/>
          <p:cNvSpPr/>
          <p:nvPr/>
        </p:nvSpPr>
        <p:spPr>
          <a:xfrm>
            <a:off x="8110728" y="3749039"/>
            <a:ext cx="1719072" cy="347472"/>
          </a:xfrm>
          <a:prstGeom prst="roundRect">
            <a:avLst>
              <a:gd name="adj" fmla="val 30000"/>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Temp. after install</a:t>
            </a:r>
          </a:p>
        </p:txBody>
      </p:sp>
      <p:sp>
        <p:nvSpPr>
          <p:cNvPr id="34" name="Rounded Rectangle 33"/>
          <p:cNvSpPr/>
          <p:nvPr/>
        </p:nvSpPr>
        <p:spPr>
          <a:xfrm>
            <a:off x="9912096" y="3749039"/>
            <a:ext cx="1719072" cy="347472"/>
          </a:xfrm>
          <a:prstGeom prst="roundRect">
            <a:avLst>
              <a:gd name="adj" fmla="val 30000"/>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kWh after install</a:t>
            </a:r>
          </a:p>
        </p:txBody>
      </p:sp>
      <p:sp>
        <p:nvSpPr>
          <p:cNvPr id="35" name="Rounded Rectangle 34"/>
          <p:cNvSpPr/>
          <p:nvPr/>
        </p:nvSpPr>
        <p:spPr>
          <a:xfrm>
            <a:off x="6309360" y="4224527"/>
            <a:ext cx="1719072" cy="347472"/>
          </a:xfrm>
          <a:prstGeom prst="roundRect">
            <a:avLst>
              <a:gd name="adj" fmla="val 30000"/>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Customer rating</a:t>
            </a:r>
          </a:p>
        </p:txBody>
      </p:sp>
      <p:sp>
        <p:nvSpPr>
          <p:cNvPr id="36" name="Rounded Rectangle 35"/>
          <p:cNvSpPr/>
          <p:nvPr/>
        </p:nvSpPr>
        <p:spPr>
          <a:xfrm>
            <a:off x="8110728" y="4224527"/>
            <a:ext cx="1719072" cy="347472"/>
          </a:xfrm>
          <a:prstGeom prst="roundRect">
            <a:avLst>
              <a:gd name="adj" fmla="val 30000"/>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Referral flag</a:t>
            </a:r>
          </a:p>
        </p:txBody>
      </p:sp>
      <p:sp>
        <p:nvSpPr>
          <p:cNvPr id="37" name="Rounded Rectangle 36"/>
          <p:cNvSpPr/>
          <p:nvPr/>
        </p:nvSpPr>
        <p:spPr>
          <a:xfrm>
            <a:off x="9912096" y="4224527"/>
            <a:ext cx="1719072" cy="347472"/>
          </a:xfrm>
          <a:prstGeom prst="roundRect">
            <a:avLst>
              <a:gd name="adj" fmla="val 30000"/>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200" b="1">
                <a:solidFill>
                  <a:srgbClr val="FFFFFF"/>
                </a:solidFill>
                <a:latin typeface="Calibri"/>
              </a:rPr>
              <a:t>Building ID</a:t>
            </a:r>
          </a:p>
        </p:txBody>
      </p:sp>
      <p:sp>
        <p:nvSpPr>
          <p:cNvPr id="38" name="Rounded Rectangle 37"/>
          <p:cNvSpPr/>
          <p:nvPr/>
        </p:nvSpPr>
        <p:spPr>
          <a:xfrm>
            <a:off x="6309360" y="4846320"/>
            <a:ext cx="5303520" cy="1371600"/>
          </a:xfrm>
          <a:prstGeom prst="roundRect">
            <a:avLst>
              <a:gd name="adj" fmla="val 6000"/>
            </a:avLst>
          </a:prstGeom>
          <a:solidFill>
            <a:srgbClr val="F3F4F4"/>
          </a:solidFill>
          <a:ln w="15875">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46520" y="4919472"/>
            <a:ext cx="5029200" cy="1280160"/>
          </a:xfrm>
          <a:prstGeom prst="rect">
            <a:avLst/>
          </a:prstGeom>
          <a:noFill/>
        </p:spPr>
        <p:txBody>
          <a:bodyPr wrap="square" lIns="45720" rIns="45720" tIns="27432" bIns="27432" anchor="t">
            <a:spAutoFit/>
          </a:bodyPr>
          <a:lstStyle/>
          <a:p>
            <a:pPr algn="l">
              <a:spcAft>
                <a:spcPts val="400"/>
              </a:spcAft>
            </a:pPr>
            <a:r>
              <a:rPr sz="1400" b="1">
                <a:solidFill>
                  <a:srgbClr val="0F4C3A"/>
                </a:solidFill>
                <a:latin typeface="Calibri"/>
              </a:rPr>
              <a:t>Why it matters: </a:t>
            </a:r>
            <a:r>
              <a:rPr sz="1400" b="0">
                <a:solidFill>
                  <a:srgbClr val="1F2A2E"/>
                </a:solidFill>
                <a:latin typeface="Calibri"/>
              </a:rPr>
              <a:t>referral rate is 61% for 4★+ customers vs 9% for 1–2★, so rating would leak referral.</a:t>
            </a:r>
          </a:p>
          <a:p>
            <a:pPr algn="l">
              <a:spcAft>
                <a:spcPts val="400"/>
              </a:spcAft>
            </a:pPr>
            <a:r>
              <a:rPr sz="1400" b="0">
                <a:solidFill>
                  <a:srgbClr val="1F2A2E"/>
                </a:solidFill>
                <a:latin typeface="Calibri"/>
              </a:rPr>
              <a:t>Rejected at the API too: unknown fields return HTTP 422.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SYSTEM ARCHITECTURE</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From raw CSV to a tested, explainable web product</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docs/architecture.md and the implemented code (src/coolroof, frontend/)</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7 / 15</a:t>
            </a:r>
          </a:p>
        </p:txBody>
      </p:sp>
      <p:sp>
        <p:nvSpPr>
          <p:cNvPr id="7" name="Rounded Rectangle 6"/>
          <p:cNvSpPr/>
          <p:nvPr/>
        </p:nvSpPr>
        <p:spPr>
          <a:xfrm>
            <a:off x="548640" y="1463040"/>
            <a:ext cx="1828800" cy="105156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737360" cy="411480"/>
          </a:xfrm>
          <a:prstGeom prst="rect">
            <a:avLst/>
          </a:prstGeom>
          <a:noFill/>
        </p:spPr>
        <p:txBody>
          <a:bodyPr wrap="square" lIns="45720" rIns="45720" tIns="27432" bIns="27432" anchor="t">
            <a:spAutoFit/>
          </a:bodyPr>
          <a:lstStyle/>
          <a:p>
            <a:pPr algn="ctr">
              <a:spcAft>
                <a:spcPts val="0"/>
              </a:spcAft>
            </a:pPr>
            <a:r>
              <a:rPr sz="1600" b="1">
                <a:solidFill>
                  <a:srgbClr val="FFFFFF"/>
                </a:solidFill>
                <a:latin typeface="Calibri"/>
              </a:rPr>
              <a:t>Raw CSV</a:t>
            </a:r>
          </a:p>
        </p:txBody>
      </p:sp>
      <p:sp>
        <p:nvSpPr>
          <p:cNvPr id="9" name="TextBox 8"/>
          <p:cNvSpPr txBox="1"/>
          <p:nvPr/>
        </p:nvSpPr>
        <p:spPr>
          <a:xfrm>
            <a:off x="594360" y="1965960"/>
            <a:ext cx="1737360" cy="502920"/>
          </a:xfrm>
          <a:prstGeom prst="rect">
            <a:avLst/>
          </a:prstGeom>
          <a:noFill/>
        </p:spPr>
        <p:txBody>
          <a:bodyPr wrap="square" lIns="45720" rIns="45720" tIns="27432" bIns="27432" anchor="t">
            <a:spAutoFit/>
          </a:bodyPr>
          <a:lstStyle/>
          <a:p>
            <a:pPr algn="ctr">
              <a:spcAft>
                <a:spcPts val="0"/>
              </a:spcAft>
            </a:pPr>
            <a:r>
              <a:rPr sz="1200" b="0">
                <a:solidFill>
                  <a:srgbClr val="D9EAE4"/>
                </a:solidFill>
                <a:latin typeface="Calibri"/>
              </a:rPr>
              <a:t>2,500 × 15, read-only</a:t>
            </a:r>
          </a:p>
        </p:txBody>
      </p:sp>
      <p:sp>
        <p:nvSpPr>
          <p:cNvPr id="10" name="Right Arrow 9"/>
          <p:cNvSpPr/>
          <p:nvPr/>
        </p:nvSpPr>
        <p:spPr>
          <a:xfrm>
            <a:off x="2404872" y="1828800"/>
            <a:ext cx="402336" cy="32004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34640" y="1463040"/>
            <a:ext cx="1828800" cy="105156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80360" y="1536192"/>
            <a:ext cx="1737360" cy="411480"/>
          </a:xfrm>
          <a:prstGeom prst="rect">
            <a:avLst/>
          </a:prstGeom>
          <a:noFill/>
        </p:spPr>
        <p:txBody>
          <a:bodyPr wrap="square" lIns="45720" rIns="45720" tIns="27432" bIns="27432" anchor="t">
            <a:spAutoFit/>
          </a:bodyPr>
          <a:lstStyle/>
          <a:p>
            <a:pPr algn="ctr">
              <a:spcAft>
                <a:spcPts val="0"/>
              </a:spcAft>
            </a:pPr>
            <a:r>
              <a:rPr sz="1600" b="1">
                <a:solidFill>
                  <a:srgbClr val="FFFFFF"/>
                </a:solidFill>
                <a:latin typeface="Calibri"/>
              </a:rPr>
              <a:t>Audit &amp; cleaning</a:t>
            </a:r>
          </a:p>
        </p:txBody>
      </p:sp>
      <p:sp>
        <p:nvSpPr>
          <p:cNvPr id="13" name="TextBox 12"/>
          <p:cNvSpPr txBox="1"/>
          <p:nvPr/>
        </p:nvSpPr>
        <p:spPr>
          <a:xfrm>
            <a:off x="2880360" y="1965960"/>
            <a:ext cx="1737360" cy="502920"/>
          </a:xfrm>
          <a:prstGeom prst="rect">
            <a:avLst/>
          </a:prstGeom>
          <a:noFill/>
        </p:spPr>
        <p:txBody>
          <a:bodyPr wrap="square" lIns="45720" rIns="45720" tIns="27432" bIns="27432" anchor="t">
            <a:spAutoFit/>
          </a:bodyPr>
          <a:lstStyle/>
          <a:p>
            <a:pPr algn="ctr">
              <a:spcAft>
                <a:spcPts val="0"/>
              </a:spcAft>
            </a:pPr>
            <a:r>
              <a:rPr sz="1200" b="0">
                <a:solidFill>
                  <a:srgbClr val="D9EAE4"/>
                </a:solidFill>
                <a:latin typeface="Calibri"/>
              </a:rPr>
              <a:t>flags, audit trail</a:t>
            </a:r>
          </a:p>
        </p:txBody>
      </p:sp>
      <p:sp>
        <p:nvSpPr>
          <p:cNvPr id="14" name="Right Arrow 13"/>
          <p:cNvSpPr/>
          <p:nvPr/>
        </p:nvSpPr>
        <p:spPr>
          <a:xfrm>
            <a:off x="4690872" y="1828800"/>
            <a:ext cx="402336" cy="32004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20640" y="1463040"/>
            <a:ext cx="1828800" cy="105156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59" y="1536192"/>
            <a:ext cx="1737360" cy="411480"/>
          </a:xfrm>
          <a:prstGeom prst="rect">
            <a:avLst/>
          </a:prstGeom>
          <a:noFill/>
        </p:spPr>
        <p:txBody>
          <a:bodyPr wrap="square" lIns="45720" rIns="45720" tIns="27432" bIns="27432" anchor="t">
            <a:spAutoFit/>
          </a:bodyPr>
          <a:lstStyle/>
          <a:p>
            <a:pPr algn="ctr">
              <a:spcAft>
                <a:spcPts val="0"/>
              </a:spcAft>
            </a:pPr>
            <a:r>
              <a:rPr sz="1600" b="1">
                <a:solidFill>
                  <a:srgbClr val="FFFFFF"/>
                </a:solidFill>
                <a:latin typeface="Calibri"/>
              </a:rPr>
              <a:t>Feature contract</a:t>
            </a:r>
          </a:p>
        </p:txBody>
      </p:sp>
      <p:sp>
        <p:nvSpPr>
          <p:cNvPr id="17" name="TextBox 16"/>
          <p:cNvSpPr txBox="1"/>
          <p:nvPr/>
        </p:nvSpPr>
        <p:spPr>
          <a:xfrm>
            <a:off x="5166359" y="1965960"/>
            <a:ext cx="1737360" cy="502920"/>
          </a:xfrm>
          <a:prstGeom prst="rect">
            <a:avLst/>
          </a:prstGeom>
          <a:noFill/>
        </p:spPr>
        <p:txBody>
          <a:bodyPr wrap="square" lIns="45720" rIns="45720" tIns="27432" bIns="27432" anchor="t">
            <a:spAutoFit/>
          </a:bodyPr>
          <a:lstStyle/>
          <a:p>
            <a:pPr algn="ctr">
              <a:spcAft>
                <a:spcPts val="0"/>
              </a:spcAft>
            </a:pPr>
            <a:r>
              <a:rPr sz="1200" b="0">
                <a:solidFill>
                  <a:srgbClr val="D9EAE4"/>
                </a:solidFill>
                <a:latin typeface="Calibri"/>
              </a:rPr>
              <a:t>leakage guards, pipelines</a:t>
            </a:r>
          </a:p>
        </p:txBody>
      </p:sp>
      <p:sp>
        <p:nvSpPr>
          <p:cNvPr id="18" name="Right Arrow 17"/>
          <p:cNvSpPr/>
          <p:nvPr/>
        </p:nvSpPr>
        <p:spPr>
          <a:xfrm>
            <a:off x="6976871" y="1828800"/>
            <a:ext cx="402336" cy="32004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6640" y="1463040"/>
            <a:ext cx="1828800" cy="105156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1536192"/>
            <a:ext cx="1737360" cy="411480"/>
          </a:xfrm>
          <a:prstGeom prst="rect">
            <a:avLst/>
          </a:prstGeom>
          <a:noFill/>
        </p:spPr>
        <p:txBody>
          <a:bodyPr wrap="square" lIns="45720" rIns="45720" tIns="27432" bIns="27432" anchor="t">
            <a:spAutoFit/>
          </a:bodyPr>
          <a:lstStyle/>
          <a:p>
            <a:pPr algn="ctr">
              <a:spcAft>
                <a:spcPts val="0"/>
              </a:spcAft>
            </a:pPr>
            <a:r>
              <a:rPr sz="1600" b="1">
                <a:solidFill>
                  <a:srgbClr val="FFFFFF"/>
                </a:solidFill>
                <a:latin typeface="Calibri"/>
              </a:rPr>
              <a:t>Train &amp; evaluate</a:t>
            </a:r>
          </a:p>
        </p:txBody>
      </p:sp>
      <p:sp>
        <p:nvSpPr>
          <p:cNvPr id="21" name="TextBox 20"/>
          <p:cNvSpPr txBox="1"/>
          <p:nvPr/>
        </p:nvSpPr>
        <p:spPr>
          <a:xfrm>
            <a:off x="7452360" y="1965960"/>
            <a:ext cx="1737360" cy="502920"/>
          </a:xfrm>
          <a:prstGeom prst="rect">
            <a:avLst/>
          </a:prstGeom>
          <a:noFill/>
        </p:spPr>
        <p:txBody>
          <a:bodyPr wrap="square" lIns="45720" rIns="45720" tIns="27432" bIns="27432" anchor="t">
            <a:spAutoFit/>
          </a:bodyPr>
          <a:lstStyle/>
          <a:p>
            <a:pPr algn="ctr">
              <a:spcAft>
                <a:spcPts val="0"/>
              </a:spcAft>
            </a:pPr>
            <a:r>
              <a:rPr sz="1200" b="0">
                <a:solidFill>
                  <a:srgbClr val="D9EAE4"/>
                </a:solidFill>
                <a:latin typeface="Calibri"/>
              </a:rPr>
              <a:t>CV, hold-out, baselines</a:t>
            </a:r>
          </a:p>
        </p:txBody>
      </p:sp>
      <p:sp>
        <p:nvSpPr>
          <p:cNvPr id="22" name="Right Arrow 21"/>
          <p:cNvSpPr/>
          <p:nvPr/>
        </p:nvSpPr>
        <p:spPr>
          <a:xfrm>
            <a:off x="9262872" y="1828800"/>
            <a:ext cx="402336" cy="32004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92640" y="1463040"/>
            <a:ext cx="1828800" cy="1051560"/>
          </a:xfrm>
          <a:prstGeom prst="roundRect">
            <a:avLst>
              <a:gd name="adj" fmla="val 6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1536192"/>
            <a:ext cx="1737360" cy="411480"/>
          </a:xfrm>
          <a:prstGeom prst="rect">
            <a:avLst/>
          </a:prstGeom>
          <a:noFill/>
        </p:spPr>
        <p:txBody>
          <a:bodyPr wrap="square" lIns="45720" rIns="45720" tIns="27432" bIns="27432" anchor="t">
            <a:spAutoFit/>
          </a:bodyPr>
          <a:lstStyle/>
          <a:p>
            <a:pPr algn="ctr">
              <a:spcAft>
                <a:spcPts val="0"/>
              </a:spcAft>
            </a:pPr>
            <a:r>
              <a:rPr sz="1600" b="1">
                <a:solidFill>
                  <a:srgbClr val="FFFFFF"/>
                </a:solidFill>
                <a:latin typeface="Calibri"/>
              </a:rPr>
              <a:t>Saved artifacts</a:t>
            </a:r>
          </a:p>
        </p:txBody>
      </p:sp>
      <p:sp>
        <p:nvSpPr>
          <p:cNvPr id="25" name="TextBox 24"/>
          <p:cNvSpPr txBox="1"/>
          <p:nvPr/>
        </p:nvSpPr>
        <p:spPr>
          <a:xfrm>
            <a:off x="9738360" y="1965960"/>
            <a:ext cx="1737360" cy="502920"/>
          </a:xfrm>
          <a:prstGeom prst="rect">
            <a:avLst/>
          </a:prstGeom>
          <a:noFill/>
        </p:spPr>
        <p:txBody>
          <a:bodyPr wrap="square" lIns="45720" rIns="45720" tIns="27432" bIns="27432" anchor="t">
            <a:spAutoFit/>
          </a:bodyPr>
          <a:lstStyle/>
          <a:p>
            <a:pPr algn="ctr">
              <a:spcAft>
                <a:spcPts val="0"/>
              </a:spcAft>
            </a:pPr>
            <a:r>
              <a:rPr sz="1200" b="0">
                <a:solidFill>
                  <a:srgbClr val="D9EAE4"/>
                </a:solidFill>
                <a:latin typeface="Calibri"/>
              </a:rPr>
              <a:t>6 models + metadata</a:t>
            </a:r>
          </a:p>
        </p:txBody>
      </p:sp>
      <p:sp>
        <p:nvSpPr>
          <p:cNvPr id="26" name="Down Arrow 25"/>
          <p:cNvSpPr/>
          <p:nvPr/>
        </p:nvSpPr>
        <p:spPr>
          <a:xfrm>
            <a:off x="10378440" y="2606040"/>
            <a:ext cx="457200" cy="502920"/>
          </a:xfrm>
          <a:prstGeom prst="down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own Arrow 26"/>
          <p:cNvSpPr/>
          <p:nvPr/>
        </p:nvSpPr>
        <p:spPr>
          <a:xfrm>
            <a:off x="6949440" y="2606040"/>
            <a:ext cx="457200" cy="502920"/>
          </a:xfrm>
          <a:prstGeom prst="downArrow">
            <a:avLst/>
          </a:prstGeom>
          <a:solidFill>
            <a:srgbClr val="5F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52160" y="3200400"/>
            <a:ext cx="5760720" cy="1234440"/>
          </a:xfrm>
          <a:prstGeom prst="roundRect">
            <a:avLst>
              <a:gd name="adj" fmla="val 6000"/>
            </a:avLst>
          </a:prstGeom>
          <a:solidFill>
            <a:srgbClr val="EAF2E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9320" y="3246120"/>
            <a:ext cx="5486400" cy="365760"/>
          </a:xfrm>
          <a:prstGeom prst="rect">
            <a:avLst/>
          </a:prstGeom>
          <a:noFill/>
        </p:spPr>
        <p:txBody>
          <a:bodyPr wrap="square" lIns="45720" rIns="45720" tIns="27432" bIns="27432" anchor="t">
            <a:spAutoFit/>
          </a:bodyPr>
          <a:lstStyle/>
          <a:p>
            <a:pPr algn="l">
              <a:spcAft>
                <a:spcPts val="0"/>
              </a:spcAft>
            </a:pPr>
            <a:r>
              <a:rPr sz="1600" b="1">
                <a:solidFill>
                  <a:srgbClr val="0F4C3A"/>
                </a:solidFill>
                <a:latin typeface="Calibri"/>
              </a:rPr>
              <a:t>FastAPI inference service (models loaded once)</a:t>
            </a:r>
          </a:p>
        </p:txBody>
      </p:sp>
      <p:sp>
        <p:nvSpPr>
          <p:cNvPr id="30" name="TextBox 29"/>
          <p:cNvSpPr txBox="1"/>
          <p:nvPr/>
        </p:nvSpPr>
        <p:spPr>
          <a:xfrm>
            <a:off x="5989320" y="3639312"/>
            <a:ext cx="5486400" cy="777240"/>
          </a:xfrm>
          <a:prstGeom prst="rect">
            <a:avLst/>
          </a:prstGeom>
          <a:noFill/>
        </p:spPr>
        <p:txBody>
          <a:bodyPr wrap="square" lIns="45720" rIns="45720" tIns="27432" bIns="27432" anchor="t">
            <a:spAutoFit/>
          </a:bodyPr>
          <a:lstStyle/>
          <a:p>
            <a:pPr algn="l">
              <a:spcAft>
                <a:spcPts val="0"/>
              </a:spcAft>
            </a:pPr>
            <a:r>
              <a:rPr sz="1400" b="0">
                <a:solidFill>
                  <a:srgbClr val="1F2A2E"/>
                </a:solidFill>
                <a:latin typeface="Calibri"/>
              </a:rPr>
              <a:t>predict · batch · compare options · explain (Shapley) · payback · PDF proposal · strict input validation</a:t>
            </a:r>
          </a:p>
        </p:txBody>
      </p:sp>
      <p:sp>
        <p:nvSpPr>
          <p:cNvPr id="31" name="Rounded Rectangle 30"/>
          <p:cNvSpPr/>
          <p:nvPr/>
        </p:nvSpPr>
        <p:spPr>
          <a:xfrm>
            <a:off x="548640" y="3200400"/>
            <a:ext cx="5029200" cy="1234440"/>
          </a:xfrm>
          <a:prstGeom prst="roundRect">
            <a:avLst>
              <a:gd name="adj" fmla="val 6000"/>
            </a:avLst>
          </a:prstGeom>
          <a:solidFill>
            <a:srgbClr val="F3F4F4"/>
          </a:solidFill>
          <a:ln w="15875">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246120"/>
            <a:ext cx="4754880" cy="365760"/>
          </a:xfrm>
          <a:prstGeom prst="rect">
            <a:avLst/>
          </a:prstGeom>
          <a:noFill/>
        </p:spPr>
        <p:txBody>
          <a:bodyPr wrap="square" lIns="45720" rIns="45720" tIns="27432" bIns="27432" anchor="t">
            <a:spAutoFit/>
          </a:bodyPr>
          <a:lstStyle/>
          <a:p>
            <a:pPr algn="l">
              <a:spcAft>
                <a:spcPts val="0"/>
              </a:spcAft>
            </a:pPr>
            <a:r>
              <a:rPr sz="1600" b="1">
                <a:solidFill>
                  <a:srgbClr val="5F6E73"/>
                </a:solidFill>
                <a:latin typeface="Calibri"/>
              </a:rPr>
              <a:t>Reports and figures</a:t>
            </a:r>
          </a:p>
        </p:txBody>
      </p:sp>
      <p:sp>
        <p:nvSpPr>
          <p:cNvPr id="33" name="TextBox 32"/>
          <p:cNvSpPr txBox="1"/>
          <p:nvPr/>
        </p:nvSpPr>
        <p:spPr>
          <a:xfrm>
            <a:off x="685800" y="3639312"/>
            <a:ext cx="4754880" cy="777240"/>
          </a:xfrm>
          <a:prstGeom prst="rect">
            <a:avLst/>
          </a:prstGeom>
          <a:noFill/>
        </p:spPr>
        <p:txBody>
          <a:bodyPr wrap="square" lIns="45720" rIns="45720" tIns="27432" bIns="27432" anchor="t">
            <a:spAutoFit/>
          </a:bodyPr>
          <a:lstStyle/>
          <a:p>
            <a:pPr algn="l">
              <a:spcAft>
                <a:spcPts val="0"/>
              </a:spcAft>
            </a:pPr>
            <a:r>
              <a:rPr sz="1400" b="0">
                <a:solidFill>
                  <a:srgbClr val="1F2A2E"/>
                </a:solidFill>
                <a:latin typeface="Calibri"/>
              </a:rPr>
              <a:t>data-quality, evaluation, significance and insight reports feed the Performance and Insights pages</a:t>
            </a:r>
          </a:p>
        </p:txBody>
      </p:sp>
      <p:sp>
        <p:nvSpPr>
          <p:cNvPr id="34" name="Up-Down Arrow 33"/>
          <p:cNvSpPr/>
          <p:nvPr/>
        </p:nvSpPr>
        <p:spPr>
          <a:xfrm>
            <a:off x="7315200" y="4480560"/>
            <a:ext cx="365760" cy="411480"/>
          </a:xfrm>
          <a:prstGeom prst="upDown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Up-Down Arrow 34"/>
          <p:cNvSpPr/>
          <p:nvPr/>
        </p:nvSpPr>
        <p:spPr>
          <a:xfrm>
            <a:off x="10058400" y="4480560"/>
            <a:ext cx="365760" cy="411480"/>
          </a:xfrm>
          <a:prstGeom prst="upDown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852160" y="4937760"/>
            <a:ext cx="2743200" cy="91440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97880" y="4983480"/>
            <a:ext cx="2651760" cy="868680"/>
          </a:xfrm>
          <a:prstGeom prst="rect">
            <a:avLst/>
          </a:prstGeom>
          <a:noFill/>
        </p:spPr>
        <p:txBody>
          <a:bodyPr wrap="square" lIns="45720" rIns="45720" tIns="27432" bIns="27432" anchor="ctr">
            <a:spAutoFit/>
          </a:bodyPr>
          <a:lstStyle/>
          <a:p>
            <a:pPr algn="ctr">
              <a:spcAft>
                <a:spcPts val="0"/>
              </a:spcAft>
            </a:pPr>
            <a:r>
              <a:rPr sz="1400" b="1">
                <a:solidFill>
                  <a:srgbClr val="FFFFFF"/>
                </a:solidFill>
                <a:latin typeface="Calibri"/>
              </a:rPr>
              <a:t>React + TypeScript UI</a:t>
            </a:r>
          </a:p>
          <a:p>
            <a:pPr algn="ctr">
              <a:spcAft>
                <a:spcPts val="0"/>
              </a:spcAft>
            </a:pPr>
            <a:r>
              <a:rPr sz="1400" b="1">
                <a:solidFill>
                  <a:srgbClr val="FFFFFF"/>
                </a:solidFill>
                <a:latin typeface="Calibri"/>
              </a:rPr>
              <a:t>7 pages · light/dark · accessible</a:t>
            </a:r>
          </a:p>
        </p:txBody>
      </p:sp>
      <p:sp>
        <p:nvSpPr>
          <p:cNvPr id="38" name="Rounded Rectangle 37"/>
          <p:cNvSpPr/>
          <p:nvPr/>
        </p:nvSpPr>
        <p:spPr>
          <a:xfrm>
            <a:off x="8869680" y="4937760"/>
            <a:ext cx="2743200" cy="914400"/>
          </a:xfrm>
          <a:prstGeom prst="roundRect">
            <a:avLst>
              <a:gd name="adj" fmla="val 6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15400" y="4983480"/>
            <a:ext cx="2651760" cy="868680"/>
          </a:xfrm>
          <a:prstGeom prst="rect">
            <a:avLst/>
          </a:prstGeom>
          <a:noFill/>
        </p:spPr>
        <p:txBody>
          <a:bodyPr wrap="square" lIns="45720" rIns="45720" tIns="27432" bIns="27432" anchor="ctr">
            <a:spAutoFit/>
          </a:bodyPr>
          <a:lstStyle/>
          <a:p>
            <a:pPr algn="ctr">
              <a:spcAft>
                <a:spcPts val="0"/>
              </a:spcAft>
            </a:pPr>
            <a:r>
              <a:rPr sz="1400" b="1">
                <a:solidFill>
                  <a:srgbClr val="FFFFFF"/>
                </a:solidFill>
                <a:latin typeface="Calibri"/>
              </a:rPr>
              <a:t>Optional AI assistant</a:t>
            </a:r>
          </a:p>
          <a:p>
            <a:pPr algn="ctr">
              <a:spcAft>
                <a:spcPts val="0"/>
              </a:spcAft>
            </a:pPr>
            <a:r>
              <a:rPr sz="1400" b="1">
                <a:solidFill>
                  <a:srgbClr val="FFFFFF"/>
                </a:solidFill>
                <a:latin typeface="Calibri"/>
              </a:rPr>
              <a:t>validated tool calls only</a:t>
            </a:r>
          </a:p>
        </p:txBody>
      </p:sp>
      <p:sp>
        <p:nvSpPr>
          <p:cNvPr id="40" name="Rounded Rectangle 39"/>
          <p:cNvSpPr/>
          <p:nvPr/>
        </p:nvSpPr>
        <p:spPr>
          <a:xfrm>
            <a:off x="548640" y="4663440"/>
            <a:ext cx="5029200" cy="118872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4736592"/>
            <a:ext cx="4809744" cy="365760"/>
          </a:xfrm>
          <a:prstGeom prst="rect">
            <a:avLst/>
          </a:prstGeom>
          <a:noFill/>
        </p:spPr>
        <p:txBody>
          <a:bodyPr wrap="square" lIns="45720" rIns="45720" tIns="27432" bIns="27432" anchor="t">
            <a:spAutoFit/>
          </a:bodyPr>
          <a:lstStyle/>
          <a:p>
            <a:pPr algn="l">
              <a:spcAft>
                <a:spcPts val="0"/>
              </a:spcAft>
            </a:pPr>
            <a:r>
              <a:rPr sz="1400" b="1">
                <a:solidFill>
                  <a:srgbClr val="0F4C3A"/>
                </a:solidFill>
                <a:latin typeface="Calibri"/>
              </a:rPr>
              <a:t>Quality gates</a:t>
            </a:r>
          </a:p>
        </p:txBody>
      </p:sp>
      <p:sp>
        <p:nvSpPr>
          <p:cNvPr id="42" name="TextBox 41"/>
          <p:cNvSpPr txBox="1"/>
          <p:nvPr/>
        </p:nvSpPr>
        <p:spPr>
          <a:xfrm>
            <a:off x="658368" y="5120640"/>
            <a:ext cx="4809744" cy="685800"/>
          </a:xfrm>
          <a:prstGeom prst="rect">
            <a:avLst/>
          </a:prstGeom>
          <a:noFill/>
        </p:spPr>
        <p:txBody>
          <a:bodyPr wrap="square" lIns="45720" rIns="45720" tIns="27432" bIns="27432" anchor="t">
            <a:spAutoFit/>
          </a:bodyPr>
          <a:lstStyle/>
          <a:p>
            <a:pPr algn="l">
              <a:spcAft>
                <a:spcPts val="0"/>
              </a:spcAft>
            </a:pPr>
            <a:r>
              <a:rPr sz="1400" b="0">
                <a:solidFill>
                  <a:srgbClr val="1F2A2E"/>
                </a:solidFill>
                <a:latin typeface="Calibri"/>
              </a:rPr>
              <a:t>153 backend + 22 UI tests (incl. accessibility) · type-check · production build · browser-verified</a:t>
            </a:r>
          </a:p>
        </p:txBody>
      </p:sp>
      <p:sp>
        <p:nvSpPr>
          <p:cNvPr id="43" name="TextBox 42"/>
          <p:cNvSpPr txBox="1"/>
          <p:nvPr/>
        </p:nvSpPr>
        <p:spPr>
          <a:xfrm>
            <a:off x="548640" y="5989320"/>
            <a:ext cx="11064240" cy="365760"/>
          </a:xfrm>
          <a:prstGeom prst="rect">
            <a:avLst/>
          </a:prstGeom>
          <a:noFill/>
        </p:spPr>
        <p:txBody>
          <a:bodyPr wrap="square" lIns="45720" rIns="45720" tIns="27432" bIns="27432" anchor="t">
            <a:spAutoFit/>
          </a:bodyPr>
          <a:lstStyle/>
          <a:p>
            <a:pPr algn="ctr">
              <a:spcAft>
                <a:spcPts val="0"/>
              </a:spcAft>
            </a:pPr>
            <a:r>
              <a:rPr sz="1300" b="1">
                <a:solidFill>
                  <a:srgbClr val="5F6E73"/>
                </a:solidFill>
                <a:latin typeface="Calibri"/>
              </a:rPr>
              <a:t>pandas · scikit-learn · LightGBM · FastAPI · React 19 + TypeScript + Vite · Tailwind · Recharts · ReportLab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MODELS</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Five tasks, six models: simple where the data is simple</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models/model_metadata.json. Customer rating needs two models (numeric rating + high/not-high classifier)</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8 / 15</a:t>
            </a:r>
          </a:p>
        </p:txBody>
      </p:sp>
      <p:graphicFrame>
        <p:nvGraphicFramePr>
          <p:cNvPr id="7" name="Table 6"/>
          <p:cNvGraphicFramePr>
            <a:graphicFrameLocks noGrp="1"/>
          </p:cNvGraphicFramePr>
          <p:nvPr/>
        </p:nvGraphicFramePr>
        <p:xfrm>
          <a:off x="548640" y="1417320"/>
          <a:ext cx="11064240" cy="3968496"/>
        </p:xfrm>
        <a:graphic>
          <a:graphicData uri="http://schemas.openxmlformats.org/drawingml/2006/table">
            <a:tbl>
              <a:tblPr firstRow="1" bandRow="1">
                <a:tableStyleId>{5C22544A-7EE6-4342-B048-85BDC9FD1C3A}</a:tableStyleId>
              </a:tblPr>
              <a:tblGrid>
                <a:gridCol w="502920"/>
                <a:gridCol w="1691640"/>
                <a:gridCol w="2240280"/>
                <a:gridCol w="2834640"/>
                <a:gridCol w="1188720"/>
                <a:gridCol w="1371600"/>
                <a:gridCol w="1234440"/>
              </a:tblGrid>
              <a:tr h="566928">
                <a:tc>
                  <a:txBody>
                    <a:bodyPr wrap="square"/>
                    <a:lstStyle/>
                    <a:p>
                      <a:pPr algn="l"/>
                      <a:r>
                        <a:rPr sz="1200" b="1">
                          <a:solidFill>
                            <a:srgbClr val="FFFFFF"/>
                          </a:solidFill>
                          <a:latin typeface="Calibri"/>
                        </a:rPr>
                        <a:t>#</a:t>
                      </a:r>
                    </a:p>
                  </a:txBody>
                  <a:tcPr marL="73152" marR="73152" marT="27432" marB="27432" anchor="ctr">
                    <a:solidFill>
                      <a:srgbClr val="0F4C3A"/>
                    </a:solidFill>
                  </a:tcPr>
                </a:tc>
                <a:tc>
                  <a:txBody>
                    <a:bodyPr wrap="square"/>
                    <a:lstStyle/>
                    <a:p>
                      <a:pPr algn="l"/>
                      <a:r>
                        <a:rPr sz="1200" b="1">
                          <a:solidFill>
                            <a:srgbClr val="FFFFFF"/>
                          </a:solidFill>
                          <a:latin typeface="Calibri"/>
                        </a:rPr>
                        <a:t>Task</a:t>
                      </a:r>
                    </a:p>
                  </a:txBody>
                  <a:tcPr marL="73152" marR="73152" marT="27432" marB="27432" anchor="ctr">
                    <a:solidFill>
                      <a:srgbClr val="0F4C3A"/>
                    </a:solidFill>
                  </a:tcPr>
                </a:tc>
                <a:tc>
                  <a:txBody>
                    <a:bodyPr wrap="square"/>
                    <a:lstStyle/>
                    <a:p>
                      <a:pPr algn="l"/>
                      <a:r>
                        <a:rPr sz="1200" b="1">
                          <a:solidFill>
                            <a:srgbClr val="FFFFFF"/>
                          </a:solidFill>
                          <a:latin typeface="Calibri"/>
                        </a:rPr>
                        <a:t>Prediction</a:t>
                      </a:r>
                    </a:p>
                  </a:txBody>
                  <a:tcPr marL="73152" marR="73152" marT="27432" marB="27432" anchor="ctr">
                    <a:solidFill>
                      <a:srgbClr val="0F4C3A"/>
                    </a:solidFill>
                  </a:tcPr>
                </a:tc>
                <a:tc>
                  <a:txBody>
                    <a:bodyPr wrap="square"/>
                    <a:lstStyle/>
                    <a:p>
                      <a:pPr algn="l"/>
                      <a:r>
                        <a:rPr sz="1200" b="1">
                          <a:solidFill>
                            <a:srgbClr val="FFFFFF"/>
                          </a:solidFill>
                          <a:latin typeface="Calibri"/>
                        </a:rPr>
                        <a:t>Selected model</a:t>
                      </a:r>
                    </a:p>
                  </a:txBody>
                  <a:tcPr marL="73152" marR="73152" marT="27432" marB="27432" anchor="ctr">
                    <a:solidFill>
                      <a:srgbClr val="0F4C3A"/>
                    </a:solidFill>
                  </a:tcPr>
                </a:tc>
                <a:tc>
                  <a:txBody>
                    <a:bodyPr wrap="square"/>
                    <a:lstStyle/>
                    <a:p>
                      <a:pPr algn="l"/>
                      <a:r>
                        <a:rPr sz="1200" b="1">
                          <a:solidFill>
                            <a:srgbClr val="FFFFFF"/>
                          </a:solidFill>
                          <a:latin typeface="Calibri"/>
                        </a:rPr>
                        <a:t>Type</a:t>
                      </a:r>
                    </a:p>
                  </a:txBody>
                  <a:tcPr marL="73152" marR="73152" marT="27432" marB="27432" anchor="ctr">
                    <a:solidFill>
                      <a:srgbClr val="0F4C3A"/>
                    </a:solidFill>
                  </a:tcPr>
                </a:tc>
                <a:tc>
                  <a:txBody>
                    <a:bodyPr wrap="square"/>
                    <a:lstStyle/>
                    <a:p>
                      <a:pPr algn="l"/>
                      <a:r>
                        <a:rPr sz="1200" b="1">
                          <a:solidFill>
                            <a:srgbClr val="FFFFFF"/>
                          </a:solidFill>
                          <a:latin typeface="Calibri"/>
                        </a:rPr>
                        <a:t>Baseline</a:t>
                      </a:r>
                    </a:p>
                  </a:txBody>
                  <a:tcPr marL="73152" marR="73152" marT="27432" marB="27432" anchor="ctr">
                    <a:solidFill>
                      <a:srgbClr val="0F4C3A"/>
                    </a:solidFill>
                  </a:tcPr>
                </a:tc>
                <a:tc>
                  <a:txBody>
                    <a:bodyPr wrap="square"/>
                    <a:lstStyle/>
                    <a:p>
                      <a:pPr algn="l"/>
                      <a:r>
                        <a:rPr sz="1200" b="1">
                          <a:solidFill>
                            <a:srgbClr val="FFFFFF"/>
                          </a:solidFill>
                          <a:latin typeface="Calibri"/>
                        </a:rPr>
                        <a:t>Train+val / test</a:t>
                      </a:r>
                    </a:p>
                  </a:txBody>
                  <a:tcPr marL="73152" marR="73152" marT="27432" marB="27432" anchor="ctr">
                    <a:solidFill>
                      <a:srgbClr val="0F4C3A"/>
                    </a:solidFill>
                  </a:tcPr>
                </a:tc>
              </a:tr>
              <a:tr h="566928">
                <a:tc>
                  <a:txBody>
                    <a:bodyPr wrap="square"/>
                    <a:lstStyle/>
                    <a:p>
                      <a:pPr algn="l"/>
                      <a:r>
                        <a:rPr sz="1200" b="1">
                          <a:solidFill>
                            <a:srgbClr val="1F2A2E"/>
                          </a:solidFill>
                          <a:latin typeface="Calibri"/>
                        </a:rPr>
                        <a:t>A</a:t>
                      </a:r>
                    </a:p>
                  </a:txBody>
                  <a:tcPr marL="73152" marR="73152" marT="27432" marB="27432" anchor="ctr">
                    <a:solidFill>
                      <a:srgbClr val="FFFFFF"/>
                    </a:solidFill>
                  </a:tcPr>
                </a:tc>
                <a:tc>
                  <a:txBody>
                    <a:bodyPr wrap="square"/>
                    <a:lstStyle/>
                    <a:p>
                      <a:pPr algn="l"/>
                      <a:r>
                        <a:rPr sz="1200" b="0">
                          <a:solidFill>
                            <a:srgbClr val="1F2A2E"/>
                          </a:solidFill>
                          <a:latin typeface="Calibri"/>
                        </a:rPr>
                        <a:t>Installation cost</a:t>
                      </a:r>
                    </a:p>
                  </a:txBody>
                  <a:tcPr marL="73152" marR="73152" marT="27432" marB="27432" anchor="ctr">
                    <a:solidFill>
                      <a:srgbClr val="FFFFFF"/>
                    </a:solidFill>
                  </a:tcPr>
                </a:tc>
                <a:tc>
                  <a:txBody>
                    <a:bodyPr wrap="square"/>
                    <a:lstStyle/>
                    <a:p>
                      <a:pPr algn="l"/>
                      <a:r>
                        <a:rPr sz="1200" b="0">
                          <a:solidFill>
                            <a:srgbClr val="1F2A2E"/>
                          </a:solidFill>
                          <a:latin typeface="Calibri"/>
                        </a:rPr>
                        <a:t>Installation cost (₹)</a:t>
                      </a:r>
                    </a:p>
                  </a:txBody>
                  <a:tcPr marL="73152" marR="73152" marT="27432" marB="27432" anchor="ctr">
                    <a:solidFill>
                      <a:srgbClr val="FFFFFF"/>
                    </a:solidFill>
                  </a:tcPr>
                </a:tc>
                <a:tc>
                  <a:txBody>
                    <a:bodyPr wrap="square"/>
                    <a:lstStyle/>
                    <a:p>
                      <a:pPr algn="l"/>
                      <a:r>
                        <a:rPr sz="1200" b="0">
                          <a:solidFill>
                            <a:srgbClr val="1F2A2E"/>
                          </a:solidFill>
                          <a:latin typeface="Calibri"/>
                        </a:rPr>
                        <a:t>Log-linear ridge (multiplicative)</a:t>
                      </a:r>
                    </a:p>
                  </a:txBody>
                  <a:tcPr marL="73152" marR="73152" marT="27432" marB="27432" anchor="ctr">
                    <a:solidFill>
                      <a:srgbClr val="FFFFFF"/>
                    </a:solidFill>
                  </a:tcPr>
                </a:tc>
                <a:tc>
                  <a:txBody>
                    <a:bodyPr wrap="square"/>
                    <a:lstStyle/>
                    <a:p>
                      <a:pPr algn="l"/>
                      <a:r>
                        <a:rPr sz="1200" b="0">
                          <a:solidFill>
                            <a:srgbClr val="1F2A2E"/>
                          </a:solidFill>
                          <a:latin typeface="Calibri"/>
                        </a:rPr>
                        <a:t>Regression</a:t>
                      </a:r>
                    </a:p>
                  </a:txBody>
                  <a:tcPr marL="73152" marR="73152" marT="27432" marB="27432" anchor="ctr">
                    <a:solidFill>
                      <a:srgbClr val="FFFFFF"/>
                    </a:solidFill>
                  </a:tcPr>
                </a:tc>
                <a:tc>
                  <a:txBody>
                    <a:bodyPr wrap="square"/>
                    <a:lstStyle/>
                    <a:p>
                      <a:pPr algn="l"/>
                      <a:r>
                        <a:rPr sz="1200" b="0">
                          <a:solidFill>
                            <a:srgbClr val="1F2A2E"/>
                          </a:solidFill>
                          <a:latin typeface="Calibri"/>
                        </a:rPr>
                        <a:t>Training mean</a:t>
                      </a:r>
                    </a:p>
                  </a:txBody>
                  <a:tcPr marL="73152" marR="73152" marT="27432" marB="27432" anchor="ctr">
                    <a:solidFill>
                      <a:srgbClr val="FFFFFF"/>
                    </a:solidFill>
                  </a:tcPr>
                </a:tc>
                <a:tc>
                  <a:txBody>
                    <a:bodyPr wrap="square"/>
                    <a:lstStyle/>
                    <a:p>
                      <a:pPr algn="l"/>
                      <a:r>
                        <a:rPr sz="1200" b="0">
                          <a:solidFill>
                            <a:srgbClr val="1F2A2E"/>
                          </a:solidFill>
                          <a:latin typeface="Calibri"/>
                        </a:rPr>
                        <a:t>1,979 / 493</a:t>
                      </a:r>
                    </a:p>
                  </a:txBody>
                  <a:tcPr marL="73152" marR="73152" marT="27432" marB="27432" anchor="ctr">
                    <a:solidFill>
                      <a:srgbClr val="FFFFFF"/>
                    </a:solidFill>
                  </a:tcPr>
                </a:tc>
              </a:tr>
              <a:tr h="566928">
                <a:tc>
                  <a:txBody>
                    <a:bodyPr wrap="square"/>
                    <a:lstStyle/>
                    <a:p>
                      <a:pPr algn="l"/>
                      <a:r>
                        <a:rPr sz="1200" b="1">
                          <a:solidFill>
                            <a:srgbClr val="1F2A2E"/>
                          </a:solidFill>
                          <a:latin typeface="Calibri"/>
                        </a:rPr>
                        <a:t>B</a:t>
                      </a:r>
                    </a:p>
                  </a:txBody>
                  <a:tcPr marL="73152" marR="73152" marT="27432" marB="27432" anchor="ctr">
                    <a:solidFill>
                      <a:srgbClr val="EAF2EF"/>
                    </a:solidFill>
                  </a:tcPr>
                </a:tc>
                <a:tc>
                  <a:txBody>
                    <a:bodyPr wrap="square"/>
                    <a:lstStyle/>
                    <a:p>
                      <a:pPr algn="l"/>
                      <a:r>
                        <a:rPr sz="1200" b="0">
                          <a:solidFill>
                            <a:srgbClr val="1F2A2E"/>
                          </a:solidFill>
                          <a:latin typeface="Calibri"/>
                        </a:rPr>
                        <a:t>Roof temperature drop</a:t>
                      </a:r>
                    </a:p>
                  </a:txBody>
                  <a:tcPr marL="73152" marR="73152" marT="27432" marB="27432" anchor="ctr">
                    <a:solidFill>
                      <a:srgbClr val="EAF2EF"/>
                    </a:solidFill>
                  </a:tcPr>
                </a:tc>
                <a:tc>
                  <a:txBody>
                    <a:bodyPr wrap="square"/>
                    <a:lstStyle/>
                    <a:p>
                      <a:pPr algn="l"/>
                      <a:r>
                        <a:rPr sz="1200" b="0">
                          <a:solidFill>
                            <a:srgbClr val="1F2A2E"/>
                          </a:solidFill>
                          <a:latin typeface="Calibri"/>
                        </a:rPr>
                        <a:t>Roof temperature drop (°C)</a:t>
                      </a:r>
                    </a:p>
                  </a:txBody>
                  <a:tcPr marL="73152" marR="73152" marT="27432" marB="27432" anchor="ctr">
                    <a:solidFill>
                      <a:srgbClr val="EAF2EF"/>
                    </a:solidFill>
                  </a:tcPr>
                </a:tc>
                <a:tc>
                  <a:txBody>
                    <a:bodyPr wrap="square"/>
                    <a:lstStyle/>
                    <a:p>
                      <a:pPr algn="l"/>
                      <a:r>
                        <a:rPr sz="1200" b="0">
                          <a:solidFill>
                            <a:srgbClr val="1F2A2E"/>
                          </a:solidFill>
                          <a:latin typeface="Calibri"/>
                        </a:rPr>
                        <a:t>LightGBM: drop-fraction × starting temperature</a:t>
                      </a:r>
                    </a:p>
                  </a:txBody>
                  <a:tcPr marL="73152" marR="73152" marT="27432" marB="27432" anchor="ctr">
                    <a:solidFill>
                      <a:srgbClr val="EAF2EF"/>
                    </a:solidFill>
                  </a:tcPr>
                </a:tc>
                <a:tc>
                  <a:txBody>
                    <a:bodyPr wrap="square"/>
                    <a:lstStyle/>
                    <a:p>
                      <a:pPr algn="l"/>
                      <a:r>
                        <a:rPr sz="1200" b="0">
                          <a:solidFill>
                            <a:srgbClr val="1F2A2E"/>
                          </a:solidFill>
                          <a:latin typeface="Calibri"/>
                        </a:rPr>
                        <a:t>Regression</a:t>
                      </a:r>
                    </a:p>
                  </a:txBody>
                  <a:tcPr marL="73152" marR="73152" marT="27432" marB="27432" anchor="ctr">
                    <a:solidFill>
                      <a:srgbClr val="EAF2EF"/>
                    </a:solidFill>
                  </a:tcPr>
                </a:tc>
                <a:tc>
                  <a:txBody>
                    <a:bodyPr wrap="square"/>
                    <a:lstStyle/>
                    <a:p>
                      <a:pPr algn="l"/>
                      <a:r>
                        <a:rPr sz="1200" b="0">
                          <a:solidFill>
                            <a:srgbClr val="1F2A2E"/>
                          </a:solidFill>
                          <a:latin typeface="Calibri"/>
                        </a:rPr>
                        <a:t>Training mean</a:t>
                      </a:r>
                    </a:p>
                  </a:txBody>
                  <a:tcPr marL="73152" marR="73152" marT="27432" marB="27432" anchor="ctr">
                    <a:solidFill>
                      <a:srgbClr val="EAF2EF"/>
                    </a:solidFill>
                  </a:tcPr>
                </a:tc>
                <a:tc>
                  <a:txBody>
                    <a:bodyPr wrap="square"/>
                    <a:lstStyle/>
                    <a:p>
                      <a:pPr algn="l"/>
                      <a:r>
                        <a:rPr sz="1200" b="0">
                          <a:solidFill>
                            <a:srgbClr val="1F2A2E"/>
                          </a:solidFill>
                          <a:latin typeface="Calibri"/>
                        </a:rPr>
                        <a:t>1,956 / 486</a:t>
                      </a:r>
                    </a:p>
                  </a:txBody>
                  <a:tcPr marL="73152" marR="73152" marT="27432" marB="27432" anchor="ctr">
                    <a:solidFill>
                      <a:srgbClr val="EAF2EF"/>
                    </a:solidFill>
                  </a:tcPr>
                </a:tc>
              </a:tr>
              <a:tr h="566928">
                <a:tc>
                  <a:txBody>
                    <a:bodyPr wrap="square"/>
                    <a:lstStyle/>
                    <a:p>
                      <a:pPr algn="l"/>
                      <a:r>
                        <a:rPr sz="1200" b="1">
                          <a:solidFill>
                            <a:srgbClr val="1F2A2E"/>
                          </a:solidFill>
                          <a:latin typeface="Calibri"/>
                        </a:rPr>
                        <a:t>C</a:t>
                      </a:r>
                    </a:p>
                  </a:txBody>
                  <a:tcPr marL="73152" marR="73152" marT="27432" marB="27432" anchor="ctr">
                    <a:solidFill>
                      <a:srgbClr val="FFFFFF"/>
                    </a:solidFill>
                  </a:tcPr>
                </a:tc>
                <a:tc>
                  <a:txBody>
                    <a:bodyPr wrap="square"/>
                    <a:lstStyle/>
                    <a:p>
                      <a:pPr algn="l"/>
                      <a:r>
                        <a:rPr sz="1200" b="0">
                          <a:solidFill>
                            <a:srgbClr val="1F2A2E"/>
                          </a:solidFill>
                          <a:latin typeface="Calibri"/>
                        </a:rPr>
                        <a:t>Monthly electricity saved</a:t>
                      </a:r>
                    </a:p>
                  </a:txBody>
                  <a:tcPr marL="73152" marR="73152" marT="27432" marB="27432" anchor="ctr">
                    <a:solidFill>
                      <a:srgbClr val="FFFFFF"/>
                    </a:solidFill>
                  </a:tcPr>
                </a:tc>
                <a:tc>
                  <a:txBody>
                    <a:bodyPr wrap="square"/>
                    <a:lstStyle/>
                    <a:p>
                      <a:pPr algn="l"/>
                      <a:r>
                        <a:rPr sz="1200" b="0">
                          <a:solidFill>
                            <a:srgbClr val="1F2A2E"/>
                          </a:solidFill>
                          <a:latin typeface="Calibri"/>
                        </a:rPr>
                        <a:t>Electricity saved (kWh/mo)</a:t>
                      </a:r>
                    </a:p>
                  </a:txBody>
                  <a:tcPr marL="73152" marR="73152" marT="27432" marB="27432" anchor="ctr">
                    <a:solidFill>
                      <a:srgbClr val="FFFFFF"/>
                    </a:solidFill>
                  </a:tcPr>
                </a:tc>
                <a:tc>
                  <a:txBody>
                    <a:bodyPr wrap="square"/>
                    <a:lstStyle/>
                    <a:p>
                      <a:pPr algn="l"/>
                      <a:r>
                        <a:rPr sz="1200" b="0">
                          <a:solidFill>
                            <a:srgbClr val="1F2A2E"/>
                          </a:solidFill>
                          <a:latin typeface="Calibri"/>
                        </a:rPr>
                        <a:t>LightGBM: saved-fraction × current usage</a:t>
                      </a:r>
                    </a:p>
                  </a:txBody>
                  <a:tcPr marL="73152" marR="73152" marT="27432" marB="27432" anchor="ctr">
                    <a:solidFill>
                      <a:srgbClr val="FFFFFF"/>
                    </a:solidFill>
                  </a:tcPr>
                </a:tc>
                <a:tc>
                  <a:txBody>
                    <a:bodyPr wrap="square"/>
                    <a:lstStyle/>
                    <a:p>
                      <a:pPr algn="l"/>
                      <a:r>
                        <a:rPr sz="1200" b="0">
                          <a:solidFill>
                            <a:srgbClr val="1F2A2E"/>
                          </a:solidFill>
                          <a:latin typeface="Calibri"/>
                        </a:rPr>
                        <a:t>Regression</a:t>
                      </a:r>
                    </a:p>
                  </a:txBody>
                  <a:tcPr marL="73152" marR="73152" marT="27432" marB="27432" anchor="ctr">
                    <a:solidFill>
                      <a:srgbClr val="FFFFFF"/>
                    </a:solidFill>
                  </a:tcPr>
                </a:tc>
                <a:tc>
                  <a:txBody>
                    <a:bodyPr wrap="square"/>
                    <a:lstStyle/>
                    <a:p>
                      <a:pPr algn="l"/>
                      <a:r>
                        <a:rPr sz="1200" b="0">
                          <a:solidFill>
                            <a:srgbClr val="1F2A2E"/>
                          </a:solidFill>
                          <a:latin typeface="Calibri"/>
                        </a:rPr>
                        <a:t>Training mean</a:t>
                      </a:r>
                    </a:p>
                  </a:txBody>
                  <a:tcPr marL="73152" marR="73152" marT="27432" marB="27432" anchor="ctr">
                    <a:solidFill>
                      <a:srgbClr val="FFFFFF"/>
                    </a:solidFill>
                  </a:tcPr>
                </a:tc>
                <a:tc>
                  <a:txBody>
                    <a:bodyPr wrap="square"/>
                    <a:lstStyle/>
                    <a:p>
                      <a:pPr algn="l"/>
                      <a:r>
                        <a:rPr sz="1200" b="0">
                          <a:solidFill>
                            <a:srgbClr val="1F2A2E"/>
                          </a:solidFill>
                          <a:latin typeface="Calibri"/>
                        </a:rPr>
                        <a:t>1,958 / 494</a:t>
                      </a:r>
                    </a:p>
                  </a:txBody>
                  <a:tcPr marL="73152" marR="73152" marT="27432" marB="27432" anchor="ctr">
                    <a:solidFill>
                      <a:srgbClr val="FFFFFF"/>
                    </a:solidFill>
                  </a:tcPr>
                </a:tc>
              </a:tr>
              <a:tr h="566928">
                <a:tc>
                  <a:txBody>
                    <a:bodyPr wrap="square"/>
                    <a:lstStyle/>
                    <a:p>
                      <a:pPr algn="l"/>
                      <a:r>
                        <a:rPr sz="1200" b="1">
                          <a:solidFill>
                            <a:srgbClr val="1F2A2E"/>
                          </a:solidFill>
                          <a:latin typeface="Calibri"/>
                        </a:rPr>
                        <a:t>D1</a:t>
                      </a:r>
                    </a:p>
                  </a:txBody>
                  <a:tcPr marL="73152" marR="73152" marT="27432" marB="27432" anchor="ctr">
                    <a:solidFill>
                      <a:srgbClr val="EAF2EF"/>
                    </a:solidFill>
                  </a:tcPr>
                </a:tc>
                <a:tc>
                  <a:txBody>
                    <a:bodyPr wrap="square"/>
                    <a:lstStyle/>
                    <a:p>
                      <a:pPr algn="l"/>
                      <a:r>
                        <a:rPr sz="1200" b="0">
                          <a:solidFill>
                            <a:srgbClr val="1F2A2E"/>
                          </a:solidFill>
                          <a:latin typeface="Calibri"/>
                        </a:rPr>
                        <a:t>Customer rating</a:t>
                      </a:r>
                    </a:p>
                  </a:txBody>
                  <a:tcPr marL="73152" marR="73152" marT="27432" marB="27432" anchor="ctr">
                    <a:solidFill>
                      <a:srgbClr val="EAF2EF"/>
                    </a:solidFill>
                  </a:tcPr>
                </a:tc>
                <a:tc>
                  <a:txBody>
                    <a:bodyPr wrap="square"/>
                    <a:lstStyle/>
                    <a:p>
                      <a:pPr algn="l"/>
                      <a:r>
                        <a:rPr sz="1200" b="0">
                          <a:solidFill>
                            <a:srgbClr val="1F2A2E"/>
                          </a:solidFill>
                          <a:latin typeface="Calibri"/>
                        </a:rPr>
                        <a:t>Customer rating (1–5)</a:t>
                      </a:r>
                    </a:p>
                  </a:txBody>
                  <a:tcPr marL="73152" marR="73152" marT="27432" marB="27432" anchor="ctr">
                    <a:solidFill>
                      <a:srgbClr val="EAF2EF"/>
                    </a:solidFill>
                  </a:tcPr>
                </a:tc>
                <a:tc>
                  <a:txBody>
                    <a:bodyPr wrap="square"/>
                    <a:lstStyle/>
                    <a:p>
                      <a:pPr algn="l"/>
                      <a:r>
                        <a:rPr sz="1200" b="0">
                          <a:solidFill>
                            <a:srgbClr val="1F2A2E"/>
                          </a:solidFill>
                          <a:latin typeface="Calibri"/>
                        </a:rPr>
                        <a:t>LightGBM</a:t>
                      </a:r>
                    </a:p>
                  </a:txBody>
                  <a:tcPr marL="73152" marR="73152" marT="27432" marB="27432" anchor="ctr">
                    <a:solidFill>
                      <a:srgbClr val="EAF2EF"/>
                    </a:solidFill>
                  </a:tcPr>
                </a:tc>
                <a:tc>
                  <a:txBody>
                    <a:bodyPr wrap="square"/>
                    <a:lstStyle/>
                    <a:p>
                      <a:pPr algn="l"/>
                      <a:r>
                        <a:rPr sz="1200" b="0">
                          <a:solidFill>
                            <a:srgbClr val="1F2A2E"/>
                          </a:solidFill>
                          <a:latin typeface="Calibri"/>
                        </a:rPr>
                        <a:t>Regression</a:t>
                      </a:r>
                    </a:p>
                  </a:txBody>
                  <a:tcPr marL="73152" marR="73152" marT="27432" marB="27432" anchor="ctr">
                    <a:solidFill>
                      <a:srgbClr val="EAF2EF"/>
                    </a:solidFill>
                  </a:tcPr>
                </a:tc>
                <a:tc>
                  <a:txBody>
                    <a:bodyPr wrap="square"/>
                    <a:lstStyle/>
                    <a:p>
                      <a:pPr algn="l"/>
                      <a:r>
                        <a:rPr sz="1200" b="0">
                          <a:solidFill>
                            <a:srgbClr val="1F2A2E"/>
                          </a:solidFill>
                          <a:latin typeface="Calibri"/>
                        </a:rPr>
                        <a:t>Training median</a:t>
                      </a:r>
                    </a:p>
                  </a:txBody>
                  <a:tcPr marL="73152" marR="73152" marT="27432" marB="27432" anchor="ctr">
                    <a:solidFill>
                      <a:srgbClr val="EAF2EF"/>
                    </a:solidFill>
                  </a:tcPr>
                </a:tc>
                <a:tc>
                  <a:txBody>
                    <a:bodyPr wrap="square"/>
                    <a:lstStyle/>
                    <a:p>
                      <a:pPr algn="l"/>
                      <a:r>
                        <a:rPr sz="1200" b="0">
                          <a:solidFill>
                            <a:srgbClr val="1F2A2E"/>
                          </a:solidFill>
                          <a:latin typeface="Calibri"/>
                        </a:rPr>
                        <a:t>2,000 / 500</a:t>
                      </a:r>
                    </a:p>
                  </a:txBody>
                  <a:tcPr marL="73152" marR="73152" marT="27432" marB="27432" anchor="ctr">
                    <a:solidFill>
                      <a:srgbClr val="EAF2EF"/>
                    </a:solidFill>
                  </a:tcPr>
                </a:tc>
              </a:tr>
              <a:tr h="566928">
                <a:tc>
                  <a:txBody>
                    <a:bodyPr wrap="square"/>
                    <a:lstStyle/>
                    <a:p>
                      <a:pPr algn="l"/>
                      <a:r>
                        <a:rPr sz="1200" b="1">
                          <a:solidFill>
                            <a:srgbClr val="1F2A2E"/>
                          </a:solidFill>
                          <a:latin typeface="Calibri"/>
                        </a:rPr>
                        <a:t>D2</a:t>
                      </a:r>
                    </a:p>
                  </a:txBody>
                  <a:tcPr marL="73152" marR="73152" marT="27432" marB="27432" anchor="ctr">
                    <a:solidFill>
                      <a:srgbClr val="FFFFFF"/>
                    </a:solidFill>
                  </a:tcPr>
                </a:tc>
                <a:tc>
                  <a:txBody>
                    <a:bodyPr wrap="square"/>
                    <a:lstStyle/>
                    <a:p>
                      <a:pPr algn="l"/>
                      <a:r>
                        <a:rPr sz="1200" b="0">
                          <a:solidFill>
                            <a:srgbClr val="1F2A2E"/>
                          </a:solidFill>
                          <a:latin typeface="Calibri"/>
                        </a:rPr>
                        <a:t>High rating</a:t>
                      </a:r>
                    </a:p>
                  </a:txBody>
                  <a:tcPr marL="73152" marR="73152" marT="27432" marB="27432" anchor="ctr">
                    <a:solidFill>
                      <a:srgbClr val="FFFFFF"/>
                    </a:solidFill>
                  </a:tcPr>
                </a:tc>
                <a:tc>
                  <a:txBody>
                    <a:bodyPr wrap="square"/>
                    <a:lstStyle/>
                    <a:p>
                      <a:pPr algn="l"/>
                      <a:r>
                        <a:rPr sz="1200" b="0">
                          <a:solidFill>
                            <a:srgbClr val="1F2A2E"/>
                          </a:solidFill>
                          <a:latin typeface="Calibri"/>
                        </a:rPr>
                        <a:t>High rating (≥ 4★)</a:t>
                      </a:r>
                    </a:p>
                  </a:txBody>
                  <a:tcPr marL="73152" marR="73152" marT="27432" marB="27432" anchor="ctr">
                    <a:solidFill>
                      <a:srgbClr val="FFFFFF"/>
                    </a:solidFill>
                  </a:tcPr>
                </a:tc>
                <a:tc>
                  <a:txBody>
                    <a:bodyPr wrap="square"/>
                    <a:lstStyle/>
                    <a:p>
                      <a:pPr algn="l"/>
                      <a:r>
                        <a:rPr sz="1200" b="0">
                          <a:solidFill>
                            <a:srgbClr val="1F2A2E"/>
                          </a:solidFill>
                          <a:latin typeface="Calibri"/>
                        </a:rPr>
                        <a:t>LightGBM</a:t>
                      </a:r>
                    </a:p>
                  </a:txBody>
                  <a:tcPr marL="73152" marR="73152" marT="27432" marB="27432" anchor="ctr">
                    <a:solidFill>
                      <a:srgbClr val="FFFFFF"/>
                    </a:solidFill>
                  </a:tcPr>
                </a:tc>
                <a:tc>
                  <a:txBody>
                    <a:bodyPr wrap="square"/>
                    <a:lstStyle/>
                    <a:p>
                      <a:pPr algn="l"/>
                      <a:r>
                        <a:rPr sz="1200" b="0">
                          <a:solidFill>
                            <a:srgbClr val="1F2A2E"/>
                          </a:solidFill>
                          <a:latin typeface="Calibri"/>
                        </a:rPr>
                        <a:t>Classification</a:t>
                      </a:r>
                    </a:p>
                  </a:txBody>
                  <a:tcPr marL="73152" marR="73152" marT="27432" marB="27432" anchor="ctr">
                    <a:solidFill>
                      <a:srgbClr val="FFFFFF"/>
                    </a:solidFill>
                  </a:tcPr>
                </a:tc>
                <a:tc>
                  <a:txBody>
                    <a:bodyPr wrap="square"/>
                    <a:lstStyle/>
                    <a:p>
                      <a:pPr algn="l"/>
                      <a:r>
                        <a:rPr sz="1200" b="0">
                          <a:solidFill>
                            <a:srgbClr val="1F2A2E"/>
                          </a:solidFill>
                          <a:latin typeface="Calibri"/>
                        </a:rPr>
                        <a:t>Majority class</a:t>
                      </a:r>
                    </a:p>
                  </a:txBody>
                  <a:tcPr marL="73152" marR="73152" marT="27432" marB="27432" anchor="ctr">
                    <a:solidFill>
                      <a:srgbClr val="FFFFFF"/>
                    </a:solidFill>
                  </a:tcPr>
                </a:tc>
                <a:tc>
                  <a:txBody>
                    <a:bodyPr wrap="square"/>
                    <a:lstStyle/>
                    <a:p>
                      <a:pPr algn="l"/>
                      <a:r>
                        <a:rPr sz="1200" b="0">
                          <a:solidFill>
                            <a:srgbClr val="1F2A2E"/>
                          </a:solidFill>
                          <a:latin typeface="Calibri"/>
                        </a:rPr>
                        <a:t>2,000 / 500</a:t>
                      </a:r>
                    </a:p>
                  </a:txBody>
                  <a:tcPr marL="73152" marR="73152" marT="27432" marB="27432" anchor="ctr">
                    <a:solidFill>
                      <a:srgbClr val="FFFFFF"/>
                    </a:solidFill>
                  </a:tcPr>
                </a:tc>
              </a:tr>
              <a:tr h="566928">
                <a:tc>
                  <a:txBody>
                    <a:bodyPr wrap="square"/>
                    <a:lstStyle/>
                    <a:p>
                      <a:pPr algn="l"/>
                      <a:r>
                        <a:rPr sz="1200" b="1">
                          <a:solidFill>
                            <a:srgbClr val="1F2A2E"/>
                          </a:solidFill>
                          <a:latin typeface="Calibri"/>
                        </a:rPr>
                        <a:t>E</a:t>
                      </a:r>
                    </a:p>
                  </a:txBody>
                  <a:tcPr marL="73152" marR="73152" marT="27432" marB="27432" anchor="ctr">
                    <a:solidFill>
                      <a:srgbClr val="EAF2EF"/>
                    </a:solidFill>
                  </a:tcPr>
                </a:tc>
                <a:tc>
                  <a:txBody>
                    <a:bodyPr wrap="square"/>
                    <a:lstStyle/>
                    <a:p>
                      <a:pPr algn="l"/>
                      <a:r>
                        <a:rPr sz="1200" b="0">
                          <a:solidFill>
                            <a:srgbClr val="1F2A2E"/>
                          </a:solidFill>
                          <a:latin typeface="Calibri"/>
                        </a:rPr>
                        <a:t>Customer referral</a:t>
                      </a:r>
                    </a:p>
                  </a:txBody>
                  <a:tcPr marL="73152" marR="73152" marT="27432" marB="27432" anchor="ctr">
                    <a:solidFill>
                      <a:srgbClr val="EAF2EF"/>
                    </a:solidFill>
                  </a:tcPr>
                </a:tc>
                <a:tc>
                  <a:txBody>
                    <a:bodyPr wrap="square"/>
                    <a:lstStyle/>
                    <a:p>
                      <a:pPr algn="l"/>
                      <a:r>
                        <a:rPr sz="1200" b="0">
                          <a:solidFill>
                            <a:srgbClr val="1F2A2E"/>
                          </a:solidFill>
                          <a:latin typeface="Calibri"/>
                        </a:rPr>
                        <a:t>Customer referral</a:t>
                      </a:r>
                    </a:p>
                  </a:txBody>
                  <a:tcPr marL="73152" marR="73152" marT="27432" marB="27432" anchor="ctr">
                    <a:solidFill>
                      <a:srgbClr val="EAF2EF"/>
                    </a:solidFill>
                  </a:tcPr>
                </a:tc>
                <a:tc>
                  <a:txBody>
                    <a:bodyPr wrap="square"/>
                    <a:lstStyle/>
                    <a:p>
                      <a:pPr algn="l"/>
                      <a:r>
                        <a:rPr sz="1200" b="0">
                          <a:solidFill>
                            <a:srgbClr val="1F2A2E"/>
                          </a:solidFill>
                          <a:latin typeface="Calibri"/>
                        </a:rPr>
                        <a:t>Logistic regression</a:t>
                      </a:r>
                    </a:p>
                  </a:txBody>
                  <a:tcPr marL="73152" marR="73152" marT="27432" marB="27432" anchor="ctr">
                    <a:solidFill>
                      <a:srgbClr val="EAF2EF"/>
                    </a:solidFill>
                  </a:tcPr>
                </a:tc>
                <a:tc>
                  <a:txBody>
                    <a:bodyPr wrap="square"/>
                    <a:lstStyle/>
                    <a:p>
                      <a:pPr algn="l"/>
                      <a:r>
                        <a:rPr sz="1200" b="0">
                          <a:solidFill>
                            <a:srgbClr val="1F2A2E"/>
                          </a:solidFill>
                          <a:latin typeface="Calibri"/>
                        </a:rPr>
                        <a:t>Classification</a:t>
                      </a:r>
                    </a:p>
                  </a:txBody>
                  <a:tcPr marL="73152" marR="73152" marT="27432" marB="27432" anchor="ctr">
                    <a:solidFill>
                      <a:srgbClr val="EAF2EF"/>
                    </a:solidFill>
                  </a:tcPr>
                </a:tc>
                <a:tc>
                  <a:txBody>
                    <a:bodyPr wrap="square"/>
                    <a:lstStyle/>
                    <a:p>
                      <a:pPr algn="l"/>
                      <a:r>
                        <a:rPr sz="1200" b="0">
                          <a:solidFill>
                            <a:srgbClr val="1F2A2E"/>
                          </a:solidFill>
                          <a:latin typeface="Calibri"/>
                        </a:rPr>
                        <a:t>Majority and all-positive</a:t>
                      </a:r>
                    </a:p>
                  </a:txBody>
                  <a:tcPr marL="73152" marR="73152" marT="27432" marB="27432" anchor="ctr">
                    <a:solidFill>
                      <a:srgbClr val="EAF2EF"/>
                    </a:solidFill>
                  </a:tcPr>
                </a:tc>
                <a:tc>
                  <a:txBody>
                    <a:bodyPr wrap="square"/>
                    <a:lstStyle/>
                    <a:p>
                      <a:pPr algn="l"/>
                      <a:r>
                        <a:rPr sz="1200" b="0">
                          <a:solidFill>
                            <a:srgbClr val="1F2A2E"/>
                          </a:solidFill>
                          <a:latin typeface="Calibri"/>
                        </a:rPr>
                        <a:t>2,000 / 500</a:t>
                      </a:r>
                    </a:p>
                  </a:txBody>
                  <a:tcPr marL="73152" marR="73152" marT="27432" marB="27432" anchor="ctr">
                    <a:solidFill>
                      <a:srgbClr val="EAF2EF"/>
                    </a:solidFill>
                  </a:tcPr>
                </a:tc>
              </a:tr>
            </a:tbl>
          </a:graphicData>
        </a:graphic>
      </p:graphicFrame>
      <p:sp>
        <p:nvSpPr>
          <p:cNvPr id="8" name="TextBox 7"/>
          <p:cNvSpPr txBox="1"/>
          <p:nvPr/>
        </p:nvSpPr>
        <p:spPr>
          <a:xfrm>
            <a:off x="548640" y="5486400"/>
            <a:ext cx="11064240" cy="822960"/>
          </a:xfrm>
          <a:prstGeom prst="rect">
            <a:avLst/>
          </a:prstGeom>
          <a:noFill/>
        </p:spPr>
        <p:txBody>
          <a:bodyPr wrap="square" lIns="45720" rIns="45720" tIns="27432" bIns="27432" anchor="t">
            <a:spAutoFit/>
          </a:bodyPr>
          <a:lstStyle/>
          <a:p>
            <a:pPr algn="l">
              <a:spcAft>
                <a:spcPts val="300"/>
              </a:spcAft>
            </a:pPr>
            <a:r>
              <a:rPr sz="1400" b="1">
                <a:solidFill>
                  <a:srgbClr val="0F4C3A"/>
                </a:solidFill>
                <a:latin typeface="Calibri"/>
              </a:rPr>
              <a:t>Regression </a:t>
            </a:r>
            <a:r>
              <a:rPr sz="1400" b="0">
                <a:solidFill>
                  <a:srgbClr val="1F2A2E"/>
                </a:solidFill>
                <a:latin typeface="Calibri"/>
              </a:rPr>
              <a:t>predicts a number (₹, °C, kWh, stars).  </a:t>
            </a:r>
            <a:r>
              <a:rPr sz="1400" b="1">
                <a:solidFill>
                  <a:srgbClr val="0F4C3A"/>
                </a:solidFill>
                <a:latin typeface="Calibri"/>
              </a:rPr>
              <a:t>Classification </a:t>
            </a:r>
            <a:r>
              <a:rPr sz="1400" b="0">
                <a:solidFill>
                  <a:srgbClr val="1F2A2E"/>
                </a:solidFill>
                <a:latin typeface="Calibri"/>
              </a:rPr>
              <a:t>predicts a yes/no with a probability.</a:t>
            </a:r>
          </a:p>
          <a:p>
            <a:pPr algn="l">
              <a:spcAft>
                <a:spcPts val="300"/>
              </a:spcAft>
            </a:pPr>
            <a:r>
              <a:rPr sz="1400" b="0">
                <a:solidFill>
                  <a:srgbClr val="1F2A2E"/>
                </a:solidFill>
                <a:latin typeface="Calibri"/>
              </a:rPr>
              <a:t>The high-rating threshold of 4 stars is our assumption: the organisers gave no definition (configurable).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EVALUATION METHODOLOGY</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Judged on 500 buildings the models never saw</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docs/model_evaluation.md and docs/model_review.md; paired bootstrap, 2,000 resamples, 95% intervals</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9 / 15</a:t>
            </a:r>
          </a:p>
        </p:txBody>
      </p:sp>
      <p:sp>
        <p:nvSpPr>
          <p:cNvPr id="7" name="Rounded Rectangle 6"/>
          <p:cNvSpPr/>
          <p:nvPr/>
        </p:nvSpPr>
        <p:spPr>
          <a:xfrm>
            <a:off x="548640" y="1417320"/>
            <a:ext cx="3108960" cy="14630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463040"/>
            <a:ext cx="2926080" cy="457200"/>
          </a:xfrm>
          <a:prstGeom prst="rect">
            <a:avLst/>
          </a:prstGeom>
          <a:noFill/>
        </p:spPr>
        <p:txBody>
          <a:bodyPr wrap="square" lIns="45720" rIns="45720" tIns="27432" bIns="27432" anchor="t">
            <a:spAutoFit/>
          </a:bodyPr>
          <a:lstStyle/>
          <a:p>
            <a:pPr algn="l">
              <a:spcAft>
                <a:spcPts val="0"/>
              </a:spcAft>
            </a:pPr>
            <a:r>
              <a:rPr sz="2400" b="1">
                <a:solidFill>
                  <a:srgbClr val="0E7C86"/>
                </a:solidFill>
                <a:latin typeface="Calibri"/>
              </a:rPr>
              <a:t>MAE</a:t>
            </a:r>
          </a:p>
        </p:txBody>
      </p:sp>
      <p:sp>
        <p:nvSpPr>
          <p:cNvPr id="9" name="TextBox 8"/>
          <p:cNvSpPr txBox="1"/>
          <p:nvPr/>
        </p:nvSpPr>
        <p:spPr>
          <a:xfrm>
            <a:off x="658368" y="1965960"/>
            <a:ext cx="2926080" cy="274320"/>
          </a:xfrm>
          <a:prstGeom prst="rect">
            <a:avLst/>
          </a:prstGeom>
          <a:noFill/>
        </p:spPr>
        <p:txBody>
          <a:bodyPr wrap="square" lIns="45720" rIns="45720" tIns="27432" bIns="27432" anchor="t">
            <a:spAutoFit/>
          </a:bodyPr>
          <a:lstStyle/>
          <a:p>
            <a:pPr algn="l">
              <a:spcAft>
                <a:spcPts val="0"/>
              </a:spcAft>
            </a:pPr>
            <a:r>
              <a:rPr sz="1300" b="1">
                <a:solidFill>
                  <a:srgbClr val="0F4C3A"/>
                </a:solidFill>
                <a:latin typeface="Calibri"/>
              </a:rPr>
              <a:t>Mean absolute error</a:t>
            </a:r>
          </a:p>
        </p:txBody>
      </p:sp>
      <p:sp>
        <p:nvSpPr>
          <p:cNvPr id="10" name="TextBox 9"/>
          <p:cNvSpPr txBox="1"/>
          <p:nvPr/>
        </p:nvSpPr>
        <p:spPr>
          <a:xfrm>
            <a:off x="658368" y="2258568"/>
            <a:ext cx="2926080" cy="594360"/>
          </a:xfrm>
          <a:prstGeom prst="rect">
            <a:avLst/>
          </a:prstGeom>
          <a:noFill/>
        </p:spPr>
        <p:txBody>
          <a:bodyPr wrap="square" lIns="45720" rIns="45720" tIns="27432" bIns="27432" anchor="t">
            <a:spAutoFit/>
          </a:bodyPr>
          <a:lstStyle/>
          <a:p>
            <a:pPr algn="l">
              <a:spcAft>
                <a:spcPts val="0"/>
              </a:spcAft>
            </a:pPr>
            <a:r>
              <a:rPr sz="1300" b="0">
                <a:solidFill>
                  <a:srgbClr val="1F2A2E"/>
                </a:solidFill>
                <a:latin typeface="Calibri"/>
              </a:rPr>
              <a:t>Average size of the miss, in the target's own unit</a:t>
            </a:r>
          </a:p>
        </p:txBody>
      </p:sp>
      <p:sp>
        <p:nvSpPr>
          <p:cNvPr id="11" name="Rounded Rectangle 10"/>
          <p:cNvSpPr/>
          <p:nvPr/>
        </p:nvSpPr>
        <p:spPr>
          <a:xfrm>
            <a:off x="3794759" y="1417320"/>
            <a:ext cx="3108960" cy="14630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04487" y="1463040"/>
            <a:ext cx="2926080" cy="457200"/>
          </a:xfrm>
          <a:prstGeom prst="rect">
            <a:avLst/>
          </a:prstGeom>
          <a:noFill/>
        </p:spPr>
        <p:txBody>
          <a:bodyPr wrap="square" lIns="45720" rIns="45720" tIns="27432" bIns="27432" anchor="t">
            <a:spAutoFit/>
          </a:bodyPr>
          <a:lstStyle/>
          <a:p>
            <a:pPr algn="l">
              <a:spcAft>
                <a:spcPts val="0"/>
              </a:spcAft>
            </a:pPr>
            <a:r>
              <a:rPr sz="2400" b="1">
                <a:solidFill>
                  <a:srgbClr val="0E7C86"/>
                </a:solidFill>
                <a:latin typeface="Calibri"/>
              </a:rPr>
              <a:t>RMSE</a:t>
            </a:r>
          </a:p>
        </p:txBody>
      </p:sp>
      <p:sp>
        <p:nvSpPr>
          <p:cNvPr id="13" name="TextBox 12"/>
          <p:cNvSpPr txBox="1"/>
          <p:nvPr/>
        </p:nvSpPr>
        <p:spPr>
          <a:xfrm>
            <a:off x="3904487" y="1965960"/>
            <a:ext cx="2926080" cy="274320"/>
          </a:xfrm>
          <a:prstGeom prst="rect">
            <a:avLst/>
          </a:prstGeom>
          <a:noFill/>
        </p:spPr>
        <p:txBody>
          <a:bodyPr wrap="square" lIns="45720" rIns="45720" tIns="27432" bIns="27432" anchor="t">
            <a:spAutoFit/>
          </a:bodyPr>
          <a:lstStyle/>
          <a:p>
            <a:pPr algn="l">
              <a:spcAft>
                <a:spcPts val="0"/>
              </a:spcAft>
            </a:pPr>
            <a:r>
              <a:rPr sz="1300" b="1">
                <a:solidFill>
                  <a:srgbClr val="0F4C3A"/>
                </a:solidFill>
                <a:latin typeface="Calibri"/>
              </a:rPr>
              <a:t>Root mean squared error</a:t>
            </a:r>
          </a:p>
        </p:txBody>
      </p:sp>
      <p:sp>
        <p:nvSpPr>
          <p:cNvPr id="14" name="TextBox 13"/>
          <p:cNvSpPr txBox="1"/>
          <p:nvPr/>
        </p:nvSpPr>
        <p:spPr>
          <a:xfrm>
            <a:off x="3904487" y="2258568"/>
            <a:ext cx="2926080" cy="594360"/>
          </a:xfrm>
          <a:prstGeom prst="rect">
            <a:avLst/>
          </a:prstGeom>
          <a:noFill/>
        </p:spPr>
        <p:txBody>
          <a:bodyPr wrap="square" lIns="45720" rIns="45720" tIns="27432" bIns="27432" anchor="t">
            <a:spAutoFit/>
          </a:bodyPr>
          <a:lstStyle/>
          <a:p>
            <a:pPr algn="l">
              <a:spcAft>
                <a:spcPts val="0"/>
              </a:spcAft>
            </a:pPr>
            <a:r>
              <a:rPr sz="1300" b="0">
                <a:solidFill>
                  <a:srgbClr val="1F2A2E"/>
                </a:solidFill>
                <a:latin typeface="Calibri"/>
              </a:rPr>
              <a:t>Like MAE, but big misses count more</a:t>
            </a:r>
          </a:p>
        </p:txBody>
      </p:sp>
      <p:sp>
        <p:nvSpPr>
          <p:cNvPr id="15" name="Rounded Rectangle 14"/>
          <p:cNvSpPr/>
          <p:nvPr/>
        </p:nvSpPr>
        <p:spPr>
          <a:xfrm>
            <a:off x="548640" y="3017520"/>
            <a:ext cx="3108960" cy="14630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063239"/>
            <a:ext cx="2926080" cy="457200"/>
          </a:xfrm>
          <a:prstGeom prst="rect">
            <a:avLst/>
          </a:prstGeom>
          <a:noFill/>
        </p:spPr>
        <p:txBody>
          <a:bodyPr wrap="square" lIns="45720" rIns="45720" tIns="27432" bIns="27432" anchor="t">
            <a:spAutoFit/>
          </a:bodyPr>
          <a:lstStyle/>
          <a:p>
            <a:pPr algn="l">
              <a:spcAft>
                <a:spcPts val="0"/>
              </a:spcAft>
            </a:pPr>
            <a:r>
              <a:rPr sz="2400" b="1">
                <a:solidFill>
                  <a:srgbClr val="0E7C86"/>
                </a:solidFill>
                <a:latin typeface="Calibri"/>
              </a:rPr>
              <a:t>Accuracy</a:t>
            </a:r>
          </a:p>
        </p:txBody>
      </p:sp>
      <p:sp>
        <p:nvSpPr>
          <p:cNvPr id="17" name="TextBox 16"/>
          <p:cNvSpPr txBox="1"/>
          <p:nvPr/>
        </p:nvSpPr>
        <p:spPr>
          <a:xfrm>
            <a:off x="658368" y="3566160"/>
            <a:ext cx="2926080" cy="274320"/>
          </a:xfrm>
          <a:prstGeom prst="rect">
            <a:avLst/>
          </a:prstGeom>
          <a:noFill/>
        </p:spPr>
        <p:txBody>
          <a:bodyPr wrap="square" lIns="45720" rIns="45720" tIns="27432" bIns="27432" anchor="t">
            <a:spAutoFit/>
          </a:bodyPr>
          <a:lstStyle/>
          <a:p>
            <a:pPr algn="l">
              <a:spcAft>
                <a:spcPts val="0"/>
              </a:spcAft>
            </a:pPr>
            <a:r>
              <a:rPr sz="1300" b="1">
                <a:solidFill>
                  <a:srgbClr val="0F4C3A"/>
                </a:solidFill>
                <a:latin typeface="Calibri"/>
              </a:rPr>
              <a:t>Share correct</a:t>
            </a:r>
          </a:p>
        </p:txBody>
      </p:sp>
      <p:sp>
        <p:nvSpPr>
          <p:cNvPr id="18" name="TextBox 17"/>
          <p:cNvSpPr txBox="1"/>
          <p:nvPr/>
        </p:nvSpPr>
        <p:spPr>
          <a:xfrm>
            <a:off x="658368" y="3858768"/>
            <a:ext cx="2926080" cy="594360"/>
          </a:xfrm>
          <a:prstGeom prst="rect">
            <a:avLst/>
          </a:prstGeom>
          <a:noFill/>
        </p:spPr>
        <p:txBody>
          <a:bodyPr wrap="square" lIns="45720" rIns="45720" tIns="27432" bIns="27432" anchor="t">
            <a:spAutoFit/>
          </a:bodyPr>
          <a:lstStyle/>
          <a:p>
            <a:pPr algn="l">
              <a:spcAft>
                <a:spcPts val="0"/>
              </a:spcAft>
            </a:pPr>
            <a:r>
              <a:rPr sz="1300" b="0">
                <a:solidFill>
                  <a:srgbClr val="1F2A2E"/>
                </a:solidFill>
                <a:latin typeface="Calibri"/>
              </a:rPr>
              <a:t>Misleading when one class dominates</a:t>
            </a:r>
          </a:p>
        </p:txBody>
      </p:sp>
      <p:sp>
        <p:nvSpPr>
          <p:cNvPr id="19" name="Rounded Rectangle 18"/>
          <p:cNvSpPr/>
          <p:nvPr/>
        </p:nvSpPr>
        <p:spPr>
          <a:xfrm>
            <a:off x="3794759" y="3017520"/>
            <a:ext cx="3108960" cy="146304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04487" y="3063239"/>
            <a:ext cx="2926080" cy="457200"/>
          </a:xfrm>
          <a:prstGeom prst="rect">
            <a:avLst/>
          </a:prstGeom>
          <a:noFill/>
        </p:spPr>
        <p:txBody>
          <a:bodyPr wrap="square" lIns="45720" rIns="45720" tIns="27432" bIns="27432" anchor="t">
            <a:spAutoFit/>
          </a:bodyPr>
          <a:lstStyle/>
          <a:p>
            <a:pPr algn="l">
              <a:spcAft>
                <a:spcPts val="0"/>
              </a:spcAft>
            </a:pPr>
            <a:r>
              <a:rPr sz="2400" b="1">
                <a:solidFill>
                  <a:srgbClr val="0E7C86"/>
                </a:solidFill>
                <a:latin typeface="Calibri"/>
              </a:rPr>
              <a:t>F1</a:t>
            </a:r>
          </a:p>
        </p:txBody>
      </p:sp>
      <p:sp>
        <p:nvSpPr>
          <p:cNvPr id="21" name="TextBox 20"/>
          <p:cNvSpPr txBox="1"/>
          <p:nvPr/>
        </p:nvSpPr>
        <p:spPr>
          <a:xfrm>
            <a:off x="3904487" y="3566160"/>
            <a:ext cx="2926080" cy="274320"/>
          </a:xfrm>
          <a:prstGeom prst="rect">
            <a:avLst/>
          </a:prstGeom>
          <a:noFill/>
        </p:spPr>
        <p:txBody>
          <a:bodyPr wrap="square" lIns="45720" rIns="45720" tIns="27432" bIns="27432" anchor="t">
            <a:spAutoFit/>
          </a:bodyPr>
          <a:lstStyle/>
          <a:p>
            <a:pPr algn="l">
              <a:spcAft>
                <a:spcPts val="0"/>
              </a:spcAft>
            </a:pPr>
            <a:r>
              <a:rPr sz="1300" b="1">
                <a:solidFill>
                  <a:srgbClr val="0F4C3A"/>
                </a:solidFill>
                <a:latin typeface="Calibri"/>
              </a:rPr>
              <a:t>Precision × recall balance</a:t>
            </a:r>
          </a:p>
        </p:txBody>
      </p:sp>
      <p:sp>
        <p:nvSpPr>
          <p:cNvPr id="22" name="TextBox 21"/>
          <p:cNvSpPr txBox="1"/>
          <p:nvPr/>
        </p:nvSpPr>
        <p:spPr>
          <a:xfrm>
            <a:off x="3904487" y="3858768"/>
            <a:ext cx="2926080" cy="594360"/>
          </a:xfrm>
          <a:prstGeom prst="rect">
            <a:avLst/>
          </a:prstGeom>
          <a:noFill/>
        </p:spPr>
        <p:txBody>
          <a:bodyPr wrap="square" lIns="45720" rIns="45720" tIns="27432" bIns="27432" anchor="t">
            <a:spAutoFit/>
          </a:bodyPr>
          <a:lstStyle/>
          <a:p>
            <a:pPr algn="l">
              <a:spcAft>
                <a:spcPts val="0"/>
              </a:spcAft>
            </a:pPr>
            <a:r>
              <a:rPr sz="1300" b="0">
                <a:solidFill>
                  <a:srgbClr val="1F2A2E"/>
                </a:solidFill>
                <a:latin typeface="Calibri"/>
              </a:rPr>
              <a:t>Matters for the rarer class, e.g. referrals</a:t>
            </a:r>
          </a:p>
        </p:txBody>
      </p:sp>
      <p:sp>
        <p:nvSpPr>
          <p:cNvPr id="23" name="TextBox 22"/>
          <p:cNvSpPr txBox="1"/>
          <p:nvPr/>
        </p:nvSpPr>
        <p:spPr>
          <a:xfrm>
            <a:off x="548640" y="4663440"/>
            <a:ext cx="6355080" cy="320040"/>
          </a:xfrm>
          <a:prstGeom prst="rect">
            <a:avLst/>
          </a:prstGeom>
          <a:noFill/>
        </p:spPr>
        <p:txBody>
          <a:bodyPr wrap="square" lIns="45720" rIns="45720" tIns="27432" bIns="27432" anchor="t">
            <a:spAutoFit/>
          </a:bodyPr>
          <a:lstStyle/>
          <a:p>
            <a:pPr algn="l">
              <a:spcAft>
                <a:spcPts val="0"/>
              </a:spcAft>
            </a:pPr>
            <a:r>
              <a:rPr sz="1300" b="0">
                <a:solidFill>
                  <a:srgbClr val="5F6E73"/>
                </a:solidFill>
                <a:latin typeface="Calibri"/>
              </a:rPr>
              <a:t>Precision = flagged who truly are · Recall = true cases we catch · AUC = ranking skill (0.5 = chance)</a:t>
            </a:r>
          </a:p>
        </p:txBody>
      </p:sp>
      <p:sp>
        <p:nvSpPr>
          <p:cNvPr id="24" name="Rounded Rectangle 23"/>
          <p:cNvSpPr/>
          <p:nvPr/>
        </p:nvSpPr>
        <p:spPr>
          <a:xfrm>
            <a:off x="7223760" y="1417320"/>
            <a:ext cx="4389120" cy="4846320"/>
          </a:xfrm>
          <a:prstGeom prst="roundRect">
            <a:avLst>
              <a:gd name="adj" fmla="val 6000"/>
            </a:avLst>
          </a:prstGeom>
          <a:solidFill>
            <a:srgbClr val="F3F4F4"/>
          </a:solidFill>
          <a:ln w="15875">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0920" y="1481328"/>
            <a:ext cx="4114800" cy="365760"/>
          </a:xfrm>
          <a:prstGeom prst="rect">
            <a:avLst/>
          </a:prstGeom>
          <a:noFill/>
        </p:spPr>
        <p:txBody>
          <a:bodyPr wrap="square" lIns="45720" rIns="45720" tIns="27432" bIns="27432" anchor="t">
            <a:spAutoFit/>
          </a:bodyPr>
          <a:lstStyle/>
          <a:p>
            <a:pPr algn="l">
              <a:spcAft>
                <a:spcPts val="0"/>
              </a:spcAft>
            </a:pPr>
            <a:r>
              <a:rPr sz="1800" b="1">
                <a:solidFill>
                  <a:srgbClr val="0F4C3A"/>
                </a:solidFill>
                <a:latin typeface="Calibri"/>
              </a:rPr>
              <a:t>How we kept it honest</a:t>
            </a:r>
          </a:p>
        </p:txBody>
      </p:sp>
      <p:sp>
        <p:nvSpPr>
          <p:cNvPr id="26" name="TextBox 25"/>
          <p:cNvSpPr txBox="1"/>
          <p:nvPr/>
        </p:nvSpPr>
        <p:spPr>
          <a:xfrm>
            <a:off x="7360920" y="1920240"/>
            <a:ext cx="4160520" cy="4297680"/>
          </a:xfrm>
          <a:prstGeom prst="rect">
            <a:avLst/>
          </a:prstGeom>
          <a:noFill/>
        </p:spPr>
        <p:txBody>
          <a:bodyPr wrap="square" lIns="45720" rIns="45720" tIns="27432" bIns="27432" anchor="t">
            <a:spAutoFit/>
          </a:bodyPr>
          <a:lstStyle/>
          <a:p>
            <a:pPr algn="l">
              <a:spcAft>
                <a:spcPts val="700"/>
              </a:spcAft>
            </a:pPr>
            <a:r>
              <a:rPr sz="1400" b="1">
                <a:solidFill>
                  <a:srgbClr val="0E7C86"/>
                </a:solidFill>
                <a:latin typeface="Calibri"/>
              </a:rPr>
              <a:t>1  </a:t>
            </a:r>
            <a:r>
              <a:rPr sz="1400" b="0">
                <a:solidFill>
                  <a:srgbClr val="1F2A2E"/>
                </a:solidFill>
                <a:latin typeface="Calibri"/>
              </a:rPr>
              <a:t>500-building hold-out fixed before modelling, scored once</a:t>
            </a:r>
          </a:p>
          <a:p>
            <a:pPr algn="l">
              <a:spcAft>
                <a:spcPts val="700"/>
              </a:spcAft>
            </a:pPr>
            <a:r>
              <a:rPr sz="1400" b="1">
                <a:solidFill>
                  <a:srgbClr val="0E7C86"/>
                </a:solidFill>
                <a:latin typeface="Calibri"/>
              </a:rPr>
              <a:t>2  </a:t>
            </a:r>
            <a:r>
              <a:rPr sz="1400" b="0">
                <a:solidFill>
                  <a:srgbClr val="1F2A2E"/>
                </a:solidFill>
                <a:latin typeface="Calibri"/>
              </a:rPr>
              <a:t>Tuning and selection by 5-fold CV on the rest</a:t>
            </a:r>
          </a:p>
          <a:p>
            <a:pPr algn="l">
              <a:spcAft>
                <a:spcPts val="700"/>
              </a:spcAft>
            </a:pPr>
            <a:r>
              <a:rPr sz="1400" b="1">
                <a:solidFill>
                  <a:srgbClr val="0E7C86"/>
                </a:solidFill>
                <a:latin typeface="Calibri"/>
              </a:rPr>
              <a:t>3  </a:t>
            </a:r>
            <a:r>
              <a:rPr sz="1400" b="0">
                <a:solidFill>
                  <a:srgbClr val="1F2A2E"/>
                </a:solidFill>
                <a:latin typeface="Calibri"/>
              </a:rPr>
              <a:t>Baselines declared first: training mean (median for rating); majority class and 'everyone positive' for classifiers</a:t>
            </a:r>
          </a:p>
          <a:p>
            <a:pPr algn="l">
              <a:spcAft>
                <a:spcPts val="700"/>
              </a:spcAft>
            </a:pPr>
            <a:r>
              <a:rPr sz="1400" b="1">
                <a:solidFill>
                  <a:srgbClr val="0E7C86"/>
                </a:solidFill>
                <a:latin typeface="Calibri"/>
              </a:rPr>
              <a:t>4  </a:t>
            </a:r>
            <a:r>
              <a:rPr sz="1400" b="0">
                <a:solidFill>
                  <a:srgbClr val="1F2A2E"/>
                </a:solidFill>
                <a:latin typeface="Calibri"/>
              </a:rPr>
              <a:t>'Better' only if the paired-bootstrap 95% CI excludes 0</a:t>
            </a:r>
          </a:p>
          <a:p>
            <a:pPr algn="l">
              <a:spcAft>
                <a:spcPts val="700"/>
              </a:spcAft>
            </a:pPr>
            <a:r>
              <a:rPr sz="1400" b="1">
                <a:solidFill>
                  <a:srgbClr val="0E7C86"/>
                </a:solidFill>
                <a:latin typeface="Calibri"/>
              </a:rPr>
              <a:t>5  </a:t>
            </a:r>
            <a:r>
              <a:rPr sz="1400" b="0">
                <a:solidFill>
                  <a:srgbClr val="1F2A2E"/>
                </a:solidFill>
                <a:latin typeface="Calibri"/>
              </a:rPr>
              <a:t>Independent review recomputed every metric and replicated the selection on never-explored rows</a:t>
            </a:r>
          </a:p>
        </p:txBody>
      </p:sp>
      <p:sp>
        <p:nvSpPr>
          <p:cNvPr id="27" name="TextBox 26"/>
          <p:cNvSpPr txBox="1"/>
          <p:nvPr/>
        </p:nvSpPr>
        <p:spPr>
          <a:xfrm>
            <a:off x="548640" y="5074920"/>
            <a:ext cx="6355080" cy="1188720"/>
          </a:xfrm>
          <a:prstGeom prst="rect">
            <a:avLst/>
          </a:prstGeom>
          <a:noFill/>
        </p:spPr>
        <p:txBody>
          <a:bodyPr wrap="square" lIns="45720" rIns="45720" tIns="27432" bIns="27432" anchor="t">
            <a:spAutoFit/>
          </a:bodyPr>
          <a:lstStyle/>
          <a:p>
            <a:pPr algn="l">
              <a:spcAft>
                <a:spcPts val="0"/>
              </a:spcAft>
            </a:pPr>
            <a:r>
              <a:rPr sz="1400" b="1">
                <a:solidFill>
                  <a:srgbClr val="0F4C3A"/>
                </a:solidFill>
                <a:latin typeface="Calibri"/>
              </a:rPr>
              <a:t>Same split everywhere: </a:t>
            </a:r>
            <a:r>
              <a:rPr sz="1400" b="0">
                <a:solidFill>
                  <a:srgbClr val="1F2A2E"/>
                </a:solidFill>
                <a:latin typeface="Calibri"/>
              </a:rPr>
              <a:t>models and their baselines are scored on the identical hold-out rows, so comparisons are direct.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RESULTS: REGRESSION</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Regression models cut error 4–25× versus a mean baseline</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models/model_metadata.json (hold-out n = 493 / 486 / 494); each chart has its own unit and scale</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10 / 15</a:t>
            </a:r>
          </a:p>
        </p:txBody>
      </p:sp>
      <p:graphicFrame>
        <p:nvGraphicFramePr>
          <p:cNvPr id="7" name="Chart 6"/>
          <p:cNvGraphicFramePr>
            <a:graphicFrameLocks noGrp="1"/>
          </p:cNvGraphicFramePr>
          <p:nvPr/>
        </p:nvGraphicFramePr>
        <p:xfrm>
          <a:off x="548640" y="1371600"/>
          <a:ext cx="3611880" cy="2743200"/>
        </p:xfrm>
        <a:graphic>
          <a:graphicData uri="http://schemas.openxmlformats.org/drawingml/2006/chart">
            <c:chart xmlns:c="http://schemas.openxmlformats.org/drawingml/2006/chart" r:id="rId3"/>
          </a:graphicData>
        </a:graphic>
      </p:graphicFrame>
      <p:graphicFrame>
        <p:nvGraphicFramePr>
          <p:cNvPr id="8" name="Chart 7"/>
          <p:cNvGraphicFramePr>
            <a:graphicFrameLocks noGrp="1"/>
          </p:cNvGraphicFramePr>
          <p:nvPr/>
        </p:nvGraphicFramePr>
        <p:xfrm>
          <a:off x="4297680" y="1371600"/>
          <a:ext cx="3611880" cy="2743200"/>
        </p:xfrm>
        <a:graphic>
          <a:graphicData uri="http://schemas.openxmlformats.org/drawingml/2006/chart">
            <c:chart xmlns:c="http://schemas.openxmlformats.org/drawingml/2006/chart" r:id="rId4"/>
          </a:graphicData>
        </a:graphic>
      </p:graphicFrame>
      <p:graphicFrame>
        <p:nvGraphicFramePr>
          <p:cNvPr id="9" name="Chart 8"/>
          <p:cNvGraphicFramePr>
            <a:graphicFrameLocks noGrp="1"/>
          </p:cNvGraphicFramePr>
          <p:nvPr/>
        </p:nvGraphicFramePr>
        <p:xfrm>
          <a:off x="8046720" y="1371600"/>
          <a:ext cx="3566160" cy="2743200"/>
        </p:xfrm>
        <a:graphic>
          <a:graphicData uri="http://schemas.openxmlformats.org/drawingml/2006/chart">
            <c:chart xmlns:c="http://schemas.openxmlformats.org/drawingml/2006/chart" r:id="rId5"/>
          </a:graphicData>
        </a:graphic>
      </p:graphicFrame>
      <p:graphicFrame>
        <p:nvGraphicFramePr>
          <p:cNvPr id="10" name="Table 9"/>
          <p:cNvGraphicFramePr>
            <a:graphicFrameLocks noGrp="1"/>
          </p:cNvGraphicFramePr>
          <p:nvPr/>
        </p:nvGraphicFramePr>
        <p:xfrm>
          <a:off x="548640" y="4251960"/>
          <a:ext cx="6949440" cy="1645920"/>
        </p:xfrm>
        <a:graphic>
          <a:graphicData uri="http://schemas.openxmlformats.org/drawingml/2006/table">
            <a:tbl>
              <a:tblPr firstRow="1" bandRow="1">
                <a:tableStyleId>{5C22544A-7EE6-4342-B048-85BDC9FD1C3A}</a:tableStyleId>
              </a:tblPr>
              <a:tblGrid>
                <a:gridCol w="1371600"/>
                <a:gridCol w="1828800"/>
                <a:gridCol w="1005840"/>
                <a:gridCol w="1005840"/>
                <a:gridCol w="502920"/>
                <a:gridCol w="1234440"/>
              </a:tblGrid>
              <a:tr h="411480">
                <a:tc>
                  <a:txBody>
                    <a:bodyPr wrap="square"/>
                    <a:lstStyle/>
                    <a:p>
                      <a:pPr algn="l"/>
                      <a:r>
                        <a:rPr sz="1200" b="1">
                          <a:solidFill>
                            <a:srgbClr val="FFFFFF"/>
                          </a:solidFill>
                          <a:latin typeface="Calibri"/>
                        </a:rPr>
                        <a:t>Task</a:t>
                      </a:r>
                    </a:p>
                  </a:txBody>
                  <a:tcPr marL="73152" marR="73152" marT="27432" marB="27432" anchor="ctr">
                    <a:solidFill>
                      <a:srgbClr val="0F4C3A"/>
                    </a:solidFill>
                  </a:tcPr>
                </a:tc>
                <a:tc>
                  <a:txBody>
                    <a:bodyPr wrap="square"/>
                    <a:lstStyle/>
                    <a:p>
                      <a:pPr algn="l"/>
                      <a:r>
                        <a:rPr sz="1200" b="1">
                          <a:solidFill>
                            <a:srgbClr val="FFFFFF"/>
                          </a:solidFill>
                          <a:latin typeface="Calibri"/>
                        </a:rPr>
                        <a:t>Selected model</a:t>
                      </a:r>
                    </a:p>
                  </a:txBody>
                  <a:tcPr marL="73152" marR="73152" marT="27432" marB="27432" anchor="ctr">
                    <a:solidFill>
                      <a:srgbClr val="0F4C3A"/>
                    </a:solidFill>
                  </a:tcPr>
                </a:tc>
                <a:tc>
                  <a:txBody>
                    <a:bodyPr wrap="square"/>
                    <a:lstStyle/>
                    <a:p>
                      <a:pPr algn="l"/>
                      <a:r>
                        <a:rPr sz="1200" b="1">
                          <a:solidFill>
                            <a:srgbClr val="FFFFFF"/>
                          </a:solidFill>
                          <a:latin typeface="Calibri"/>
                        </a:rPr>
                        <a:t>MAE</a:t>
                      </a:r>
                    </a:p>
                  </a:txBody>
                  <a:tcPr marL="73152" marR="73152" marT="27432" marB="27432" anchor="ctr">
                    <a:solidFill>
                      <a:srgbClr val="0F4C3A"/>
                    </a:solidFill>
                  </a:tcPr>
                </a:tc>
                <a:tc>
                  <a:txBody>
                    <a:bodyPr wrap="square"/>
                    <a:lstStyle/>
                    <a:p>
                      <a:pPr algn="l"/>
                      <a:r>
                        <a:rPr sz="1200" b="1">
                          <a:solidFill>
                            <a:srgbClr val="FFFFFF"/>
                          </a:solidFill>
                          <a:latin typeface="Calibri"/>
                        </a:rPr>
                        <a:t>RMSE</a:t>
                      </a:r>
                    </a:p>
                  </a:txBody>
                  <a:tcPr marL="73152" marR="73152" marT="27432" marB="27432" anchor="ctr">
                    <a:solidFill>
                      <a:srgbClr val="0F4C3A"/>
                    </a:solidFill>
                  </a:tcPr>
                </a:tc>
                <a:tc>
                  <a:txBody>
                    <a:bodyPr wrap="square"/>
                    <a:lstStyle/>
                    <a:p>
                      <a:pPr algn="l"/>
                      <a:r>
                        <a:rPr sz="1200" b="1">
                          <a:solidFill>
                            <a:srgbClr val="FFFFFF"/>
                          </a:solidFill>
                          <a:latin typeface="Calibri"/>
                        </a:rPr>
                        <a:t>R²</a:t>
                      </a:r>
                    </a:p>
                  </a:txBody>
                  <a:tcPr marL="73152" marR="73152" marT="27432" marB="27432" anchor="ctr">
                    <a:solidFill>
                      <a:srgbClr val="0F4C3A"/>
                    </a:solidFill>
                  </a:tcPr>
                </a:tc>
                <a:tc>
                  <a:txBody>
                    <a:bodyPr wrap="square"/>
                    <a:lstStyle/>
                    <a:p>
                      <a:pPr algn="l"/>
                      <a:r>
                        <a:rPr sz="1200" b="1">
                          <a:solidFill>
                            <a:srgbClr val="FFFFFF"/>
                          </a:solidFill>
                          <a:latin typeface="Calibri"/>
                        </a:rPr>
                        <a:t>Baseline MAE</a:t>
                      </a:r>
                    </a:p>
                  </a:txBody>
                  <a:tcPr marL="73152" marR="73152" marT="27432" marB="27432" anchor="ctr">
                    <a:solidFill>
                      <a:srgbClr val="0F4C3A"/>
                    </a:solidFill>
                  </a:tcPr>
                </a:tc>
              </a:tr>
              <a:tr h="411480">
                <a:tc>
                  <a:txBody>
                    <a:bodyPr wrap="square"/>
                    <a:lstStyle/>
                    <a:p>
                      <a:pPr algn="l"/>
                      <a:r>
                        <a:rPr sz="1200" b="1">
                          <a:solidFill>
                            <a:srgbClr val="1F2A2E"/>
                          </a:solidFill>
                          <a:latin typeface="Calibri"/>
                        </a:rPr>
                        <a:t>Cost</a:t>
                      </a:r>
                    </a:p>
                  </a:txBody>
                  <a:tcPr marL="73152" marR="73152" marT="27432" marB="27432" anchor="ctr">
                    <a:solidFill>
                      <a:srgbClr val="FFFFFF"/>
                    </a:solidFill>
                  </a:tcPr>
                </a:tc>
                <a:tc>
                  <a:txBody>
                    <a:bodyPr wrap="square"/>
                    <a:lstStyle/>
                    <a:p>
                      <a:pPr algn="l"/>
                      <a:r>
                        <a:rPr sz="1200" b="0">
                          <a:solidFill>
                            <a:srgbClr val="1F2A2E"/>
                          </a:solidFill>
                          <a:latin typeface="Calibri"/>
                        </a:rPr>
                        <a:t>Log-linear ridge</a:t>
                      </a:r>
                    </a:p>
                  </a:txBody>
                  <a:tcPr marL="73152" marR="73152" marT="27432" marB="27432" anchor="ctr">
                    <a:solidFill>
                      <a:srgbClr val="FFFFFF"/>
                    </a:solidFill>
                  </a:tcPr>
                </a:tc>
                <a:tc>
                  <a:txBody>
                    <a:bodyPr wrap="square"/>
                    <a:lstStyle/>
                    <a:p>
                      <a:pPr algn="l"/>
                      <a:r>
                        <a:rPr sz="1200" b="0">
                          <a:solidFill>
                            <a:srgbClr val="1F2A2E"/>
                          </a:solidFill>
                          <a:latin typeface="Calibri"/>
                        </a:rPr>
                        <a:t>₹25,299</a:t>
                      </a:r>
                    </a:p>
                  </a:txBody>
                  <a:tcPr marL="73152" marR="73152" marT="27432" marB="27432" anchor="ctr">
                    <a:solidFill>
                      <a:srgbClr val="FFFFFF"/>
                    </a:solidFill>
                  </a:tcPr>
                </a:tc>
                <a:tc>
                  <a:txBody>
                    <a:bodyPr wrap="square"/>
                    <a:lstStyle/>
                    <a:p>
                      <a:pPr algn="l"/>
                      <a:r>
                        <a:rPr sz="1200" b="0">
                          <a:solidFill>
                            <a:srgbClr val="1F2A2E"/>
                          </a:solidFill>
                          <a:latin typeface="Calibri"/>
                        </a:rPr>
                        <a:t>₹38,515</a:t>
                      </a:r>
                    </a:p>
                  </a:txBody>
                  <a:tcPr marL="73152" marR="73152" marT="27432" marB="27432" anchor="ctr">
                    <a:solidFill>
                      <a:srgbClr val="FFFFFF"/>
                    </a:solidFill>
                  </a:tcPr>
                </a:tc>
                <a:tc>
                  <a:txBody>
                    <a:bodyPr wrap="square"/>
                    <a:lstStyle/>
                    <a:p>
                      <a:pPr algn="l"/>
                      <a:r>
                        <a:rPr sz="1200" b="0">
                          <a:solidFill>
                            <a:srgbClr val="1F2A2E"/>
                          </a:solidFill>
                          <a:latin typeface="Calibri"/>
                        </a:rPr>
                        <a:t>0.998</a:t>
                      </a:r>
                    </a:p>
                  </a:txBody>
                  <a:tcPr marL="73152" marR="73152" marT="27432" marB="27432" anchor="ctr">
                    <a:solidFill>
                      <a:srgbClr val="FFFFFF"/>
                    </a:solidFill>
                  </a:tcPr>
                </a:tc>
                <a:tc>
                  <a:txBody>
                    <a:bodyPr wrap="square"/>
                    <a:lstStyle/>
                    <a:p>
                      <a:pPr algn="l"/>
                      <a:r>
                        <a:rPr sz="1200" b="0">
                          <a:solidFill>
                            <a:srgbClr val="1F2A2E"/>
                          </a:solidFill>
                          <a:latin typeface="Calibri"/>
                        </a:rPr>
                        <a:t>₹637,024</a:t>
                      </a:r>
                    </a:p>
                  </a:txBody>
                  <a:tcPr marL="73152" marR="73152" marT="27432" marB="27432" anchor="ctr">
                    <a:solidFill>
                      <a:srgbClr val="FFFFFF"/>
                    </a:solidFill>
                  </a:tcPr>
                </a:tc>
              </a:tr>
              <a:tr h="411480">
                <a:tc>
                  <a:txBody>
                    <a:bodyPr wrap="square"/>
                    <a:lstStyle/>
                    <a:p>
                      <a:pPr algn="l"/>
                      <a:r>
                        <a:rPr sz="1200" b="1">
                          <a:solidFill>
                            <a:srgbClr val="1F2A2E"/>
                          </a:solidFill>
                          <a:latin typeface="Calibri"/>
                        </a:rPr>
                        <a:t>Temperature drop</a:t>
                      </a:r>
                    </a:p>
                  </a:txBody>
                  <a:tcPr marL="73152" marR="73152" marT="27432" marB="27432" anchor="ctr">
                    <a:solidFill>
                      <a:srgbClr val="EAF2EF"/>
                    </a:solidFill>
                  </a:tcPr>
                </a:tc>
                <a:tc>
                  <a:txBody>
                    <a:bodyPr wrap="square"/>
                    <a:lstStyle/>
                    <a:p>
                      <a:pPr algn="l"/>
                      <a:r>
                        <a:rPr sz="1200" b="0">
                          <a:solidFill>
                            <a:srgbClr val="1F2A2E"/>
                          </a:solidFill>
                          <a:latin typeface="Calibri"/>
                        </a:rPr>
                        <a:t>LightGBM (ratio target)</a:t>
                      </a:r>
                    </a:p>
                  </a:txBody>
                  <a:tcPr marL="73152" marR="73152" marT="27432" marB="27432" anchor="ctr">
                    <a:solidFill>
                      <a:srgbClr val="EAF2EF"/>
                    </a:solidFill>
                  </a:tcPr>
                </a:tc>
                <a:tc>
                  <a:txBody>
                    <a:bodyPr wrap="square"/>
                    <a:lstStyle/>
                    <a:p>
                      <a:pPr algn="l"/>
                      <a:r>
                        <a:rPr sz="1200" b="0">
                          <a:solidFill>
                            <a:srgbClr val="1F2A2E"/>
                          </a:solidFill>
                          <a:latin typeface="Calibri"/>
                        </a:rPr>
                        <a:t>0.41 °C</a:t>
                      </a:r>
                    </a:p>
                  </a:txBody>
                  <a:tcPr marL="73152" marR="73152" marT="27432" marB="27432" anchor="ctr">
                    <a:solidFill>
                      <a:srgbClr val="EAF2EF"/>
                    </a:solidFill>
                  </a:tcPr>
                </a:tc>
                <a:tc>
                  <a:txBody>
                    <a:bodyPr wrap="square"/>
                    <a:lstStyle/>
                    <a:p>
                      <a:pPr algn="l"/>
                      <a:r>
                        <a:rPr sz="1200" b="0">
                          <a:solidFill>
                            <a:srgbClr val="1F2A2E"/>
                          </a:solidFill>
                          <a:latin typeface="Calibri"/>
                        </a:rPr>
                        <a:t>0.51 °C</a:t>
                      </a:r>
                    </a:p>
                  </a:txBody>
                  <a:tcPr marL="73152" marR="73152" marT="27432" marB="27432" anchor="ctr">
                    <a:solidFill>
                      <a:srgbClr val="EAF2EF"/>
                    </a:solidFill>
                  </a:tcPr>
                </a:tc>
                <a:tc>
                  <a:txBody>
                    <a:bodyPr wrap="square"/>
                    <a:lstStyle/>
                    <a:p>
                      <a:pPr algn="l"/>
                      <a:r>
                        <a:rPr sz="1200" b="0">
                          <a:solidFill>
                            <a:srgbClr val="1F2A2E"/>
                          </a:solidFill>
                          <a:latin typeface="Calibri"/>
                        </a:rPr>
                        <a:t>0.948</a:t>
                      </a:r>
                    </a:p>
                  </a:txBody>
                  <a:tcPr marL="73152" marR="73152" marT="27432" marB="27432" anchor="ctr">
                    <a:solidFill>
                      <a:srgbClr val="EAF2EF"/>
                    </a:solidFill>
                  </a:tcPr>
                </a:tc>
                <a:tc>
                  <a:txBody>
                    <a:bodyPr wrap="square"/>
                    <a:lstStyle/>
                    <a:p>
                      <a:pPr algn="l"/>
                      <a:r>
                        <a:rPr sz="1200" b="0">
                          <a:solidFill>
                            <a:srgbClr val="1F2A2E"/>
                          </a:solidFill>
                          <a:latin typeface="Calibri"/>
                        </a:rPr>
                        <a:t>1.80 °C</a:t>
                      </a:r>
                    </a:p>
                  </a:txBody>
                  <a:tcPr marL="73152" marR="73152" marT="27432" marB="27432" anchor="ctr">
                    <a:solidFill>
                      <a:srgbClr val="EAF2EF"/>
                    </a:solidFill>
                  </a:tcPr>
                </a:tc>
              </a:tr>
              <a:tr h="411480">
                <a:tc>
                  <a:txBody>
                    <a:bodyPr wrap="square"/>
                    <a:lstStyle/>
                    <a:p>
                      <a:pPr algn="l"/>
                      <a:r>
                        <a:rPr sz="1200" b="1">
                          <a:solidFill>
                            <a:srgbClr val="1F2A2E"/>
                          </a:solidFill>
                          <a:latin typeface="Calibri"/>
                        </a:rPr>
                        <a:t>Electricity saved</a:t>
                      </a:r>
                    </a:p>
                  </a:txBody>
                  <a:tcPr marL="73152" marR="73152" marT="27432" marB="27432" anchor="ctr">
                    <a:solidFill>
                      <a:srgbClr val="FFFFFF"/>
                    </a:solidFill>
                  </a:tcPr>
                </a:tc>
                <a:tc>
                  <a:txBody>
                    <a:bodyPr wrap="square"/>
                    <a:lstStyle/>
                    <a:p>
                      <a:pPr algn="l"/>
                      <a:r>
                        <a:rPr sz="1200" b="0">
                          <a:solidFill>
                            <a:srgbClr val="1F2A2E"/>
                          </a:solidFill>
                          <a:latin typeface="Calibri"/>
                        </a:rPr>
                        <a:t>LightGBM (ratio target)</a:t>
                      </a:r>
                    </a:p>
                  </a:txBody>
                  <a:tcPr marL="73152" marR="73152" marT="27432" marB="27432" anchor="ctr">
                    <a:solidFill>
                      <a:srgbClr val="FFFFFF"/>
                    </a:solidFill>
                  </a:tcPr>
                </a:tc>
                <a:tc>
                  <a:txBody>
                    <a:bodyPr wrap="square"/>
                    <a:lstStyle/>
                    <a:p>
                      <a:pPr algn="l"/>
                      <a:r>
                        <a:rPr sz="1200" b="0">
                          <a:solidFill>
                            <a:srgbClr val="1F2A2E"/>
                          </a:solidFill>
                          <a:latin typeface="Calibri"/>
                        </a:rPr>
                        <a:t>3.62 kWh</a:t>
                      </a:r>
                    </a:p>
                  </a:txBody>
                  <a:tcPr marL="73152" marR="73152" marT="27432" marB="27432" anchor="ctr">
                    <a:solidFill>
                      <a:srgbClr val="FFFFFF"/>
                    </a:solidFill>
                  </a:tcPr>
                </a:tc>
                <a:tc>
                  <a:txBody>
                    <a:bodyPr wrap="square"/>
                    <a:lstStyle/>
                    <a:p>
                      <a:pPr algn="l"/>
                      <a:r>
                        <a:rPr sz="1200" b="0">
                          <a:solidFill>
                            <a:srgbClr val="1F2A2E"/>
                          </a:solidFill>
                          <a:latin typeface="Calibri"/>
                        </a:rPr>
                        <a:t>5.87 kWh</a:t>
                      </a:r>
                    </a:p>
                  </a:txBody>
                  <a:tcPr marL="73152" marR="73152" marT="27432" marB="27432" anchor="ctr">
                    <a:solidFill>
                      <a:srgbClr val="FFFFFF"/>
                    </a:solidFill>
                  </a:tcPr>
                </a:tc>
                <a:tc>
                  <a:txBody>
                    <a:bodyPr wrap="square"/>
                    <a:lstStyle/>
                    <a:p>
                      <a:pPr algn="l"/>
                      <a:r>
                        <a:rPr sz="1200" b="0">
                          <a:solidFill>
                            <a:srgbClr val="1F2A2E"/>
                          </a:solidFill>
                          <a:latin typeface="Calibri"/>
                        </a:rPr>
                        <a:t>0.987</a:t>
                      </a:r>
                    </a:p>
                  </a:txBody>
                  <a:tcPr marL="73152" marR="73152" marT="27432" marB="27432" anchor="ctr">
                    <a:solidFill>
                      <a:srgbClr val="FFFFFF"/>
                    </a:solidFill>
                  </a:tcPr>
                </a:tc>
                <a:tc>
                  <a:txBody>
                    <a:bodyPr wrap="square"/>
                    <a:lstStyle/>
                    <a:p>
                      <a:pPr algn="l"/>
                      <a:r>
                        <a:rPr sz="1200" b="0">
                          <a:solidFill>
                            <a:srgbClr val="1F2A2E"/>
                          </a:solidFill>
                          <a:latin typeface="Calibri"/>
                        </a:rPr>
                        <a:t>38.4 kWh</a:t>
                      </a:r>
                    </a:p>
                  </a:txBody>
                  <a:tcPr marL="73152" marR="73152" marT="27432" marB="27432" anchor="ctr">
                    <a:solidFill>
                      <a:srgbClr val="FFFFFF"/>
                    </a:solidFill>
                  </a:tcPr>
                </a:tc>
              </a:tr>
            </a:tbl>
          </a:graphicData>
        </a:graphic>
      </p:graphicFrame>
      <p:sp>
        <p:nvSpPr>
          <p:cNvPr id="11" name="Rounded Rectangle 10"/>
          <p:cNvSpPr/>
          <p:nvPr/>
        </p:nvSpPr>
        <p:spPr>
          <a:xfrm>
            <a:off x="7726679" y="4251960"/>
            <a:ext cx="3886200" cy="20116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36407" y="4325112"/>
            <a:ext cx="3666744" cy="365760"/>
          </a:xfrm>
          <a:prstGeom prst="rect">
            <a:avLst/>
          </a:prstGeom>
          <a:noFill/>
        </p:spPr>
        <p:txBody>
          <a:bodyPr wrap="square" lIns="45720" rIns="45720" tIns="27432" bIns="27432" anchor="t">
            <a:spAutoFit/>
          </a:bodyPr>
          <a:lstStyle/>
          <a:p>
            <a:pPr algn="l">
              <a:spcAft>
                <a:spcPts val="0"/>
              </a:spcAft>
            </a:pPr>
            <a:r>
              <a:rPr sz="1500" b="1">
                <a:solidFill>
                  <a:srgbClr val="0F4C3A"/>
                </a:solidFill>
                <a:latin typeface="Calibri"/>
              </a:rPr>
              <a:t>What this shows</a:t>
            </a:r>
          </a:p>
        </p:txBody>
      </p:sp>
      <p:sp>
        <p:nvSpPr>
          <p:cNvPr id="13" name="TextBox 12"/>
          <p:cNvSpPr txBox="1"/>
          <p:nvPr/>
        </p:nvSpPr>
        <p:spPr>
          <a:xfrm>
            <a:off x="7836407" y="4709160"/>
            <a:ext cx="3666744" cy="1508760"/>
          </a:xfrm>
          <a:prstGeom prst="rect">
            <a:avLst/>
          </a:prstGeom>
          <a:noFill/>
        </p:spPr>
        <p:txBody>
          <a:bodyPr wrap="square" lIns="45720" rIns="45720" tIns="27432" bIns="27432" anchor="t">
            <a:spAutoFit/>
          </a:bodyPr>
          <a:lstStyle/>
          <a:p>
            <a:pPr algn="l">
              <a:spcAft>
                <a:spcPts val="0"/>
              </a:spcAft>
            </a:pPr>
            <a:r>
              <a:rPr sz="1300" b="0">
                <a:solidFill>
                  <a:srgbClr val="1F2A2E"/>
                </a:solidFill>
                <a:latin typeface="Calibri"/>
              </a:rPr>
              <a:t>MAE improvement: 95% CI above 0 for all three</a:t>
            </a:r>
          </a:p>
          <a:p>
            <a:pPr algn="l">
              <a:spcAft>
                <a:spcPts val="0"/>
              </a:spcAft>
            </a:pPr>
            <a:r>
              <a:rPr sz="1300" b="0">
                <a:solidFill>
                  <a:srgbClr val="1F2A2E"/>
                </a:solidFill>
                <a:latin typeface="Calibri"/>
              </a:rPr>
              <a:t>80% ranges cover 78% / 79% / 76% (slightly narrow)</a:t>
            </a:r>
          </a:p>
          <a:p>
            <a:pPr algn="l">
              <a:spcAft>
                <a:spcPts val="0"/>
              </a:spcAft>
            </a:pPr>
            <a:r>
              <a:rPr sz="1300" b="0">
                <a:solidFill>
                  <a:srgbClr val="1F2A2E"/>
                </a:solidFill>
                <a:latin typeface="Calibri"/>
              </a:rPr>
              <a:t>Accuracy comes from legitimate inputs: no size → cost R² 0.22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RESULTS: RATING AND REFERRAL</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Ratings and referrals are only weakly predictable, and we show it</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models/model_metadata.json and reports/significance.json (hold-out n = 500); trivial baselines declared before scoring</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11 / 15</a:t>
            </a:r>
          </a:p>
        </p:txBody>
      </p:sp>
      <p:sp>
        <p:nvSpPr>
          <p:cNvPr id="7" name="TextBox 6"/>
          <p:cNvSpPr txBox="1"/>
          <p:nvPr/>
        </p:nvSpPr>
        <p:spPr>
          <a:xfrm>
            <a:off x="548640" y="1325880"/>
            <a:ext cx="5486400" cy="365760"/>
          </a:xfrm>
          <a:prstGeom prst="rect">
            <a:avLst/>
          </a:prstGeom>
          <a:noFill/>
        </p:spPr>
        <p:txBody>
          <a:bodyPr wrap="square" lIns="45720" rIns="45720" tIns="27432" bIns="27432" anchor="t">
            <a:spAutoFit/>
          </a:bodyPr>
          <a:lstStyle/>
          <a:p>
            <a:pPr algn="l">
              <a:spcAft>
                <a:spcPts val="0"/>
              </a:spcAft>
            </a:pPr>
            <a:r>
              <a:rPr sz="1800" b="1">
                <a:solidFill>
                  <a:srgbClr val="0F4C3A"/>
                </a:solidFill>
                <a:latin typeface="Calibri"/>
              </a:rPr>
              <a:t>Customer rating and high rating</a:t>
            </a:r>
          </a:p>
        </p:txBody>
      </p:sp>
      <p:sp>
        <p:nvSpPr>
          <p:cNvPr id="8" name="Rounded Rectangle 7"/>
          <p:cNvSpPr/>
          <p:nvPr/>
        </p:nvSpPr>
        <p:spPr>
          <a:xfrm>
            <a:off x="548640" y="1783080"/>
            <a:ext cx="2651760" cy="128016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28800"/>
            <a:ext cx="2468880" cy="274320"/>
          </a:xfrm>
          <a:prstGeom prst="rect">
            <a:avLst/>
          </a:prstGeom>
          <a:noFill/>
        </p:spPr>
        <p:txBody>
          <a:bodyPr wrap="square" lIns="45720" rIns="45720" tIns="27432" bIns="27432" anchor="t">
            <a:spAutoFit/>
          </a:bodyPr>
          <a:lstStyle/>
          <a:p>
            <a:pPr algn="l">
              <a:spcAft>
                <a:spcPts val="0"/>
              </a:spcAft>
            </a:pPr>
            <a:r>
              <a:rPr sz="1300" b="1">
                <a:solidFill>
                  <a:srgbClr val="5F6E73"/>
                </a:solidFill>
                <a:latin typeface="Calibri"/>
              </a:rPr>
              <a:t>Rating MAE</a:t>
            </a:r>
          </a:p>
        </p:txBody>
      </p:sp>
      <p:sp>
        <p:nvSpPr>
          <p:cNvPr id="10" name="TextBox 9"/>
          <p:cNvSpPr txBox="1"/>
          <p:nvPr/>
        </p:nvSpPr>
        <p:spPr>
          <a:xfrm>
            <a:off x="640080" y="2084831"/>
            <a:ext cx="2468880" cy="502920"/>
          </a:xfrm>
          <a:prstGeom prst="rect">
            <a:avLst/>
          </a:prstGeom>
          <a:noFill/>
        </p:spPr>
        <p:txBody>
          <a:bodyPr wrap="square" lIns="45720" rIns="45720" tIns="27432" bIns="27432" anchor="t">
            <a:spAutoFit/>
          </a:bodyPr>
          <a:lstStyle/>
          <a:p>
            <a:pPr algn="l">
              <a:spcAft>
                <a:spcPts val="0"/>
              </a:spcAft>
            </a:pPr>
            <a:r>
              <a:rPr sz="2600" b="1">
                <a:solidFill>
                  <a:srgbClr val="0F4C3A"/>
                </a:solidFill>
                <a:latin typeface="Calibri"/>
              </a:rPr>
              <a:t>0.77 ★</a:t>
            </a:r>
          </a:p>
        </p:txBody>
      </p:sp>
      <p:sp>
        <p:nvSpPr>
          <p:cNvPr id="11" name="TextBox 10"/>
          <p:cNvSpPr txBox="1"/>
          <p:nvPr/>
        </p:nvSpPr>
        <p:spPr>
          <a:xfrm>
            <a:off x="640080" y="2587752"/>
            <a:ext cx="2468880" cy="274320"/>
          </a:xfrm>
          <a:prstGeom prst="rect">
            <a:avLst/>
          </a:prstGeom>
          <a:noFill/>
        </p:spPr>
        <p:txBody>
          <a:bodyPr wrap="square" lIns="45720" rIns="45720" tIns="27432" bIns="27432" anchor="t">
            <a:spAutoFit/>
          </a:bodyPr>
          <a:lstStyle/>
          <a:p>
            <a:pPr algn="l">
              <a:spcAft>
                <a:spcPts val="0"/>
              </a:spcAft>
            </a:pPr>
            <a:r>
              <a:rPr sz="1200" b="0">
                <a:solidFill>
                  <a:srgbClr val="1F2A2E"/>
                </a:solidFill>
                <a:latin typeface="Calibri"/>
              </a:rPr>
              <a:t>baseline 0.92  ·  better</a:t>
            </a:r>
          </a:p>
        </p:txBody>
      </p:sp>
      <p:sp>
        <p:nvSpPr>
          <p:cNvPr id="12" name="Rounded Rectangle 11"/>
          <p:cNvSpPr/>
          <p:nvPr/>
        </p:nvSpPr>
        <p:spPr>
          <a:xfrm>
            <a:off x="3337560" y="1783080"/>
            <a:ext cx="2651760" cy="128016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1828800"/>
            <a:ext cx="2468880" cy="274320"/>
          </a:xfrm>
          <a:prstGeom prst="rect">
            <a:avLst/>
          </a:prstGeom>
          <a:noFill/>
        </p:spPr>
        <p:txBody>
          <a:bodyPr wrap="square" lIns="45720" rIns="45720" tIns="27432" bIns="27432" anchor="t">
            <a:spAutoFit/>
          </a:bodyPr>
          <a:lstStyle/>
          <a:p>
            <a:pPr algn="l">
              <a:spcAft>
                <a:spcPts val="0"/>
              </a:spcAft>
            </a:pPr>
            <a:r>
              <a:rPr sz="1300" b="1">
                <a:solidFill>
                  <a:srgbClr val="5F6E73"/>
                </a:solidFill>
                <a:latin typeface="Calibri"/>
              </a:rPr>
              <a:t>High-rating accuracy</a:t>
            </a:r>
          </a:p>
        </p:txBody>
      </p:sp>
      <p:sp>
        <p:nvSpPr>
          <p:cNvPr id="14" name="TextBox 13"/>
          <p:cNvSpPr txBox="1"/>
          <p:nvPr/>
        </p:nvSpPr>
        <p:spPr>
          <a:xfrm>
            <a:off x="3429000" y="2084831"/>
            <a:ext cx="2468880" cy="502920"/>
          </a:xfrm>
          <a:prstGeom prst="rect">
            <a:avLst/>
          </a:prstGeom>
          <a:noFill/>
        </p:spPr>
        <p:txBody>
          <a:bodyPr wrap="square" lIns="45720" rIns="45720" tIns="27432" bIns="27432" anchor="t">
            <a:spAutoFit/>
          </a:bodyPr>
          <a:lstStyle/>
          <a:p>
            <a:pPr algn="l">
              <a:spcAft>
                <a:spcPts val="0"/>
              </a:spcAft>
            </a:pPr>
            <a:r>
              <a:rPr sz="2600" b="1">
                <a:solidFill>
                  <a:srgbClr val="0F4C3A"/>
                </a:solidFill>
                <a:latin typeface="Calibri"/>
              </a:rPr>
              <a:t>0.688</a:t>
            </a:r>
          </a:p>
        </p:txBody>
      </p:sp>
      <p:sp>
        <p:nvSpPr>
          <p:cNvPr id="15" name="TextBox 14"/>
          <p:cNvSpPr txBox="1"/>
          <p:nvPr/>
        </p:nvSpPr>
        <p:spPr>
          <a:xfrm>
            <a:off x="3429000" y="2587752"/>
            <a:ext cx="2468880" cy="274320"/>
          </a:xfrm>
          <a:prstGeom prst="rect">
            <a:avLst/>
          </a:prstGeom>
          <a:noFill/>
        </p:spPr>
        <p:txBody>
          <a:bodyPr wrap="square" lIns="45720" rIns="45720" tIns="27432" bIns="27432" anchor="t">
            <a:spAutoFit/>
          </a:bodyPr>
          <a:lstStyle/>
          <a:p>
            <a:pPr algn="l">
              <a:spcAft>
                <a:spcPts val="0"/>
              </a:spcAft>
            </a:pPr>
            <a:r>
              <a:rPr sz="1200" b="0">
                <a:solidFill>
                  <a:srgbClr val="1F2A2E"/>
                </a:solidFill>
                <a:latin typeface="Calibri"/>
              </a:rPr>
              <a:t>majority 0.576  ·  better</a:t>
            </a:r>
          </a:p>
        </p:txBody>
      </p:sp>
      <p:sp>
        <p:nvSpPr>
          <p:cNvPr id="16" name="Rounded Rectangle 15"/>
          <p:cNvSpPr/>
          <p:nvPr/>
        </p:nvSpPr>
        <p:spPr>
          <a:xfrm>
            <a:off x="548640" y="3200400"/>
            <a:ext cx="2651760" cy="128016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246120"/>
            <a:ext cx="2468880" cy="274320"/>
          </a:xfrm>
          <a:prstGeom prst="rect">
            <a:avLst/>
          </a:prstGeom>
          <a:noFill/>
        </p:spPr>
        <p:txBody>
          <a:bodyPr wrap="square" lIns="45720" rIns="45720" tIns="27432" bIns="27432" anchor="t">
            <a:spAutoFit/>
          </a:bodyPr>
          <a:lstStyle/>
          <a:p>
            <a:pPr algn="l">
              <a:spcAft>
                <a:spcPts val="0"/>
              </a:spcAft>
            </a:pPr>
            <a:r>
              <a:rPr sz="1300" b="1">
                <a:solidFill>
                  <a:srgbClr val="5F6E73"/>
                </a:solidFill>
                <a:latin typeface="Calibri"/>
              </a:rPr>
              <a:t>High-rating F1</a:t>
            </a:r>
          </a:p>
        </p:txBody>
      </p:sp>
      <p:sp>
        <p:nvSpPr>
          <p:cNvPr id="18" name="TextBox 17"/>
          <p:cNvSpPr txBox="1"/>
          <p:nvPr/>
        </p:nvSpPr>
        <p:spPr>
          <a:xfrm>
            <a:off x="640080" y="3502152"/>
            <a:ext cx="2468880" cy="502920"/>
          </a:xfrm>
          <a:prstGeom prst="rect">
            <a:avLst/>
          </a:prstGeom>
          <a:noFill/>
        </p:spPr>
        <p:txBody>
          <a:bodyPr wrap="square" lIns="45720" rIns="45720" tIns="27432" bIns="27432" anchor="t">
            <a:spAutoFit/>
          </a:bodyPr>
          <a:lstStyle/>
          <a:p>
            <a:pPr algn="l">
              <a:spcAft>
                <a:spcPts val="0"/>
              </a:spcAft>
            </a:pPr>
            <a:r>
              <a:rPr sz="2600" b="1">
                <a:solidFill>
                  <a:srgbClr val="0F4C3A"/>
                </a:solidFill>
                <a:latin typeface="Calibri"/>
              </a:rPr>
              <a:t>0.614</a:t>
            </a:r>
          </a:p>
        </p:txBody>
      </p:sp>
      <p:sp>
        <p:nvSpPr>
          <p:cNvPr id="19" name="TextBox 18"/>
          <p:cNvSpPr txBox="1"/>
          <p:nvPr/>
        </p:nvSpPr>
        <p:spPr>
          <a:xfrm>
            <a:off x="640080" y="4005072"/>
            <a:ext cx="2468880" cy="274320"/>
          </a:xfrm>
          <a:prstGeom prst="rect">
            <a:avLst/>
          </a:prstGeom>
          <a:noFill/>
        </p:spPr>
        <p:txBody>
          <a:bodyPr wrap="square" lIns="45720" rIns="45720" tIns="27432" bIns="27432" anchor="t">
            <a:spAutoFit/>
          </a:bodyPr>
          <a:lstStyle/>
          <a:p>
            <a:pPr algn="l">
              <a:spcAft>
                <a:spcPts val="0"/>
              </a:spcAft>
            </a:pPr>
            <a:r>
              <a:rPr sz="1200" b="0">
                <a:solidFill>
                  <a:srgbClr val="1F2A2E"/>
                </a:solidFill>
                <a:latin typeface="Calibri"/>
              </a:rPr>
              <a:t>all-high 0.596  ·  n.s.</a:t>
            </a:r>
          </a:p>
        </p:txBody>
      </p:sp>
      <p:sp>
        <p:nvSpPr>
          <p:cNvPr id="20" name="Rounded Rectangle 19"/>
          <p:cNvSpPr/>
          <p:nvPr/>
        </p:nvSpPr>
        <p:spPr>
          <a:xfrm>
            <a:off x="3337560" y="3200400"/>
            <a:ext cx="2651760" cy="128016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29000" y="3246120"/>
            <a:ext cx="2468880" cy="274320"/>
          </a:xfrm>
          <a:prstGeom prst="rect">
            <a:avLst/>
          </a:prstGeom>
          <a:noFill/>
        </p:spPr>
        <p:txBody>
          <a:bodyPr wrap="square" lIns="45720" rIns="45720" tIns="27432" bIns="27432" anchor="t">
            <a:spAutoFit/>
          </a:bodyPr>
          <a:lstStyle/>
          <a:p>
            <a:pPr algn="l">
              <a:spcAft>
                <a:spcPts val="0"/>
              </a:spcAft>
            </a:pPr>
            <a:r>
              <a:rPr sz="1300" b="1">
                <a:solidFill>
                  <a:srgbClr val="5F6E73"/>
                </a:solidFill>
                <a:latin typeface="Calibri"/>
              </a:rPr>
              <a:t>High-rating AUC</a:t>
            </a:r>
          </a:p>
        </p:txBody>
      </p:sp>
      <p:sp>
        <p:nvSpPr>
          <p:cNvPr id="22" name="TextBox 21"/>
          <p:cNvSpPr txBox="1"/>
          <p:nvPr/>
        </p:nvSpPr>
        <p:spPr>
          <a:xfrm>
            <a:off x="3429000" y="3502152"/>
            <a:ext cx="2468880" cy="502920"/>
          </a:xfrm>
          <a:prstGeom prst="rect">
            <a:avLst/>
          </a:prstGeom>
          <a:noFill/>
        </p:spPr>
        <p:txBody>
          <a:bodyPr wrap="square" lIns="45720" rIns="45720" tIns="27432" bIns="27432" anchor="t">
            <a:spAutoFit/>
          </a:bodyPr>
          <a:lstStyle/>
          <a:p>
            <a:pPr algn="l">
              <a:spcAft>
                <a:spcPts val="0"/>
              </a:spcAft>
            </a:pPr>
            <a:r>
              <a:rPr sz="2600" b="1">
                <a:solidFill>
                  <a:srgbClr val="0F4C3A"/>
                </a:solidFill>
                <a:latin typeface="Calibri"/>
              </a:rPr>
              <a:t>0.76</a:t>
            </a:r>
          </a:p>
        </p:txBody>
      </p:sp>
      <p:sp>
        <p:nvSpPr>
          <p:cNvPr id="23" name="TextBox 22"/>
          <p:cNvSpPr txBox="1"/>
          <p:nvPr/>
        </p:nvSpPr>
        <p:spPr>
          <a:xfrm>
            <a:off x="3429000" y="4005072"/>
            <a:ext cx="2468880" cy="274320"/>
          </a:xfrm>
          <a:prstGeom prst="rect">
            <a:avLst/>
          </a:prstGeom>
          <a:noFill/>
        </p:spPr>
        <p:txBody>
          <a:bodyPr wrap="square" lIns="45720" rIns="45720" tIns="27432" bIns="27432" anchor="t">
            <a:spAutoFit/>
          </a:bodyPr>
          <a:lstStyle/>
          <a:p>
            <a:pPr algn="l">
              <a:spcAft>
                <a:spcPts val="0"/>
              </a:spcAft>
            </a:pPr>
            <a:r>
              <a:rPr sz="1200" b="0">
                <a:solidFill>
                  <a:srgbClr val="1F2A2E"/>
                </a:solidFill>
                <a:latin typeface="Calibri"/>
              </a:rPr>
              <a:t>95% CI 0.71–0.80  ·  above chance</a:t>
            </a:r>
          </a:p>
        </p:txBody>
      </p:sp>
      <p:sp>
        <p:nvSpPr>
          <p:cNvPr id="24" name="TextBox 23"/>
          <p:cNvSpPr txBox="1"/>
          <p:nvPr/>
        </p:nvSpPr>
        <p:spPr>
          <a:xfrm>
            <a:off x="548640" y="4663440"/>
            <a:ext cx="5486400" cy="548640"/>
          </a:xfrm>
          <a:prstGeom prst="rect">
            <a:avLst/>
          </a:prstGeom>
          <a:noFill/>
        </p:spPr>
        <p:txBody>
          <a:bodyPr wrap="square" lIns="45720" rIns="45720" tIns="27432" bIns="27432" anchor="t">
            <a:spAutoFit/>
          </a:bodyPr>
          <a:lstStyle/>
          <a:p>
            <a:pPr algn="l">
              <a:spcAft>
                <a:spcPts val="0"/>
              </a:spcAft>
            </a:pPr>
            <a:r>
              <a:rPr sz="1300" b="1">
                <a:solidFill>
                  <a:srgbClr val="B0412C"/>
                </a:solidFill>
                <a:latin typeface="Calibri"/>
              </a:rPr>
              <a:t>High rating means 4 stars or more: our assumption (no official definition).</a:t>
            </a:r>
          </a:p>
        </p:txBody>
      </p:sp>
      <p:sp>
        <p:nvSpPr>
          <p:cNvPr id="25" name="TextBox 24"/>
          <p:cNvSpPr txBox="1"/>
          <p:nvPr/>
        </p:nvSpPr>
        <p:spPr>
          <a:xfrm>
            <a:off x="6355080" y="1325880"/>
            <a:ext cx="5303520" cy="365760"/>
          </a:xfrm>
          <a:prstGeom prst="rect">
            <a:avLst/>
          </a:prstGeom>
          <a:noFill/>
        </p:spPr>
        <p:txBody>
          <a:bodyPr wrap="square" lIns="45720" rIns="45720" tIns="27432" bIns="27432" anchor="t">
            <a:spAutoFit/>
          </a:bodyPr>
          <a:lstStyle/>
          <a:p>
            <a:pPr algn="l">
              <a:spcAft>
                <a:spcPts val="0"/>
              </a:spcAft>
            </a:pPr>
            <a:r>
              <a:rPr sz="1800" b="1">
                <a:solidFill>
                  <a:srgbClr val="0F4C3A"/>
                </a:solidFill>
                <a:latin typeface="Calibri"/>
              </a:rPr>
              <a:t>Customer referral (best-F1 cut-off 25%)</a:t>
            </a:r>
          </a:p>
        </p:txBody>
      </p:sp>
      <p:graphicFrame>
        <p:nvGraphicFramePr>
          <p:cNvPr id="26" name="Table 25"/>
          <p:cNvGraphicFramePr>
            <a:graphicFrameLocks noGrp="1"/>
          </p:cNvGraphicFramePr>
          <p:nvPr/>
        </p:nvGraphicFramePr>
        <p:xfrm>
          <a:off x="6355080" y="1783080"/>
          <a:ext cx="5257800" cy="1508760"/>
        </p:xfrm>
        <a:graphic>
          <a:graphicData uri="http://schemas.openxmlformats.org/drawingml/2006/table">
            <a:tbl>
              <a:tblPr firstRow="1" bandRow="1">
                <a:tableStyleId>{5C22544A-7EE6-4342-B048-85BDC9FD1C3A}</a:tableStyleId>
              </a:tblPr>
              <a:tblGrid>
                <a:gridCol w="1463040"/>
                <a:gridCol w="1897380"/>
                <a:gridCol w="1897380"/>
              </a:tblGrid>
              <a:tr h="502920">
                <a:tc>
                  <a:txBody>
                    <a:bodyPr wrap="square"/>
                    <a:lstStyle/>
                    <a:p>
                      <a:pPr algn="l"/>
                      <a:r>
                        <a:rPr sz="1500" b="1">
                          <a:solidFill>
                            <a:srgbClr val="FFFFFF"/>
                          </a:solidFill>
                          <a:latin typeface="Calibri"/>
                        </a:rPr>
                        <a:t/>
                      </a:r>
                    </a:p>
                  </a:txBody>
                  <a:tcPr marL="73152" marR="73152" marT="27432" marB="27432" anchor="ctr">
                    <a:solidFill>
                      <a:srgbClr val="0F4C3A"/>
                    </a:solidFill>
                  </a:tcPr>
                </a:tc>
                <a:tc>
                  <a:txBody>
                    <a:bodyPr wrap="square"/>
                    <a:lstStyle/>
                    <a:p>
                      <a:pPr algn="l"/>
                      <a:r>
                        <a:rPr sz="1500" b="1">
                          <a:solidFill>
                            <a:srgbClr val="FFFFFF"/>
                          </a:solidFill>
                          <a:latin typeface="Calibri"/>
                        </a:rPr>
                        <a:t>Predicted: no</a:t>
                      </a:r>
                    </a:p>
                  </a:txBody>
                  <a:tcPr marL="73152" marR="73152" marT="27432" marB="27432" anchor="ctr">
                    <a:solidFill>
                      <a:srgbClr val="0F4C3A"/>
                    </a:solidFill>
                  </a:tcPr>
                </a:tc>
                <a:tc>
                  <a:txBody>
                    <a:bodyPr wrap="square"/>
                    <a:lstStyle/>
                    <a:p>
                      <a:pPr algn="l"/>
                      <a:r>
                        <a:rPr sz="1500" b="1">
                          <a:solidFill>
                            <a:srgbClr val="FFFFFF"/>
                          </a:solidFill>
                          <a:latin typeface="Calibri"/>
                        </a:rPr>
                        <a:t>Predicted: yes</a:t>
                      </a:r>
                    </a:p>
                  </a:txBody>
                  <a:tcPr marL="73152" marR="73152" marT="27432" marB="27432" anchor="ctr">
                    <a:solidFill>
                      <a:srgbClr val="0F4C3A"/>
                    </a:solidFill>
                  </a:tcPr>
                </a:tc>
              </a:tr>
              <a:tr h="502920">
                <a:tc>
                  <a:txBody>
                    <a:bodyPr wrap="square"/>
                    <a:lstStyle/>
                    <a:p>
                      <a:pPr algn="l"/>
                      <a:r>
                        <a:rPr sz="1500" b="1">
                          <a:solidFill>
                            <a:srgbClr val="1F2A2E"/>
                          </a:solidFill>
                          <a:latin typeface="Calibri"/>
                        </a:rPr>
                        <a:t>Actual: no</a:t>
                      </a:r>
                    </a:p>
                  </a:txBody>
                  <a:tcPr marL="73152" marR="73152" marT="27432" marB="27432" anchor="ctr">
                    <a:solidFill>
                      <a:srgbClr val="FFFFFF"/>
                    </a:solidFill>
                  </a:tcPr>
                </a:tc>
                <a:tc>
                  <a:txBody>
                    <a:bodyPr wrap="square"/>
                    <a:lstStyle/>
                    <a:p>
                      <a:pPr algn="l"/>
                      <a:r>
                        <a:rPr sz="1500" b="0">
                          <a:solidFill>
                            <a:srgbClr val="1F2A2E"/>
                          </a:solidFill>
                          <a:latin typeface="Calibri"/>
                        </a:rPr>
                        <a:t>95</a:t>
                      </a:r>
                    </a:p>
                  </a:txBody>
                  <a:tcPr marL="73152" marR="73152" marT="27432" marB="27432" anchor="ctr">
                    <a:solidFill>
                      <a:srgbClr val="FFFFFF"/>
                    </a:solidFill>
                  </a:tcPr>
                </a:tc>
                <a:tc>
                  <a:txBody>
                    <a:bodyPr wrap="square"/>
                    <a:lstStyle/>
                    <a:p>
                      <a:pPr algn="l"/>
                      <a:r>
                        <a:rPr sz="1500" b="0">
                          <a:solidFill>
                            <a:srgbClr val="1F2A2E"/>
                          </a:solidFill>
                          <a:latin typeface="Calibri"/>
                        </a:rPr>
                        <a:t>218</a:t>
                      </a:r>
                    </a:p>
                  </a:txBody>
                  <a:tcPr marL="73152" marR="73152" marT="27432" marB="27432" anchor="ctr">
                    <a:solidFill>
                      <a:srgbClr val="FFFFFF"/>
                    </a:solidFill>
                  </a:tcPr>
                </a:tc>
              </a:tr>
              <a:tr h="502920">
                <a:tc>
                  <a:txBody>
                    <a:bodyPr wrap="square"/>
                    <a:lstStyle/>
                    <a:p>
                      <a:pPr algn="l"/>
                      <a:r>
                        <a:rPr sz="1500" b="1">
                          <a:solidFill>
                            <a:srgbClr val="1F2A2E"/>
                          </a:solidFill>
                          <a:latin typeface="Calibri"/>
                        </a:rPr>
                        <a:t>Actual: yes</a:t>
                      </a:r>
                    </a:p>
                  </a:txBody>
                  <a:tcPr marL="73152" marR="73152" marT="27432" marB="27432" anchor="ctr">
                    <a:solidFill>
                      <a:srgbClr val="EAF2EF"/>
                    </a:solidFill>
                  </a:tcPr>
                </a:tc>
                <a:tc>
                  <a:txBody>
                    <a:bodyPr wrap="square"/>
                    <a:lstStyle/>
                    <a:p>
                      <a:pPr algn="l"/>
                      <a:r>
                        <a:rPr sz="1500" b="0">
                          <a:solidFill>
                            <a:srgbClr val="1F2A2E"/>
                          </a:solidFill>
                          <a:latin typeface="Calibri"/>
                        </a:rPr>
                        <a:t>26</a:t>
                      </a:r>
                    </a:p>
                  </a:txBody>
                  <a:tcPr marL="73152" marR="73152" marT="27432" marB="27432" anchor="ctr">
                    <a:solidFill>
                      <a:srgbClr val="EAF2EF"/>
                    </a:solidFill>
                  </a:tcPr>
                </a:tc>
                <a:tc>
                  <a:txBody>
                    <a:bodyPr wrap="square"/>
                    <a:lstStyle/>
                    <a:p>
                      <a:pPr algn="l"/>
                      <a:r>
                        <a:rPr sz="1500" b="0">
                          <a:solidFill>
                            <a:srgbClr val="1F2A2E"/>
                          </a:solidFill>
                          <a:latin typeface="Calibri"/>
                        </a:rPr>
                        <a:t>161</a:t>
                      </a:r>
                    </a:p>
                  </a:txBody>
                  <a:tcPr marL="73152" marR="73152" marT="27432" marB="27432" anchor="ctr">
                    <a:solidFill>
                      <a:srgbClr val="EAF2EF"/>
                    </a:solidFill>
                  </a:tcPr>
                </a:tc>
              </a:tr>
            </a:tbl>
          </a:graphicData>
        </a:graphic>
      </p:graphicFrame>
      <p:sp>
        <p:nvSpPr>
          <p:cNvPr id="27" name="Rounded Rectangle 26"/>
          <p:cNvSpPr/>
          <p:nvPr/>
        </p:nvSpPr>
        <p:spPr>
          <a:xfrm>
            <a:off x="6355080" y="3429000"/>
            <a:ext cx="5257800" cy="17830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3474720"/>
            <a:ext cx="5120640" cy="1737360"/>
          </a:xfrm>
          <a:prstGeom prst="rect">
            <a:avLst/>
          </a:prstGeom>
          <a:noFill/>
        </p:spPr>
        <p:txBody>
          <a:bodyPr wrap="square" lIns="45720" rIns="45720" tIns="27432" bIns="27432" anchor="t">
            <a:spAutoFit/>
          </a:bodyPr>
          <a:lstStyle/>
          <a:p>
            <a:pPr algn="l">
              <a:spcAft>
                <a:spcPts val="500"/>
              </a:spcAft>
            </a:pPr>
            <a:r>
              <a:rPr sz="1400" b="1">
                <a:solidFill>
                  <a:srgbClr val="0F4C3A"/>
                </a:solidFill>
                <a:latin typeface="Calibri"/>
              </a:rPr>
              <a:t>F1 </a:t>
            </a:r>
            <a:r>
              <a:rPr sz="1400" b="0">
                <a:solidFill>
                  <a:srgbClr val="1F2A2E"/>
                </a:solidFill>
                <a:latin typeface="Calibri"/>
              </a:rPr>
              <a:t>0.569 vs 0.544 (everyone refers): not distinguishable</a:t>
            </a:r>
          </a:p>
          <a:p>
            <a:pPr algn="l">
              <a:spcAft>
                <a:spcPts val="500"/>
              </a:spcAft>
            </a:pPr>
            <a:r>
              <a:rPr sz="1400" b="1">
                <a:solidFill>
                  <a:srgbClr val="0F4C3A"/>
                </a:solidFill>
                <a:latin typeface="Calibri"/>
              </a:rPr>
              <a:t>Accuracy </a:t>
            </a:r>
            <a:r>
              <a:rPr sz="1400" b="0">
                <a:solidFill>
                  <a:srgbClr val="1F2A2E"/>
                </a:solidFill>
                <a:latin typeface="Calibri"/>
              </a:rPr>
              <a:t>0.512 vs 0.626 (majority class): significantly worse</a:t>
            </a:r>
          </a:p>
          <a:p>
            <a:pPr algn="l">
              <a:spcAft>
                <a:spcPts val="500"/>
              </a:spcAft>
            </a:pPr>
            <a:r>
              <a:rPr sz="1400" b="1">
                <a:solidFill>
                  <a:srgbClr val="0F4C3A"/>
                </a:solidFill>
                <a:latin typeface="Calibri"/>
              </a:rPr>
              <a:t>Recall </a:t>
            </a:r>
            <a:r>
              <a:rPr sz="1400" b="0">
                <a:solidFill>
                  <a:srgbClr val="1F2A2E"/>
                </a:solidFill>
                <a:latin typeface="Calibri"/>
              </a:rPr>
              <a:t>0.86 · precision 0.42 · AUC 0.66 (CI 0.61–0.70)</a:t>
            </a:r>
          </a:p>
        </p:txBody>
      </p:sp>
      <p:sp>
        <p:nvSpPr>
          <p:cNvPr id="29" name="Rounded Rectangle 28"/>
          <p:cNvSpPr/>
          <p:nvPr/>
        </p:nvSpPr>
        <p:spPr>
          <a:xfrm>
            <a:off x="548640" y="5349240"/>
            <a:ext cx="11064240" cy="91440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394960"/>
            <a:ext cx="10607040" cy="822960"/>
          </a:xfrm>
          <a:prstGeom prst="rect">
            <a:avLst/>
          </a:prstGeom>
          <a:noFill/>
        </p:spPr>
        <p:txBody>
          <a:bodyPr wrap="square" lIns="45720" rIns="45720" tIns="27432" bIns="27432" anchor="ctr">
            <a:spAutoFit/>
          </a:bodyPr>
          <a:lstStyle/>
          <a:p>
            <a:pPr algn="l">
              <a:spcAft>
                <a:spcPts val="0"/>
              </a:spcAft>
            </a:pPr>
            <a:r>
              <a:rPr sz="1700" b="1">
                <a:solidFill>
                  <a:srgbClr val="FFFFFF"/>
                </a:solidFill>
                <a:latin typeface="Calibri"/>
              </a:rPr>
              <a:t>Accuracy and F1 pull in opposite directions for referrals. No cut-off beats the trivial classifiers on both, so the app shows both and uses referral probability only to rank follow-ups.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EXPLAINABILITY AND BUSINESS INSIGHTS</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Size drives cost; method and quality drive cooling and satisfaction</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reports/feature_importance.csv (hold-out permutation importance), reports/insights.json (model counterfactuals, concrete roofs, n = 1,323). Associations, not causal effects.</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12 / 15</a:t>
            </a:r>
          </a:p>
        </p:txBody>
      </p:sp>
      <p:pic>
        <p:nvPicPr>
          <p:cNvPr id="7" name="Picture 6" descr="chart_feature_importance.png"/>
          <p:cNvPicPr>
            <a:picLocks noChangeAspect="1"/>
          </p:cNvPicPr>
          <p:nvPr/>
        </p:nvPicPr>
        <p:blipFill>
          <a:blip r:embed="rId3"/>
          <a:stretch>
            <a:fillRect/>
          </a:stretch>
        </p:blipFill>
        <p:spPr>
          <a:xfrm>
            <a:off x="457200" y="1325880"/>
            <a:ext cx="6629400" cy="4018068"/>
          </a:xfrm>
          <a:prstGeom prst="rect">
            <a:avLst/>
          </a:prstGeom>
        </p:spPr>
      </p:pic>
      <p:sp>
        <p:nvSpPr>
          <p:cNvPr id="8" name="TextBox 7"/>
          <p:cNvSpPr txBox="1"/>
          <p:nvPr/>
        </p:nvSpPr>
        <p:spPr>
          <a:xfrm>
            <a:off x="7223760" y="1325880"/>
            <a:ext cx="4389120" cy="365760"/>
          </a:xfrm>
          <a:prstGeom prst="rect">
            <a:avLst/>
          </a:prstGeom>
          <a:noFill/>
        </p:spPr>
        <p:txBody>
          <a:bodyPr wrap="square" lIns="45720" rIns="45720" tIns="27432" bIns="27432" anchor="t">
            <a:spAutoFit/>
          </a:bodyPr>
          <a:lstStyle/>
          <a:p>
            <a:pPr algn="l">
              <a:spcAft>
                <a:spcPts val="0"/>
              </a:spcAft>
            </a:pPr>
            <a:r>
              <a:rPr sz="1600" b="1">
                <a:solidFill>
                  <a:srgbClr val="0F4C3A"/>
                </a:solidFill>
                <a:latin typeface="Calibri"/>
              </a:rPr>
              <a:t>Model view: methods on concrete roofs</a:t>
            </a:r>
          </a:p>
        </p:txBody>
      </p:sp>
      <p:graphicFrame>
        <p:nvGraphicFramePr>
          <p:cNvPr id="9" name="Table 8"/>
          <p:cNvGraphicFramePr>
            <a:graphicFrameLocks noGrp="1"/>
          </p:cNvGraphicFramePr>
          <p:nvPr/>
        </p:nvGraphicFramePr>
        <p:xfrm>
          <a:off x="7223760" y="1737360"/>
          <a:ext cx="4389120" cy="2414016"/>
        </p:xfrm>
        <a:graphic>
          <a:graphicData uri="http://schemas.openxmlformats.org/drawingml/2006/table">
            <a:tbl>
              <a:tblPr firstRow="1" bandRow="1">
                <a:tableStyleId>{5C22544A-7EE6-4342-B048-85BDC9FD1C3A}</a:tableStyleId>
              </a:tblPr>
              <a:tblGrid>
                <a:gridCol w="1417320"/>
                <a:gridCol w="777240"/>
                <a:gridCol w="777240"/>
                <a:gridCol w="640080"/>
                <a:gridCol w="777240"/>
              </a:tblGrid>
              <a:tr h="402336">
                <a:tc>
                  <a:txBody>
                    <a:bodyPr wrap="square"/>
                    <a:lstStyle/>
                    <a:p>
                      <a:pPr algn="l"/>
                      <a:r>
                        <a:rPr sz="1200" b="1">
                          <a:solidFill>
                            <a:srgbClr val="FFFFFF"/>
                          </a:solidFill>
                          <a:latin typeface="Calibri"/>
                        </a:rPr>
                        <a:t>Method</a:t>
                      </a:r>
                    </a:p>
                  </a:txBody>
                  <a:tcPr marL="73152" marR="73152" marT="27432" marB="27432" anchor="ctr">
                    <a:solidFill>
                      <a:srgbClr val="0F4C3A"/>
                    </a:solidFill>
                  </a:tcPr>
                </a:tc>
                <a:tc>
                  <a:txBody>
                    <a:bodyPr wrap="square"/>
                    <a:lstStyle/>
                    <a:p>
                      <a:pPr algn="l"/>
                      <a:r>
                        <a:rPr sz="1200" b="1">
                          <a:solidFill>
                            <a:srgbClr val="FFFFFF"/>
                          </a:solidFill>
                          <a:latin typeface="Calibri"/>
                        </a:rPr>
                        <a:t>Cost</a:t>
                      </a:r>
                    </a:p>
                  </a:txBody>
                  <a:tcPr marL="73152" marR="73152" marT="27432" marB="27432" anchor="ctr">
                    <a:solidFill>
                      <a:srgbClr val="0F4C3A"/>
                    </a:solidFill>
                  </a:tcPr>
                </a:tc>
                <a:tc>
                  <a:txBody>
                    <a:bodyPr wrap="square"/>
                    <a:lstStyle/>
                    <a:p>
                      <a:pPr algn="l"/>
                      <a:r>
                        <a:rPr sz="1200" b="1">
                          <a:solidFill>
                            <a:srgbClr val="FFFFFF"/>
                          </a:solidFill>
                          <a:latin typeface="Calibri"/>
                        </a:rPr>
                        <a:t>Cooling</a:t>
                      </a:r>
                    </a:p>
                  </a:txBody>
                  <a:tcPr marL="73152" marR="73152" marT="27432" marB="27432" anchor="ctr">
                    <a:solidFill>
                      <a:srgbClr val="0F4C3A"/>
                    </a:solidFill>
                  </a:tcPr>
                </a:tc>
                <a:tc>
                  <a:txBody>
                    <a:bodyPr wrap="square"/>
                    <a:lstStyle/>
                    <a:p>
                      <a:pPr algn="l"/>
                      <a:r>
                        <a:rPr sz="1200" b="1">
                          <a:solidFill>
                            <a:srgbClr val="FFFFFF"/>
                          </a:solidFill>
                          <a:latin typeface="Calibri"/>
                        </a:rPr>
                        <a:t>kWh</a:t>
                      </a:r>
                    </a:p>
                  </a:txBody>
                  <a:tcPr marL="73152" marR="73152" marT="27432" marB="27432" anchor="ctr">
                    <a:solidFill>
                      <a:srgbClr val="0F4C3A"/>
                    </a:solidFill>
                  </a:tcPr>
                </a:tc>
                <a:tc>
                  <a:txBody>
                    <a:bodyPr wrap="square"/>
                    <a:lstStyle/>
                    <a:p>
                      <a:pPr algn="l"/>
                      <a:r>
                        <a:rPr sz="1200" b="1">
                          <a:solidFill>
                            <a:srgbClr val="FFFFFF"/>
                          </a:solidFill>
                          <a:latin typeface="Calibri"/>
                        </a:rPr>
                        <a:t>P(high)</a:t>
                      </a:r>
                    </a:p>
                  </a:txBody>
                  <a:tcPr marL="73152" marR="73152" marT="27432" marB="27432" anchor="ctr">
                    <a:solidFill>
                      <a:srgbClr val="0F4C3A"/>
                    </a:solidFill>
                  </a:tcPr>
                </a:tc>
              </a:tr>
              <a:tr h="402336">
                <a:tc>
                  <a:txBody>
                    <a:bodyPr wrap="square"/>
                    <a:lstStyle/>
                    <a:p>
                      <a:pPr algn="l"/>
                      <a:r>
                        <a:rPr sz="1200" b="1">
                          <a:solidFill>
                            <a:srgbClr val="1F2A2E"/>
                          </a:solidFill>
                          <a:latin typeface="Calibri"/>
                        </a:rPr>
                        <a:t>Basic coating</a:t>
                      </a:r>
                    </a:p>
                  </a:txBody>
                  <a:tcPr marL="73152" marR="73152" marT="27432" marB="27432" anchor="ctr">
                    <a:solidFill>
                      <a:srgbClr val="FFFFFF"/>
                    </a:solidFill>
                  </a:tcPr>
                </a:tc>
                <a:tc>
                  <a:txBody>
                    <a:bodyPr wrap="square"/>
                    <a:lstStyle/>
                    <a:p>
                      <a:pPr algn="l"/>
                      <a:r>
                        <a:rPr sz="1200" b="0">
                          <a:solidFill>
                            <a:srgbClr val="1F2A2E"/>
                          </a:solidFill>
                          <a:latin typeface="Calibri"/>
                        </a:rPr>
                        <a:t>₹8.9 L</a:t>
                      </a:r>
                    </a:p>
                  </a:txBody>
                  <a:tcPr marL="73152" marR="73152" marT="27432" marB="27432" anchor="ctr">
                    <a:solidFill>
                      <a:srgbClr val="FFFFFF"/>
                    </a:solidFill>
                  </a:tcPr>
                </a:tc>
                <a:tc>
                  <a:txBody>
                    <a:bodyPr wrap="square"/>
                    <a:lstStyle/>
                    <a:p>
                      <a:pPr algn="l"/>
                      <a:r>
                        <a:rPr sz="1200" b="0">
                          <a:solidFill>
                            <a:srgbClr val="1F2A2E"/>
                          </a:solidFill>
                          <a:latin typeface="Calibri"/>
                        </a:rPr>
                        <a:t>4.6 °C</a:t>
                      </a:r>
                    </a:p>
                  </a:txBody>
                  <a:tcPr marL="73152" marR="73152" marT="27432" marB="27432" anchor="ctr">
                    <a:solidFill>
                      <a:srgbClr val="FFFFFF"/>
                    </a:solidFill>
                  </a:tcPr>
                </a:tc>
                <a:tc>
                  <a:txBody>
                    <a:bodyPr wrap="square"/>
                    <a:lstStyle/>
                    <a:p>
                      <a:pPr algn="l"/>
                      <a:r>
                        <a:rPr sz="1200" b="0">
                          <a:solidFill>
                            <a:srgbClr val="1F2A2E"/>
                          </a:solidFill>
                          <a:latin typeface="Calibri"/>
                        </a:rPr>
                        <a:t>41</a:t>
                      </a:r>
                    </a:p>
                  </a:txBody>
                  <a:tcPr marL="73152" marR="73152" marT="27432" marB="27432" anchor="ctr">
                    <a:solidFill>
                      <a:srgbClr val="FFFFFF"/>
                    </a:solidFill>
                  </a:tcPr>
                </a:tc>
                <a:tc>
                  <a:txBody>
                    <a:bodyPr wrap="square"/>
                    <a:lstStyle/>
                    <a:p>
                      <a:pPr algn="l"/>
                      <a:r>
                        <a:rPr sz="1200" b="0">
                          <a:solidFill>
                            <a:srgbClr val="1F2A2E"/>
                          </a:solidFill>
                          <a:latin typeface="Calibri"/>
                        </a:rPr>
                        <a:t>35%</a:t>
                      </a:r>
                    </a:p>
                  </a:txBody>
                  <a:tcPr marL="73152" marR="73152" marT="27432" marB="27432" anchor="ctr">
                    <a:solidFill>
                      <a:srgbClr val="FFFFFF"/>
                    </a:solidFill>
                  </a:tcPr>
                </a:tc>
              </a:tr>
              <a:tr h="402336">
                <a:tc>
                  <a:txBody>
                    <a:bodyPr wrap="square"/>
                    <a:lstStyle/>
                    <a:p>
                      <a:pPr algn="l"/>
                      <a:r>
                        <a:rPr sz="1200" b="1">
                          <a:solidFill>
                            <a:srgbClr val="1F2A2E"/>
                          </a:solidFill>
                          <a:latin typeface="Calibri"/>
                        </a:rPr>
                        <a:t>Sheet</a:t>
                      </a:r>
                    </a:p>
                  </a:txBody>
                  <a:tcPr marL="73152" marR="73152" marT="27432" marB="27432" anchor="ctr">
                    <a:solidFill>
                      <a:srgbClr val="EAF2EF"/>
                    </a:solidFill>
                  </a:tcPr>
                </a:tc>
                <a:tc>
                  <a:txBody>
                    <a:bodyPr wrap="square"/>
                    <a:lstStyle/>
                    <a:p>
                      <a:pPr algn="l"/>
                      <a:r>
                        <a:rPr sz="1200" b="0">
                          <a:solidFill>
                            <a:srgbClr val="1F2A2E"/>
                          </a:solidFill>
                          <a:latin typeface="Calibri"/>
                        </a:rPr>
                        <a:t>₹9.8 L</a:t>
                      </a:r>
                    </a:p>
                  </a:txBody>
                  <a:tcPr marL="73152" marR="73152" marT="27432" marB="27432" anchor="ctr">
                    <a:solidFill>
                      <a:srgbClr val="EAF2EF"/>
                    </a:solidFill>
                  </a:tcPr>
                </a:tc>
                <a:tc>
                  <a:txBody>
                    <a:bodyPr wrap="square"/>
                    <a:lstStyle/>
                    <a:p>
                      <a:pPr algn="l"/>
                      <a:r>
                        <a:rPr sz="1200" b="0">
                          <a:solidFill>
                            <a:srgbClr val="1F2A2E"/>
                          </a:solidFill>
                          <a:latin typeface="Calibri"/>
                        </a:rPr>
                        <a:t>6.0 °C</a:t>
                      </a:r>
                    </a:p>
                  </a:txBody>
                  <a:tcPr marL="73152" marR="73152" marT="27432" marB="27432" anchor="ctr">
                    <a:solidFill>
                      <a:srgbClr val="EAF2EF"/>
                    </a:solidFill>
                  </a:tcPr>
                </a:tc>
                <a:tc>
                  <a:txBody>
                    <a:bodyPr wrap="square"/>
                    <a:lstStyle/>
                    <a:p>
                      <a:pPr algn="l"/>
                      <a:r>
                        <a:rPr sz="1200" b="0">
                          <a:solidFill>
                            <a:srgbClr val="1F2A2E"/>
                          </a:solidFill>
                          <a:latin typeface="Calibri"/>
                        </a:rPr>
                        <a:t>51</a:t>
                      </a:r>
                    </a:p>
                  </a:txBody>
                  <a:tcPr marL="73152" marR="73152" marT="27432" marB="27432" anchor="ctr">
                    <a:solidFill>
                      <a:srgbClr val="EAF2EF"/>
                    </a:solidFill>
                  </a:tcPr>
                </a:tc>
                <a:tc>
                  <a:txBody>
                    <a:bodyPr wrap="square"/>
                    <a:lstStyle/>
                    <a:p>
                      <a:pPr algn="l"/>
                      <a:r>
                        <a:rPr sz="1200" b="0">
                          <a:solidFill>
                            <a:srgbClr val="1F2A2E"/>
                          </a:solidFill>
                          <a:latin typeface="Calibri"/>
                        </a:rPr>
                        <a:t>47%</a:t>
                      </a:r>
                    </a:p>
                  </a:txBody>
                  <a:tcPr marL="73152" marR="73152" marT="27432" marB="27432" anchor="ctr">
                    <a:solidFill>
                      <a:srgbClr val="EAF2EF"/>
                    </a:solidFill>
                  </a:tcPr>
                </a:tc>
              </a:tr>
              <a:tr h="402336">
                <a:tc>
                  <a:txBody>
                    <a:bodyPr wrap="square"/>
                    <a:lstStyle/>
                    <a:p>
                      <a:pPr algn="l"/>
                      <a:r>
                        <a:rPr sz="1200" b="1">
                          <a:solidFill>
                            <a:srgbClr val="1F2A2E"/>
                          </a:solidFill>
                          <a:latin typeface="Calibri"/>
                        </a:rPr>
                        <a:t>Sheet + coating</a:t>
                      </a:r>
                    </a:p>
                  </a:txBody>
                  <a:tcPr marL="73152" marR="73152" marT="27432" marB="27432" anchor="ctr">
                    <a:solidFill>
                      <a:srgbClr val="FFFFFF"/>
                    </a:solidFill>
                  </a:tcPr>
                </a:tc>
                <a:tc>
                  <a:txBody>
                    <a:bodyPr wrap="square"/>
                    <a:lstStyle/>
                    <a:p>
                      <a:pPr algn="l"/>
                      <a:r>
                        <a:rPr sz="1200" b="0">
                          <a:solidFill>
                            <a:srgbClr val="1F2A2E"/>
                          </a:solidFill>
                          <a:latin typeface="Calibri"/>
                        </a:rPr>
                        <a:t>₹12.5 L</a:t>
                      </a:r>
                    </a:p>
                  </a:txBody>
                  <a:tcPr marL="73152" marR="73152" marT="27432" marB="27432" anchor="ctr">
                    <a:solidFill>
                      <a:srgbClr val="FFFFFF"/>
                    </a:solidFill>
                  </a:tcPr>
                </a:tc>
                <a:tc>
                  <a:txBody>
                    <a:bodyPr wrap="square"/>
                    <a:lstStyle/>
                    <a:p>
                      <a:pPr algn="l"/>
                      <a:r>
                        <a:rPr sz="1200" b="0">
                          <a:solidFill>
                            <a:srgbClr val="1F2A2E"/>
                          </a:solidFill>
                          <a:latin typeface="Calibri"/>
                        </a:rPr>
                        <a:t>7.8 °C</a:t>
                      </a:r>
                    </a:p>
                  </a:txBody>
                  <a:tcPr marL="73152" marR="73152" marT="27432" marB="27432" anchor="ctr">
                    <a:solidFill>
                      <a:srgbClr val="FFFFFF"/>
                    </a:solidFill>
                  </a:tcPr>
                </a:tc>
                <a:tc>
                  <a:txBody>
                    <a:bodyPr wrap="square"/>
                    <a:lstStyle/>
                    <a:p>
                      <a:pPr algn="l"/>
                      <a:r>
                        <a:rPr sz="1200" b="0">
                          <a:solidFill>
                            <a:srgbClr val="1F2A2E"/>
                          </a:solidFill>
                          <a:latin typeface="Calibri"/>
                        </a:rPr>
                        <a:t>62</a:t>
                      </a:r>
                    </a:p>
                  </a:txBody>
                  <a:tcPr marL="73152" marR="73152" marT="27432" marB="27432" anchor="ctr">
                    <a:solidFill>
                      <a:srgbClr val="FFFFFF"/>
                    </a:solidFill>
                  </a:tcPr>
                </a:tc>
                <a:tc>
                  <a:txBody>
                    <a:bodyPr wrap="square"/>
                    <a:lstStyle/>
                    <a:p>
                      <a:pPr algn="l"/>
                      <a:r>
                        <a:rPr sz="1200" b="0">
                          <a:solidFill>
                            <a:srgbClr val="1F2A2E"/>
                          </a:solidFill>
                          <a:latin typeface="Calibri"/>
                        </a:rPr>
                        <a:t>55%</a:t>
                      </a:r>
                    </a:p>
                  </a:txBody>
                  <a:tcPr marL="73152" marR="73152" marT="27432" marB="27432" anchor="ctr">
                    <a:solidFill>
                      <a:srgbClr val="FFFFFF"/>
                    </a:solidFill>
                  </a:tcPr>
                </a:tc>
              </a:tr>
              <a:tr h="402336">
                <a:tc>
                  <a:txBody>
                    <a:bodyPr wrap="square"/>
                    <a:lstStyle/>
                    <a:p>
                      <a:pPr algn="l"/>
                      <a:r>
                        <a:rPr sz="1200" b="1">
                          <a:solidFill>
                            <a:srgbClr val="1F2A2E"/>
                          </a:solidFill>
                          <a:latin typeface="Calibri"/>
                        </a:rPr>
                        <a:t>Tiles</a:t>
                      </a:r>
                    </a:p>
                  </a:txBody>
                  <a:tcPr marL="73152" marR="73152" marT="27432" marB="27432" anchor="ctr">
                    <a:solidFill>
                      <a:srgbClr val="EAF2EF"/>
                    </a:solidFill>
                  </a:tcPr>
                </a:tc>
                <a:tc>
                  <a:txBody>
                    <a:bodyPr wrap="square"/>
                    <a:lstStyle/>
                    <a:p>
                      <a:pPr algn="l"/>
                      <a:r>
                        <a:rPr sz="1200" b="0">
                          <a:solidFill>
                            <a:srgbClr val="1F2A2E"/>
                          </a:solidFill>
                          <a:latin typeface="Calibri"/>
                        </a:rPr>
                        <a:t>₹10.7 L</a:t>
                      </a:r>
                    </a:p>
                  </a:txBody>
                  <a:tcPr marL="73152" marR="73152" marT="27432" marB="27432" anchor="ctr">
                    <a:solidFill>
                      <a:srgbClr val="EAF2EF"/>
                    </a:solidFill>
                  </a:tcPr>
                </a:tc>
                <a:tc>
                  <a:txBody>
                    <a:bodyPr wrap="square"/>
                    <a:lstStyle/>
                    <a:p>
                      <a:pPr algn="l"/>
                      <a:r>
                        <a:rPr sz="1200" b="0">
                          <a:solidFill>
                            <a:srgbClr val="1F2A2E"/>
                          </a:solidFill>
                          <a:latin typeface="Calibri"/>
                        </a:rPr>
                        <a:t>5.7 °C</a:t>
                      </a:r>
                    </a:p>
                  </a:txBody>
                  <a:tcPr marL="73152" marR="73152" marT="27432" marB="27432" anchor="ctr">
                    <a:solidFill>
                      <a:srgbClr val="EAF2EF"/>
                    </a:solidFill>
                  </a:tcPr>
                </a:tc>
                <a:tc>
                  <a:txBody>
                    <a:bodyPr wrap="square"/>
                    <a:lstStyle/>
                    <a:p>
                      <a:pPr algn="l"/>
                      <a:r>
                        <a:rPr sz="1200" b="0">
                          <a:solidFill>
                            <a:srgbClr val="1F2A2E"/>
                          </a:solidFill>
                          <a:latin typeface="Calibri"/>
                        </a:rPr>
                        <a:t>49</a:t>
                      </a:r>
                    </a:p>
                  </a:txBody>
                  <a:tcPr marL="73152" marR="73152" marT="27432" marB="27432" anchor="ctr">
                    <a:solidFill>
                      <a:srgbClr val="EAF2EF"/>
                    </a:solidFill>
                  </a:tcPr>
                </a:tc>
                <a:tc>
                  <a:txBody>
                    <a:bodyPr wrap="square"/>
                    <a:lstStyle/>
                    <a:p>
                      <a:pPr algn="l"/>
                      <a:r>
                        <a:rPr sz="1200" b="0">
                          <a:solidFill>
                            <a:srgbClr val="1F2A2E"/>
                          </a:solidFill>
                          <a:latin typeface="Calibri"/>
                        </a:rPr>
                        <a:t>42%</a:t>
                      </a:r>
                    </a:p>
                  </a:txBody>
                  <a:tcPr marL="73152" marR="73152" marT="27432" marB="27432" anchor="ctr">
                    <a:solidFill>
                      <a:srgbClr val="EAF2EF"/>
                    </a:solidFill>
                  </a:tcPr>
                </a:tc>
              </a:tr>
              <a:tr h="402336">
                <a:tc>
                  <a:txBody>
                    <a:bodyPr wrap="square"/>
                    <a:lstStyle/>
                    <a:p>
                      <a:pPr algn="l"/>
                      <a:r>
                        <a:rPr sz="1200" b="1">
                          <a:solidFill>
                            <a:srgbClr val="1F2A2E"/>
                          </a:solidFill>
                          <a:latin typeface="Calibri"/>
                        </a:rPr>
                        <a:t>Tiles + coating</a:t>
                      </a:r>
                    </a:p>
                  </a:txBody>
                  <a:tcPr marL="73152" marR="73152" marT="27432" marB="27432" anchor="ctr">
                    <a:solidFill>
                      <a:srgbClr val="FFFFFF"/>
                    </a:solidFill>
                  </a:tcPr>
                </a:tc>
                <a:tc>
                  <a:txBody>
                    <a:bodyPr wrap="square"/>
                    <a:lstStyle/>
                    <a:p>
                      <a:pPr algn="l"/>
                      <a:r>
                        <a:rPr sz="1200" b="0">
                          <a:solidFill>
                            <a:srgbClr val="1F2A2E"/>
                          </a:solidFill>
                          <a:latin typeface="Calibri"/>
                        </a:rPr>
                        <a:t>₹13.4 L</a:t>
                      </a:r>
                    </a:p>
                  </a:txBody>
                  <a:tcPr marL="73152" marR="73152" marT="27432" marB="27432" anchor="ctr">
                    <a:solidFill>
                      <a:srgbClr val="FFFFFF"/>
                    </a:solidFill>
                  </a:tcPr>
                </a:tc>
                <a:tc>
                  <a:txBody>
                    <a:bodyPr wrap="square"/>
                    <a:lstStyle/>
                    <a:p>
                      <a:pPr algn="l"/>
                      <a:r>
                        <a:rPr sz="1200" b="0">
                          <a:solidFill>
                            <a:srgbClr val="1F2A2E"/>
                          </a:solidFill>
                          <a:latin typeface="Calibri"/>
                        </a:rPr>
                        <a:t>8.2 °C</a:t>
                      </a:r>
                    </a:p>
                  </a:txBody>
                  <a:tcPr marL="73152" marR="73152" marT="27432" marB="27432" anchor="ctr">
                    <a:solidFill>
                      <a:srgbClr val="FFFFFF"/>
                    </a:solidFill>
                  </a:tcPr>
                </a:tc>
                <a:tc>
                  <a:txBody>
                    <a:bodyPr wrap="square"/>
                    <a:lstStyle/>
                    <a:p>
                      <a:pPr algn="l"/>
                      <a:r>
                        <a:rPr sz="1200" b="0">
                          <a:solidFill>
                            <a:srgbClr val="1F2A2E"/>
                          </a:solidFill>
                          <a:latin typeface="Calibri"/>
                        </a:rPr>
                        <a:t>65</a:t>
                      </a:r>
                    </a:p>
                  </a:txBody>
                  <a:tcPr marL="73152" marR="73152" marT="27432" marB="27432" anchor="ctr">
                    <a:solidFill>
                      <a:srgbClr val="FFFFFF"/>
                    </a:solidFill>
                  </a:tcPr>
                </a:tc>
                <a:tc>
                  <a:txBody>
                    <a:bodyPr wrap="square"/>
                    <a:lstStyle/>
                    <a:p>
                      <a:pPr algn="l"/>
                      <a:r>
                        <a:rPr sz="1200" b="0">
                          <a:solidFill>
                            <a:srgbClr val="1F2A2E"/>
                          </a:solidFill>
                          <a:latin typeface="Calibri"/>
                        </a:rPr>
                        <a:t>58%</a:t>
                      </a:r>
                    </a:p>
                  </a:txBody>
                  <a:tcPr marL="73152" marR="73152" marT="27432" marB="27432" anchor="ctr">
                    <a:solidFill>
                      <a:srgbClr val="FFFFFF"/>
                    </a:solidFill>
                  </a:tcPr>
                </a:tc>
              </a:tr>
            </a:tbl>
          </a:graphicData>
        </a:graphic>
      </p:graphicFrame>
      <p:sp>
        <p:nvSpPr>
          <p:cNvPr id="10" name="Rounded Rectangle 9"/>
          <p:cNvSpPr/>
          <p:nvPr/>
        </p:nvSpPr>
        <p:spPr>
          <a:xfrm>
            <a:off x="7223760" y="4297680"/>
            <a:ext cx="4389120" cy="196596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33488" y="4370832"/>
            <a:ext cx="4169663" cy="365760"/>
          </a:xfrm>
          <a:prstGeom prst="rect">
            <a:avLst/>
          </a:prstGeom>
          <a:noFill/>
        </p:spPr>
        <p:txBody>
          <a:bodyPr wrap="square" lIns="45720" rIns="45720" tIns="27432" bIns="27432" anchor="t">
            <a:spAutoFit/>
          </a:bodyPr>
          <a:lstStyle/>
          <a:p>
            <a:pPr algn="l">
              <a:spcAft>
                <a:spcPts val="0"/>
              </a:spcAft>
            </a:pPr>
            <a:r>
              <a:rPr sz="1500" b="1">
                <a:solidFill>
                  <a:srgbClr val="0F4C3A"/>
                </a:solidFill>
                <a:latin typeface="Calibri"/>
              </a:rPr>
              <a:t>Careful reading</a:t>
            </a:r>
          </a:p>
        </p:txBody>
      </p:sp>
      <p:sp>
        <p:nvSpPr>
          <p:cNvPr id="12" name="TextBox 11"/>
          <p:cNvSpPr txBox="1"/>
          <p:nvPr/>
        </p:nvSpPr>
        <p:spPr>
          <a:xfrm>
            <a:off x="7333488" y="4754880"/>
            <a:ext cx="4169663" cy="1463039"/>
          </a:xfrm>
          <a:prstGeom prst="rect">
            <a:avLst/>
          </a:prstGeom>
          <a:noFill/>
        </p:spPr>
        <p:txBody>
          <a:bodyPr wrap="square" lIns="45720" rIns="45720" tIns="27432" bIns="27432" anchor="t">
            <a:spAutoFit/>
          </a:bodyPr>
          <a:lstStyle/>
          <a:p>
            <a:pPr algn="l">
              <a:spcAft>
                <a:spcPts val="0"/>
              </a:spcAft>
            </a:pPr>
            <a:r>
              <a:rPr sz="1300" b="0">
                <a:solidFill>
                  <a:srgbClr val="1F2A2E"/>
                </a:solidFill>
                <a:latin typeface="Calibri"/>
              </a:rPr>
              <a:t>Coated options lead on cooling, savings and satisfaction; none wins everywhere</a:t>
            </a:r>
          </a:p>
          <a:p>
            <a:pPr algn="l">
              <a:spcAft>
                <a:spcPts val="0"/>
              </a:spcAft>
            </a:pPr>
            <a:r>
              <a:rPr sz="1300" b="0">
                <a:solidFill>
                  <a:srgbClr val="1F2A2E"/>
                </a:solidFill>
                <a:latin typeface="Calibri"/>
              </a:rPr>
              <a:t>Associations, not causation</a:t>
            </a:r>
          </a:p>
          <a:p>
            <a:pPr algn="l">
              <a:spcAft>
                <a:spcPts val="0"/>
              </a:spcAft>
            </a:pPr>
            <a:r>
              <a:rPr sz="1300" b="0">
                <a:solidFill>
                  <a:srgbClr val="1F2A2E"/>
                </a:solidFill>
                <a:latin typeface="Calibri"/>
              </a:rPr>
              <a:t>Electricity savings alone repay slowly: the case rests on comfort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DEMONSTRATION</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The product is built and running: predict, compare, explain, propose</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screenshots of the running local application (React + FastAPI). Assistant: Gemini live-tested; Claude not live-tested.</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13 / 15</a:t>
            </a:r>
          </a:p>
        </p:txBody>
      </p:sp>
      <p:pic>
        <p:nvPicPr>
          <p:cNvPr id="7" name="Picture 6" descr="crop_predict.png"/>
          <p:cNvPicPr>
            <a:picLocks noChangeAspect="1"/>
          </p:cNvPicPr>
          <p:nvPr/>
        </p:nvPicPr>
        <p:blipFill>
          <a:blip r:embed="rId3"/>
          <a:stretch>
            <a:fillRect/>
          </a:stretch>
        </p:blipFill>
        <p:spPr>
          <a:xfrm>
            <a:off x="548640" y="1280160"/>
            <a:ext cx="5486400" cy="2496064"/>
          </a:xfrm>
          <a:prstGeom prst="rect">
            <a:avLst/>
          </a:prstGeom>
        </p:spPr>
      </p:pic>
      <p:pic>
        <p:nvPicPr>
          <p:cNvPr id="8" name="Picture 7" descr="crop_compare.png"/>
          <p:cNvPicPr>
            <a:picLocks noChangeAspect="1"/>
          </p:cNvPicPr>
          <p:nvPr/>
        </p:nvPicPr>
        <p:blipFill>
          <a:blip r:embed="rId4"/>
          <a:stretch>
            <a:fillRect/>
          </a:stretch>
        </p:blipFill>
        <p:spPr>
          <a:xfrm>
            <a:off x="6172200" y="1280160"/>
            <a:ext cx="5486400" cy="2496064"/>
          </a:xfrm>
          <a:prstGeom prst="rect">
            <a:avLst/>
          </a:prstGeom>
        </p:spPr>
      </p:pic>
      <p:sp>
        <p:nvSpPr>
          <p:cNvPr id="9" name="TextBox 8"/>
          <p:cNvSpPr txBox="1"/>
          <p:nvPr/>
        </p:nvSpPr>
        <p:spPr>
          <a:xfrm>
            <a:off x="548640" y="3794512"/>
            <a:ext cx="5486400" cy="502920"/>
          </a:xfrm>
          <a:prstGeom prst="rect">
            <a:avLst/>
          </a:prstGeom>
          <a:noFill/>
        </p:spPr>
        <p:txBody>
          <a:bodyPr wrap="square" lIns="45720" rIns="45720" tIns="27432" bIns="27432" anchor="t">
            <a:spAutoFit/>
          </a:bodyPr>
          <a:lstStyle/>
          <a:p>
            <a:pPr algn="l">
              <a:spcAft>
                <a:spcPts val="0"/>
              </a:spcAft>
            </a:pPr>
            <a:r>
              <a:rPr sz="1200" b="1">
                <a:solidFill>
                  <a:srgbClr val="0F4C3A"/>
                </a:solidFill>
                <a:latin typeface="Calibri"/>
              </a:rPr>
              <a:t>Customer prediction: </a:t>
            </a:r>
            <a:r>
              <a:rPr sz="1200" b="0">
                <a:solidFill>
                  <a:srgbClr val="1F2A2E"/>
                </a:solidFill>
                <a:latin typeface="Calibri"/>
              </a:rPr>
              <a:t>cost, cooling, kWh, rating and referral, each with a likely range and a reliability flag</a:t>
            </a:r>
          </a:p>
        </p:txBody>
      </p:sp>
      <p:sp>
        <p:nvSpPr>
          <p:cNvPr id="10" name="TextBox 9"/>
          <p:cNvSpPr txBox="1"/>
          <p:nvPr/>
        </p:nvSpPr>
        <p:spPr>
          <a:xfrm>
            <a:off x="6172200" y="3794512"/>
            <a:ext cx="5486400" cy="502920"/>
          </a:xfrm>
          <a:prstGeom prst="rect">
            <a:avLst/>
          </a:prstGeom>
          <a:noFill/>
        </p:spPr>
        <p:txBody>
          <a:bodyPr wrap="square" lIns="45720" rIns="45720" tIns="27432" bIns="27432" anchor="t">
            <a:spAutoFit/>
          </a:bodyPr>
          <a:lstStyle/>
          <a:p>
            <a:pPr algn="l">
              <a:spcAft>
                <a:spcPts val="0"/>
              </a:spcAft>
            </a:pPr>
            <a:r>
              <a:rPr sz="1200" b="1">
                <a:solidFill>
                  <a:srgbClr val="0F4C3A"/>
                </a:solidFill>
                <a:latin typeface="Calibri"/>
              </a:rPr>
              <a:t>Roofing comparison: </a:t>
            </a:r>
            <a:r>
              <a:rPr sz="1200" b="0">
                <a:solidFill>
                  <a:srgbClr val="1F2A2E"/>
                </a:solidFill>
                <a:latin typeface="Calibri"/>
              </a:rPr>
              <a:t>every valid method × quality, ranked for your objective, with the basis shown</a:t>
            </a:r>
          </a:p>
        </p:txBody>
      </p:sp>
      <p:pic>
        <p:nvPicPr>
          <p:cNvPr id="11" name="Picture 10" descr="crop_performance.png"/>
          <p:cNvPicPr>
            <a:picLocks noChangeAspect="1"/>
          </p:cNvPicPr>
          <p:nvPr/>
        </p:nvPicPr>
        <p:blipFill>
          <a:blip r:embed="rId5"/>
          <a:stretch>
            <a:fillRect/>
          </a:stretch>
        </p:blipFill>
        <p:spPr>
          <a:xfrm>
            <a:off x="548640" y="4206240"/>
            <a:ext cx="3291840" cy="1779372"/>
          </a:xfrm>
          <a:prstGeom prst="rect">
            <a:avLst/>
          </a:prstGeom>
        </p:spPr>
      </p:pic>
      <p:sp>
        <p:nvSpPr>
          <p:cNvPr id="12" name="TextBox 11"/>
          <p:cNvSpPr txBox="1"/>
          <p:nvPr/>
        </p:nvSpPr>
        <p:spPr>
          <a:xfrm>
            <a:off x="548640" y="6003900"/>
            <a:ext cx="3611880" cy="274320"/>
          </a:xfrm>
          <a:prstGeom prst="rect">
            <a:avLst/>
          </a:prstGeom>
          <a:noFill/>
        </p:spPr>
        <p:txBody>
          <a:bodyPr wrap="square" lIns="45720" rIns="45720" tIns="27432" bIns="27432" anchor="t">
            <a:spAutoFit/>
          </a:bodyPr>
          <a:lstStyle/>
          <a:p>
            <a:pPr algn="l">
              <a:spcAft>
                <a:spcPts val="0"/>
              </a:spcAft>
            </a:pPr>
            <a:r>
              <a:rPr sz="1200" b="1">
                <a:solidFill>
                  <a:srgbClr val="0F4C3A"/>
                </a:solidFill>
                <a:latin typeface="Calibri"/>
              </a:rPr>
              <a:t>Model performance: </a:t>
            </a:r>
            <a:r>
              <a:rPr sz="1200" b="0">
                <a:solidFill>
                  <a:srgbClr val="1F2A2E"/>
                </a:solidFill>
                <a:latin typeface="Calibri"/>
              </a:rPr>
              <a:t>baselines and intervals</a:t>
            </a:r>
          </a:p>
        </p:txBody>
      </p:sp>
      <p:pic>
        <p:nvPicPr>
          <p:cNvPr id="13" name="Picture 12" descr="crop_proposal.png"/>
          <p:cNvPicPr>
            <a:picLocks noChangeAspect="1"/>
          </p:cNvPicPr>
          <p:nvPr/>
        </p:nvPicPr>
        <p:blipFill>
          <a:blip r:embed="rId6"/>
          <a:stretch>
            <a:fillRect/>
          </a:stretch>
        </p:blipFill>
        <p:spPr>
          <a:xfrm>
            <a:off x="4297679" y="4206240"/>
            <a:ext cx="3291840" cy="1779372"/>
          </a:xfrm>
          <a:prstGeom prst="rect">
            <a:avLst/>
          </a:prstGeom>
        </p:spPr>
      </p:pic>
      <p:sp>
        <p:nvSpPr>
          <p:cNvPr id="14" name="TextBox 13"/>
          <p:cNvSpPr txBox="1"/>
          <p:nvPr/>
        </p:nvSpPr>
        <p:spPr>
          <a:xfrm>
            <a:off x="4297679" y="6003900"/>
            <a:ext cx="3611880" cy="274320"/>
          </a:xfrm>
          <a:prstGeom prst="rect">
            <a:avLst/>
          </a:prstGeom>
          <a:noFill/>
        </p:spPr>
        <p:txBody>
          <a:bodyPr wrap="square" lIns="45720" rIns="45720" tIns="27432" bIns="27432" anchor="t">
            <a:spAutoFit/>
          </a:bodyPr>
          <a:lstStyle/>
          <a:p>
            <a:pPr algn="l">
              <a:spcAft>
                <a:spcPts val="0"/>
              </a:spcAft>
            </a:pPr>
            <a:r>
              <a:rPr sz="1200" b="1">
                <a:solidFill>
                  <a:srgbClr val="0F4C3A"/>
                </a:solidFill>
                <a:latin typeface="Calibri"/>
              </a:rPr>
              <a:t>PDF proposal: </a:t>
            </a:r>
            <a:r>
              <a:rPr sz="1200" b="0">
                <a:solidFill>
                  <a:srgbClr val="1F2A2E"/>
                </a:solidFill>
                <a:latin typeface="Calibri"/>
              </a:rPr>
              <a:t>from real predictions</a:t>
            </a:r>
          </a:p>
        </p:txBody>
      </p:sp>
      <p:pic>
        <p:nvPicPr>
          <p:cNvPr id="15" name="Picture 14" descr="crop_assistant.png"/>
          <p:cNvPicPr>
            <a:picLocks noChangeAspect="1"/>
          </p:cNvPicPr>
          <p:nvPr/>
        </p:nvPicPr>
        <p:blipFill>
          <a:blip r:embed="rId7"/>
          <a:stretch>
            <a:fillRect/>
          </a:stretch>
        </p:blipFill>
        <p:spPr>
          <a:xfrm>
            <a:off x="8046719" y="4206240"/>
            <a:ext cx="3291840" cy="1845891"/>
          </a:xfrm>
          <a:prstGeom prst="rect">
            <a:avLst/>
          </a:prstGeom>
        </p:spPr>
      </p:pic>
      <p:sp>
        <p:nvSpPr>
          <p:cNvPr id="16" name="TextBox 15"/>
          <p:cNvSpPr txBox="1"/>
          <p:nvPr/>
        </p:nvSpPr>
        <p:spPr>
          <a:xfrm>
            <a:off x="8046719" y="6070419"/>
            <a:ext cx="3611880" cy="274320"/>
          </a:xfrm>
          <a:prstGeom prst="rect">
            <a:avLst/>
          </a:prstGeom>
          <a:noFill/>
        </p:spPr>
        <p:txBody>
          <a:bodyPr wrap="square" lIns="45720" rIns="45720" tIns="27432" bIns="27432" anchor="t">
            <a:spAutoFit/>
          </a:bodyPr>
          <a:lstStyle/>
          <a:p>
            <a:pPr algn="l">
              <a:spcAft>
                <a:spcPts val="0"/>
              </a:spcAft>
            </a:pPr>
            <a:r>
              <a:rPr sz="1200" b="1">
                <a:solidFill>
                  <a:srgbClr val="0F4C3A"/>
                </a:solidFill>
                <a:latin typeface="Calibri"/>
              </a:rPr>
              <a:t>AI assistant: </a:t>
            </a:r>
            <a:r>
              <a:rPr sz="1200" b="0">
                <a:solidFill>
                  <a:srgbClr val="1F2A2E"/>
                </a:solidFill>
                <a:latin typeface="Calibri"/>
              </a:rPr>
              <a:t>Gemini live-tested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BUSINESS VALUE, LIMITATIONS AND ROADMAP</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Useful today as decision support; honest about what it cannot do</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Source: docs/business_recommendations.md, docs/assumptions_and_decisions.md, docs/model_review.md. Roadmap items are NOT implemented.</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14 / 15</a:t>
            </a:r>
          </a:p>
        </p:txBody>
      </p:sp>
      <p:sp>
        <p:nvSpPr>
          <p:cNvPr id="7" name="Rounded Rectangle 6"/>
          <p:cNvSpPr/>
          <p:nvPr/>
        </p:nvSpPr>
        <p:spPr>
          <a:xfrm>
            <a:off x="548640" y="1417320"/>
            <a:ext cx="3566160" cy="484632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554480"/>
            <a:ext cx="3291840" cy="384048"/>
          </a:xfrm>
          <a:prstGeom prst="roundRect">
            <a:avLst>
              <a:gd name="adj" fmla="val 30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FFFFFF"/>
                </a:solidFill>
                <a:latin typeface="Calibri"/>
              </a:rPr>
              <a:t>Business value (demonstrated)</a:t>
            </a:r>
          </a:p>
        </p:txBody>
      </p:sp>
      <p:sp>
        <p:nvSpPr>
          <p:cNvPr id="9" name="TextBox 8"/>
          <p:cNvSpPr txBox="1"/>
          <p:nvPr/>
        </p:nvSpPr>
        <p:spPr>
          <a:xfrm>
            <a:off x="731520" y="2103120"/>
            <a:ext cx="3246120" cy="4114800"/>
          </a:xfrm>
          <a:prstGeom prst="rect">
            <a:avLst/>
          </a:prstGeom>
          <a:noFill/>
        </p:spPr>
        <p:txBody>
          <a:bodyPr wrap="square" lIns="45720" rIns="45720" tIns="27432" bIns="27432" anchor="t">
            <a:spAutoFit/>
          </a:bodyPr>
          <a:lstStyle/>
          <a:p>
            <a:pPr algn="l">
              <a:spcAft>
                <a:spcPts val="700"/>
              </a:spcAft>
            </a:pPr>
            <a:r>
              <a:rPr sz="1600" b="1">
                <a:solidFill>
                  <a:srgbClr val="0F4C3A"/>
                </a:solidFill>
                <a:latin typeface="Calibri"/>
              </a:rPr>
              <a:t>• </a:t>
            </a:r>
            <a:r>
              <a:rPr sz="1600" b="0">
                <a:solidFill>
                  <a:srgbClr val="1F2A2E"/>
                </a:solidFill>
                <a:latin typeface="Calibri"/>
              </a:rPr>
              <a:t>Preliminary estimates in well under a second</a:t>
            </a:r>
          </a:p>
          <a:p>
            <a:pPr algn="l">
              <a:spcAft>
                <a:spcPts val="700"/>
              </a:spcAft>
            </a:pPr>
            <a:r>
              <a:rPr sz="1600" b="1">
                <a:solidFill>
                  <a:srgbClr val="0F4C3A"/>
                </a:solidFill>
                <a:latin typeface="Calibri"/>
              </a:rPr>
              <a:t>• </a:t>
            </a:r>
            <a:r>
              <a:rPr sz="1600" b="0">
                <a:solidFill>
                  <a:srgbClr val="1F2A2E"/>
                </a:solidFill>
                <a:latin typeface="Calibri"/>
              </a:rPr>
              <a:t>Compare 15 method × quality options per building</a:t>
            </a:r>
          </a:p>
          <a:p>
            <a:pPr algn="l">
              <a:spcAft>
                <a:spcPts val="700"/>
              </a:spcAft>
            </a:pPr>
            <a:r>
              <a:rPr sz="1600" b="1">
                <a:solidFill>
                  <a:srgbClr val="0F4C3A"/>
                </a:solidFill>
                <a:latin typeface="Calibri"/>
              </a:rPr>
              <a:t>• </a:t>
            </a:r>
            <a:r>
              <a:rPr sz="1600" b="0">
                <a:solidFill>
                  <a:srgbClr val="1F2A2E"/>
                </a:solidFill>
                <a:latin typeface="Calibri"/>
              </a:rPr>
              <a:t>Every prediction explained and assumptions visible</a:t>
            </a:r>
          </a:p>
          <a:p>
            <a:pPr algn="l">
              <a:spcAft>
                <a:spcPts val="700"/>
              </a:spcAft>
            </a:pPr>
            <a:r>
              <a:rPr sz="1600" b="1">
                <a:solidFill>
                  <a:srgbClr val="0F4C3A"/>
                </a:solidFill>
                <a:latin typeface="Calibri"/>
              </a:rPr>
              <a:t>• </a:t>
            </a:r>
            <a:r>
              <a:rPr sz="1600" b="0">
                <a:solidFill>
                  <a:srgbClr val="1F2A2E"/>
                </a:solidFill>
                <a:latin typeface="Calibri"/>
              </a:rPr>
              <a:t>Proposal PDFs from real model outputs</a:t>
            </a:r>
          </a:p>
          <a:p>
            <a:pPr algn="l">
              <a:spcAft>
                <a:spcPts val="700"/>
              </a:spcAft>
            </a:pPr>
            <a:r>
              <a:rPr sz="1600" b="1">
                <a:solidFill>
                  <a:srgbClr val="0F4C3A"/>
                </a:solidFill>
                <a:latin typeface="Calibri"/>
              </a:rPr>
              <a:t>• </a:t>
            </a:r>
            <a:r>
              <a:rPr sz="1600" b="0">
                <a:solidFill>
                  <a:srgbClr val="1F2A2E"/>
                </a:solidFill>
                <a:latin typeface="Calibri"/>
              </a:rPr>
              <a:t>Payback only from the customer's own tariff</a:t>
            </a:r>
          </a:p>
        </p:txBody>
      </p:sp>
      <p:sp>
        <p:nvSpPr>
          <p:cNvPr id="10" name="Rounded Rectangle 9"/>
          <p:cNvSpPr/>
          <p:nvPr/>
        </p:nvSpPr>
        <p:spPr>
          <a:xfrm>
            <a:off x="4297679" y="1417320"/>
            <a:ext cx="3566160" cy="484632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34840" y="1554480"/>
            <a:ext cx="3291840" cy="384048"/>
          </a:xfrm>
          <a:prstGeom prst="roundRect">
            <a:avLst>
              <a:gd name="adj" fmla="val 30000"/>
            </a:avLst>
          </a:prstGeom>
          <a:solidFill>
            <a:srgbClr val="B0412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FFFFFF"/>
                </a:solidFill>
                <a:latin typeface="Calibri"/>
              </a:rPr>
              <a:t>Limitations (stated openly)</a:t>
            </a:r>
          </a:p>
        </p:txBody>
      </p:sp>
      <p:sp>
        <p:nvSpPr>
          <p:cNvPr id="12" name="TextBox 11"/>
          <p:cNvSpPr txBox="1"/>
          <p:nvPr/>
        </p:nvSpPr>
        <p:spPr>
          <a:xfrm>
            <a:off x="4480559" y="2103120"/>
            <a:ext cx="3246120" cy="4114800"/>
          </a:xfrm>
          <a:prstGeom prst="rect">
            <a:avLst/>
          </a:prstGeom>
          <a:noFill/>
        </p:spPr>
        <p:txBody>
          <a:bodyPr wrap="square" lIns="45720" rIns="45720" tIns="27432" bIns="27432" anchor="t">
            <a:spAutoFit/>
          </a:bodyPr>
          <a:lstStyle/>
          <a:p>
            <a:pPr algn="l">
              <a:spcAft>
                <a:spcPts val="700"/>
              </a:spcAft>
            </a:pPr>
            <a:r>
              <a:rPr sz="1600" b="1">
                <a:solidFill>
                  <a:srgbClr val="B0412C"/>
                </a:solidFill>
                <a:latin typeface="Calibri"/>
              </a:rPr>
              <a:t>• </a:t>
            </a:r>
            <a:r>
              <a:rPr sz="1600" b="0">
                <a:solidFill>
                  <a:srgbClr val="1F2A2E"/>
                </a:solidFill>
                <a:latin typeface="Calibri"/>
              </a:rPr>
              <a:t>Estimates, not guarantees</a:t>
            </a:r>
          </a:p>
          <a:p>
            <a:pPr algn="l">
              <a:spcAft>
                <a:spcPts val="700"/>
              </a:spcAft>
            </a:pPr>
            <a:r>
              <a:rPr sz="1600" b="1">
                <a:solidFill>
                  <a:srgbClr val="B0412C"/>
                </a:solidFill>
                <a:latin typeface="Calibri"/>
              </a:rPr>
              <a:t>• </a:t>
            </a:r>
            <a:r>
              <a:rPr sz="1600" b="0">
                <a:solidFill>
                  <a:srgbClr val="1F2A2E"/>
                </a:solidFill>
                <a:latin typeface="Calibri"/>
              </a:rPr>
              <a:t>0 kWh placeholder treatment is an inference</a:t>
            </a:r>
          </a:p>
          <a:p>
            <a:pPr algn="l">
              <a:spcAft>
                <a:spcPts val="700"/>
              </a:spcAft>
            </a:pPr>
            <a:r>
              <a:rPr sz="1600" b="1">
                <a:solidFill>
                  <a:srgbClr val="B0412C"/>
                </a:solidFill>
                <a:latin typeface="Calibri"/>
              </a:rPr>
              <a:t>• </a:t>
            </a:r>
            <a:r>
              <a:rPr sz="1600" b="0">
                <a:solidFill>
                  <a:srgbClr val="1F2A2E"/>
                </a:solidFill>
                <a:latin typeface="Calibri"/>
              </a:rPr>
              <a:t>Rating and referral only weakly predictable</a:t>
            </a:r>
          </a:p>
          <a:p>
            <a:pPr algn="l">
              <a:spcAft>
                <a:spcPts val="700"/>
              </a:spcAft>
            </a:pPr>
            <a:r>
              <a:rPr sz="1600" b="1">
                <a:solidFill>
                  <a:srgbClr val="B0412C"/>
                </a:solidFill>
                <a:latin typeface="Calibri"/>
              </a:rPr>
              <a:t>• </a:t>
            </a:r>
            <a:r>
              <a:rPr sz="1600" b="0">
                <a:solidFill>
                  <a:srgbClr val="1F2A2E"/>
                </a:solidFill>
                <a:latin typeface="Calibri"/>
              </a:rPr>
              <a:t>High-rating threshold (4★) is our assumption</a:t>
            </a:r>
          </a:p>
          <a:p>
            <a:pPr algn="l">
              <a:spcAft>
                <a:spcPts val="700"/>
              </a:spcAft>
            </a:pPr>
            <a:r>
              <a:rPr sz="1600" b="1">
                <a:solidFill>
                  <a:srgbClr val="B0412C"/>
                </a:solidFill>
                <a:latin typeface="Calibri"/>
              </a:rPr>
              <a:t>• </a:t>
            </a:r>
            <a:r>
              <a:rPr sz="1600" b="0">
                <a:solidFill>
                  <a:srgbClr val="1F2A2E"/>
                </a:solidFill>
                <a:latin typeface="Calibri"/>
              </a:rPr>
              <a:t>Associations, not causation; no time or location fields</a:t>
            </a:r>
          </a:p>
          <a:p>
            <a:pPr algn="l">
              <a:spcAft>
                <a:spcPts val="700"/>
              </a:spcAft>
            </a:pPr>
            <a:r>
              <a:rPr sz="1600" b="1">
                <a:solidFill>
                  <a:srgbClr val="B0412C"/>
                </a:solidFill>
                <a:latin typeface="Calibri"/>
              </a:rPr>
              <a:t>• </a:t>
            </a:r>
            <a:r>
              <a:rPr sz="1600" b="0">
                <a:solidFill>
                  <a:srgbClr val="1F2A2E"/>
                </a:solidFill>
                <a:latin typeface="Calibri"/>
              </a:rPr>
              <a:t>Claude not live-tested (Gemini is)</a:t>
            </a:r>
          </a:p>
        </p:txBody>
      </p:sp>
      <p:sp>
        <p:nvSpPr>
          <p:cNvPr id="13" name="Rounded Rectangle 12"/>
          <p:cNvSpPr/>
          <p:nvPr/>
        </p:nvSpPr>
        <p:spPr>
          <a:xfrm>
            <a:off x="8046719" y="1417320"/>
            <a:ext cx="3566160" cy="4846320"/>
          </a:xfrm>
          <a:prstGeom prst="roundRect">
            <a:avLst>
              <a:gd name="adj" fmla="val 6000"/>
            </a:avLst>
          </a:prstGeom>
          <a:solidFill>
            <a:srgbClr val="F3F4F4"/>
          </a:solidFill>
          <a:ln w="15875">
            <a:solidFill>
              <a:srgbClr val="D5D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83879" y="1554480"/>
            <a:ext cx="3291840" cy="384048"/>
          </a:xfrm>
          <a:prstGeom prst="roundRect">
            <a:avLst>
              <a:gd name="adj" fmla="val 30000"/>
            </a:avLst>
          </a:prstGeom>
          <a:solidFill>
            <a:srgbClr val="5F6E73"/>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FFFFFF"/>
                </a:solidFill>
                <a:latin typeface="Calibri"/>
              </a:rPr>
              <a:t>Roadmap (future, not built)</a:t>
            </a:r>
          </a:p>
        </p:txBody>
      </p:sp>
      <p:sp>
        <p:nvSpPr>
          <p:cNvPr id="15" name="TextBox 14"/>
          <p:cNvSpPr txBox="1"/>
          <p:nvPr/>
        </p:nvSpPr>
        <p:spPr>
          <a:xfrm>
            <a:off x="8229599" y="2103120"/>
            <a:ext cx="3246120" cy="4114800"/>
          </a:xfrm>
          <a:prstGeom prst="rect">
            <a:avLst/>
          </a:prstGeom>
          <a:noFill/>
        </p:spPr>
        <p:txBody>
          <a:bodyPr wrap="square" lIns="45720" rIns="45720" tIns="27432" bIns="27432" anchor="t">
            <a:spAutoFit/>
          </a:bodyPr>
          <a:lstStyle/>
          <a:p>
            <a:pPr algn="l">
              <a:spcAft>
                <a:spcPts val="700"/>
              </a:spcAft>
            </a:pPr>
            <a:r>
              <a:rPr sz="1600" b="1">
                <a:solidFill>
                  <a:srgbClr val="5F6E73"/>
                </a:solidFill>
                <a:latin typeface="Calibri"/>
              </a:rPr>
              <a:t>• </a:t>
            </a:r>
            <a:r>
              <a:rPr sz="1600" b="0">
                <a:solidFill>
                  <a:srgbClr val="5F6E73"/>
                </a:solidFill>
                <a:latin typeface="Calibri"/>
              </a:rPr>
              <a:t>Validate on newly measured installations</a:t>
            </a:r>
          </a:p>
          <a:p>
            <a:pPr algn="l">
              <a:spcAft>
                <a:spcPts val="700"/>
              </a:spcAft>
            </a:pPr>
            <a:r>
              <a:rPr sz="1600" b="1">
                <a:solidFill>
                  <a:srgbClr val="5F6E73"/>
                </a:solidFill>
                <a:latin typeface="Calibri"/>
              </a:rPr>
              <a:t>• </a:t>
            </a:r>
            <a:r>
              <a:rPr sz="1600" b="0">
                <a:solidFill>
                  <a:srgbClr val="5F6E73"/>
                </a:solidFill>
                <a:latin typeface="Calibri"/>
              </a:rPr>
              <a:t>Digital-twin simulator</a:t>
            </a:r>
          </a:p>
          <a:p>
            <a:pPr algn="l">
              <a:spcAft>
                <a:spcPts val="700"/>
              </a:spcAft>
            </a:pPr>
            <a:r>
              <a:rPr sz="1600" b="1">
                <a:solidFill>
                  <a:srgbClr val="5F6E73"/>
                </a:solidFill>
                <a:latin typeface="Calibri"/>
              </a:rPr>
              <a:t>• </a:t>
            </a:r>
            <a:r>
              <a:rPr sz="1600" b="0">
                <a:solidFill>
                  <a:srgbClr val="5F6E73"/>
                </a:solidFill>
                <a:latin typeface="Calibri"/>
              </a:rPr>
              <a:t>Carbon-savings tracker</a:t>
            </a:r>
          </a:p>
          <a:p>
            <a:pPr algn="l">
              <a:spcAft>
                <a:spcPts val="700"/>
              </a:spcAft>
            </a:pPr>
            <a:r>
              <a:rPr sz="1600" b="1">
                <a:solidFill>
                  <a:srgbClr val="5F6E73"/>
                </a:solidFill>
                <a:latin typeface="Calibri"/>
              </a:rPr>
              <a:t>• </a:t>
            </a:r>
            <a:r>
              <a:rPr sz="1600" b="0">
                <a:solidFill>
                  <a:srgbClr val="5F6E73"/>
                </a:solidFill>
                <a:latin typeface="Calibri"/>
              </a:rPr>
              <a:t>Geo-climate intelligence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8229600" cy="274320"/>
          </a:xfrm>
          <a:prstGeom prst="rect">
            <a:avLst/>
          </a:prstGeom>
          <a:noFill/>
        </p:spPr>
        <p:txBody>
          <a:bodyPr wrap="square" lIns="45720" rIns="45720" tIns="27432" bIns="27432" anchor="t">
            <a:spAutoFit/>
          </a:bodyPr>
          <a:lstStyle/>
          <a:p>
            <a:pPr algn="l">
              <a:spcAft>
                <a:spcPts val="0"/>
              </a:spcAft>
            </a:pPr>
            <a:r>
              <a:rPr sz="1200" b="1">
                <a:solidFill>
                  <a:srgbClr val="0E7C86"/>
                </a:solidFill>
                <a:latin typeface="Calibri"/>
              </a:rPr>
              <a:t>CONCLUSION</a:t>
            </a:r>
          </a:p>
        </p:txBody>
      </p:sp>
      <p:sp>
        <p:nvSpPr>
          <p:cNvPr id="4" name="TextBox 3"/>
          <p:cNvSpPr txBox="1"/>
          <p:nvPr/>
        </p:nvSpPr>
        <p:spPr>
          <a:xfrm>
            <a:off x="548640" y="502920"/>
            <a:ext cx="11064240" cy="822960"/>
          </a:xfrm>
          <a:prstGeom prst="rect">
            <a:avLst/>
          </a:prstGeom>
          <a:noFill/>
        </p:spPr>
        <p:txBody>
          <a:bodyPr wrap="square" lIns="45720" rIns="45720" tIns="27432" bIns="27432" anchor="t">
            <a:spAutoFit/>
          </a:bodyPr>
          <a:lstStyle/>
          <a:p>
            <a:pPr algn="l">
              <a:spcAft>
                <a:spcPts val="0"/>
              </a:spcAft>
            </a:pPr>
            <a:r>
              <a:rPr sz="2800" b="1">
                <a:solidFill>
                  <a:srgbClr val="0F4C3A"/>
                </a:solidFill>
                <a:latin typeface="Calibri"/>
              </a:rPr>
              <a:t>From 2,500 past roofs to decisions that are explained and honest</a:t>
            </a:r>
          </a:p>
        </p:txBody>
      </p:sp>
      <p:sp>
        <p:nvSpPr>
          <p:cNvPr id="5" name="TextBox 4"/>
          <p:cNvSpPr txBox="1"/>
          <p:nvPr/>
        </p:nvSpPr>
        <p:spPr>
          <a:xfrm>
            <a:off x="548640" y="6473952"/>
            <a:ext cx="9875520" cy="274320"/>
          </a:xfrm>
          <a:prstGeom prst="rect">
            <a:avLst/>
          </a:prstGeom>
          <a:noFill/>
        </p:spPr>
        <p:txBody>
          <a:bodyPr wrap="square" lIns="45720" rIns="45720" tIns="27432" bIns="27432" anchor="t">
            <a:spAutoFit/>
          </a:bodyPr>
          <a:lstStyle/>
          <a:p>
            <a:pPr algn="l">
              <a:spcAft>
                <a:spcPts val="0"/>
              </a:spcAft>
            </a:pPr>
            <a:r>
              <a:rPr sz="1100" b="0">
                <a:solidFill>
                  <a:srgbClr val="5F6E73"/>
                </a:solidFill>
                <a:latin typeface="Calibri"/>
              </a:rPr>
              <a:t>Cool Roofing Intelligence · all figures from the project's saved reports</a:t>
            </a:r>
          </a:p>
        </p:txBody>
      </p:sp>
      <p:sp>
        <p:nvSpPr>
          <p:cNvPr id="6" name="TextBox 5"/>
          <p:cNvSpPr txBox="1"/>
          <p:nvPr/>
        </p:nvSpPr>
        <p:spPr>
          <a:xfrm>
            <a:off x="10881360" y="6473952"/>
            <a:ext cx="777240" cy="274320"/>
          </a:xfrm>
          <a:prstGeom prst="rect">
            <a:avLst/>
          </a:prstGeom>
          <a:noFill/>
        </p:spPr>
        <p:txBody>
          <a:bodyPr wrap="square" lIns="45720" rIns="45720" tIns="27432" bIns="27432" anchor="t">
            <a:spAutoFit/>
          </a:bodyPr>
          <a:lstStyle/>
          <a:p>
            <a:pPr algn="r">
              <a:spcAft>
                <a:spcPts val="0"/>
              </a:spcAft>
            </a:pPr>
            <a:r>
              <a:rPr sz="1100" b="0">
                <a:solidFill>
                  <a:srgbClr val="5F6E73"/>
                </a:solidFill>
                <a:latin typeface="Calibri"/>
              </a:rPr>
              <a:t>15 / 15</a:t>
            </a:r>
          </a:p>
        </p:txBody>
      </p:sp>
      <p:sp>
        <p:nvSpPr>
          <p:cNvPr id="7" name="Rounded Rectangle 6"/>
          <p:cNvSpPr/>
          <p:nvPr/>
        </p:nvSpPr>
        <p:spPr>
          <a:xfrm>
            <a:off x="548640" y="1508760"/>
            <a:ext cx="2651760" cy="29260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08760"/>
            <a:ext cx="2651760" cy="82296"/>
          </a:xfrm>
          <a:prstGeom prst="rect">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691640"/>
            <a:ext cx="2432304" cy="457200"/>
          </a:xfrm>
          <a:prstGeom prst="rect">
            <a:avLst/>
          </a:prstGeom>
          <a:noFill/>
        </p:spPr>
        <p:txBody>
          <a:bodyPr wrap="square" lIns="45720" rIns="45720" tIns="27432" bIns="27432" anchor="t">
            <a:spAutoFit/>
          </a:bodyPr>
          <a:lstStyle/>
          <a:p>
            <a:pPr algn="l">
              <a:spcAft>
                <a:spcPts val="0"/>
              </a:spcAft>
            </a:pPr>
            <a:r>
              <a:rPr sz="1700" b="1">
                <a:solidFill>
                  <a:srgbClr val="0F4C3A"/>
                </a:solidFill>
                <a:latin typeface="Calibri"/>
              </a:rPr>
              <a:t>What we built</a:t>
            </a:r>
          </a:p>
        </p:txBody>
      </p:sp>
      <p:sp>
        <p:nvSpPr>
          <p:cNvPr id="10" name="TextBox 9"/>
          <p:cNvSpPr txBox="1"/>
          <p:nvPr/>
        </p:nvSpPr>
        <p:spPr>
          <a:xfrm>
            <a:off x="658368" y="2240280"/>
            <a:ext cx="2432304" cy="2194560"/>
          </a:xfrm>
          <a:prstGeom prst="rect">
            <a:avLst/>
          </a:prstGeom>
          <a:noFill/>
        </p:spPr>
        <p:txBody>
          <a:bodyPr wrap="square" lIns="45720" rIns="45720" tIns="27432" bIns="27432" anchor="t">
            <a:spAutoFit/>
          </a:bodyPr>
          <a:lstStyle/>
          <a:p>
            <a:pPr algn="l">
              <a:spcAft>
                <a:spcPts val="500"/>
              </a:spcAft>
            </a:pPr>
            <a:r>
              <a:rPr sz="1400" b="1">
                <a:solidFill>
                  <a:srgbClr val="0E7C86"/>
                </a:solidFill>
                <a:latin typeface="Calibri"/>
              </a:rPr>
              <a:t>• </a:t>
            </a:r>
            <a:r>
              <a:rPr sz="1400" b="0">
                <a:solidFill>
                  <a:srgbClr val="1F2A2E"/>
                </a:solidFill>
                <a:latin typeface="Calibri"/>
              </a:rPr>
              <a:t>Audit + cleaning pipeline</a:t>
            </a:r>
          </a:p>
          <a:p>
            <a:pPr algn="l">
              <a:spcAft>
                <a:spcPts val="500"/>
              </a:spcAft>
            </a:pPr>
            <a:r>
              <a:rPr sz="1400" b="1">
                <a:solidFill>
                  <a:srgbClr val="0E7C86"/>
                </a:solidFill>
                <a:latin typeface="Calibri"/>
              </a:rPr>
              <a:t>• </a:t>
            </a:r>
            <a:r>
              <a:rPr sz="1400" b="0">
                <a:solidFill>
                  <a:srgbClr val="1F2A2E"/>
                </a:solidFill>
                <a:latin typeface="Calibri"/>
              </a:rPr>
              <a:t>6 models, 5 tasks</a:t>
            </a:r>
          </a:p>
          <a:p>
            <a:pPr algn="l">
              <a:spcAft>
                <a:spcPts val="500"/>
              </a:spcAft>
            </a:pPr>
            <a:r>
              <a:rPr sz="1400" b="1">
                <a:solidFill>
                  <a:srgbClr val="0E7C86"/>
                </a:solidFill>
                <a:latin typeface="Calibri"/>
              </a:rPr>
              <a:t>• </a:t>
            </a:r>
            <a:r>
              <a:rPr sz="1400" b="0">
                <a:solidFill>
                  <a:srgbClr val="1F2A2E"/>
                </a:solidFill>
                <a:latin typeface="Calibri"/>
              </a:rPr>
              <a:t>Compare · explain · propose</a:t>
            </a:r>
          </a:p>
          <a:p>
            <a:pPr algn="l">
              <a:spcAft>
                <a:spcPts val="500"/>
              </a:spcAft>
            </a:pPr>
            <a:r>
              <a:rPr sz="1400" b="1">
                <a:solidFill>
                  <a:srgbClr val="0E7C86"/>
                </a:solidFill>
                <a:latin typeface="Calibri"/>
              </a:rPr>
              <a:t>• </a:t>
            </a:r>
            <a:r>
              <a:rPr sz="1400" b="0">
                <a:solidFill>
                  <a:srgbClr val="1F2A2E"/>
                </a:solidFill>
                <a:latin typeface="Calibri"/>
              </a:rPr>
              <a:t>175 automated tests</a:t>
            </a:r>
          </a:p>
        </p:txBody>
      </p:sp>
      <p:sp>
        <p:nvSpPr>
          <p:cNvPr id="11" name="Rounded Rectangle 10"/>
          <p:cNvSpPr/>
          <p:nvPr/>
        </p:nvSpPr>
        <p:spPr>
          <a:xfrm>
            <a:off x="3364992" y="1508760"/>
            <a:ext cx="2651760" cy="29260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64992" y="1508760"/>
            <a:ext cx="2651760" cy="8229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0" y="1691640"/>
            <a:ext cx="2432304" cy="457200"/>
          </a:xfrm>
          <a:prstGeom prst="rect">
            <a:avLst/>
          </a:prstGeom>
          <a:noFill/>
        </p:spPr>
        <p:txBody>
          <a:bodyPr wrap="square" lIns="45720" rIns="45720" tIns="27432" bIns="27432" anchor="t">
            <a:spAutoFit/>
          </a:bodyPr>
          <a:lstStyle/>
          <a:p>
            <a:pPr algn="l">
              <a:spcAft>
                <a:spcPts val="0"/>
              </a:spcAft>
            </a:pPr>
            <a:r>
              <a:rPr sz="1700" b="1">
                <a:solidFill>
                  <a:srgbClr val="0F4C3A"/>
                </a:solidFill>
                <a:latin typeface="Calibri"/>
              </a:rPr>
              <a:t>What the evidence supports</a:t>
            </a:r>
          </a:p>
        </p:txBody>
      </p:sp>
      <p:sp>
        <p:nvSpPr>
          <p:cNvPr id="14" name="TextBox 13"/>
          <p:cNvSpPr txBox="1"/>
          <p:nvPr/>
        </p:nvSpPr>
        <p:spPr>
          <a:xfrm>
            <a:off x="3474720" y="2240280"/>
            <a:ext cx="2432304" cy="2194560"/>
          </a:xfrm>
          <a:prstGeom prst="rect">
            <a:avLst/>
          </a:prstGeom>
          <a:noFill/>
        </p:spPr>
        <p:txBody>
          <a:bodyPr wrap="square" lIns="45720" rIns="45720" tIns="27432" bIns="27432" anchor="t">
            <a:spAutoFit/>
          </a:bodyPr>
          <a:lstStyle/>
          <a:p>
            <a:pPr algn="l">
              <a:spcAft>
                <a:spcPts val="500"/>
              </a:spcAft>
            </a:pPr>
            <a:r>
              <a:rPr sz="1400" b="1">
                <a:solidFill>
                  <a:srgbClr val="0E7C86"/>
                </a:solidFill>
                <a:latin typeface="Calibri"/>
              </a:rPr>
              <a:t>• </a:t>
            </a:r>
            <a:r>
              <a:rPr sz="1400" b="0">
                <a:solidFill>
                  <a:srgbClr val="1F2A2E"/>
                </a:solidFill>
                <a:latin typeface="Calibri"/>
              </a:rPr>
              <a:t>Cost MAE ₹25,299</a:t>
            </a:r>
          </a:p>
          <a:p>
            <a:pPr algn="l">
              <a:spcAft>
                <a:spcPts val="500"/>
              </a:spcAft>
            </a:pPr>
            <a:r>
              <a:rPr sz="1400" b="1">
                <a:solidFill>
                  <a:srgbClr val="0E7C86"/>
                </a:solidFill>
                <a:latin typeface="Calibri"/>
              </a:rPr>
              <a:t>• </a:t>
            </a:r>
            <a:r>
              <a:rPr sz="1400" b="0">
                <a:solidFill>
                  <a:srgbClr val="1F2A2E"/>
                </a:solidFill>
                <a:latin typeface="Calibri"/>
              </a:rPr>
              <a:t>Cooling MAE 0.41 °C</a:t>
            </a:r>
          </a:p>
          <a:p>
            <a:pPr algn="l">
              <a:spcAft>
                <a:spcPts val="500"/>
              </a:spcAft>
            </a:pPr>
            <a:r>
              <a:rPr sz="1400" b="1">
                <a:solidFill>
                  <a:srgbClr val="0E7C86"/>
                </a:solidFill>
                <a:latin typeface="Calibri"/>
              </a:rPr>
              <a:t>• </a:t>
            </a:r>
            <a:r>
              <a:rPr sz="1400" b="0">
                <a:solidFill>
                  <a:srgbClr val="1F2A2E"/>
                </a:solidFill>
                <a:latin typeface="Calibri"/>
              </a:rPr>
              <a:t>Savings MAE 3.62 kWh</a:t>
            </a:r>
          </a:p>
          <a:p>
            <a:pPr algn="l">
              <a:spcAft>
                <a:spcPts val="500"/>
              </a:spcAft>
            </a:pPr>
            <a:r>
              <a:rPr sz="1400" b="1">
                <a:solidFill>
                  <a:srgbClr val="0E7C86"/>
                </a:solidFill>
                <a:latin typeface="Calibri"/>
              </a:rPr>
              <a:t>• </a:t>
            </a:r>
            <a:r>
              <a:rPr sz="1400" b="0">
                <a:solidFill>
                  <a:srgbClr val="1F2A2E"/>
                </a:solidFill>
                <a:latin typeface="Calibri"/>
              </a:rPr>
              <a:t>Rating and referral: weak signal</a:t>
            </a:r>
          </a:p>
        </p:txBody>
      </p:sp>
      <p:sp>
        <p:nvSpPr>
          <p:cNvPr id="15" name="Rounded Rectangle 14"/>
          <p:cNvSpPr/>
          <p:nvPr/>
        </p:nvSpPr>
        <p:spPr>
          <a:xfrm>
            <a:off x="6181344" y="1508760"/>
            <a:ext cx="2651760" cy="29260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508760"/>
            <a:ext cx="2651760" cy="8229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1691640"/>
            <a:ext cx="2432304" cy="457200"/>
          </a:xfrm>
          <a:prstGeom prst="rect">
            <a:avLst/>
          </a:prstGeom>
          <a:noFill/>
        </p:spPr>
        <p:txBody>
          <a:bodyPr wrap="square" lIns="45720" rIns="45720" tIns="27432" bIns="27432" anchor="t">
            <a:spAutoFit/>
          </a:bodyPr>
          <a:lstStyle/>
          <a:p>
            <a:pPr algn="l">
              <a:spcAft>
                <a:spcPts val="0"/>
              </a:spcAft>
            </a:pPr>
            <a:r>
              <a:rPr sz="1700" b="1">
                <a:solidFill>
                  <a:srgbClr val="0F4C3A"/>
                </a:solidFill>
                <a:latin typeface="Calibri"/>
              </a:rPr>
              <a:t>Strongest capabilities</a:t>
            </a:r>
          </a:p>
        </p:txBody>
      </p:sp>
      <p:sp>
        <p:nvSpPr>
          <p:cNvPr id="18" name="TextBox 17"/>
          <p:cNvSpPr txBox="1"/>
          <p:nvPr/>
        </p:nvSpPr>
        <p:spPr>
          <a:xfrm>
            <a:off x="6291072" y="2240280"/>
            <a:ext cx="2432304" cy="2194560"/>
          </a:xfrm>
          <a:prstGeom prst="rect">
            <a:avLst/>
          </a:prstGeom>
          <a:noFill/>
        </p:spPr>
        <p:txBody>
          <a:bodyPr wrap="square" lIns="45720" rIns="45720" tIns="27432" bIns="27432" anchor="t">
            <a:spAutoFit/>
          </a:bodyPr>
          <a:lstStyle/>
          <a:p>
            <a:pPr algn="l">
              <a:spcAft>
                <a:spcPts val="500"/>
              </a:spcAft>
            </a:pPr>
            <a:r>
              <a:rPr sz="1400" b="1">
                <a:solidFill>
                  <a:srgbClr val="0E7C86"/>
                </a:solidFill>
                <a:latin typeface="Calibri"/>
              </a:rPr>
              <a:t>• </a:t>
            </a:r>
            <a:r>
              <a:rPr sz="1400" b="0">
                <a:solidFill>
                  <a:srgbClr val="1F2A2E"/>
                </a:solidFill>
                <a:latin typeface="Calibri"/>
              </a:rPr>
              <a:t>Leakage-free, hold-out-verified</a:t>
            </a:r>
          </a:p>
          <a:p>
            <a:pPr algn="l">
              <a:spcAft>
                <a:spcPts val="500"/>
              </a:spcAft>
            </a:pPr>
            <a:r>
              <a:rPr sz="1400" b="1">
                <a:solidFill>
                  <a:srgbClr val="0E7C86"/>
                </a:solidFill>
                <a:latin typeface="Calibri"/>
              </a:rPr>
              <a:t>• </a:t>
            </a:r>
            <a:r>
              <a:rPr sz="1400" b="0">
                <a:solidFill>
                  <a:srgbClr val="1F2A2E"/>
                </a:solidFill>
                <a:latin typeface="Calibri"/>
              </a:rPr>
              <a:t>Honest baselines and CIs</a:t>
            </a:r>
          </a:p>
          <a:p>
            <a:pPr algn="l">
              <a:spcAft>
                <a:spcPts val="500"/>
              </a:spcAft>
            </a:pPr>
            <a:r>
              <a:rPr sz="1400" b="1">
                <a:solidFill>
                  <a:srgbClr val="0E7C86"/>
                </a:solidFill>
                <a:latin typeface="Calibri"/>
              </a:rPr>
              <a:t>• </a:t>
            </a:r>
            <a:r>
              <a:rPr sz="1400" b="0">
                <a:solidFill>
                  <a:srgbClr val="1F2A2E"/>
                </a:solidFill>
                <a:latin typeface="Calibri"/>
              </a:rPr>
              <a:t>Explanations per customer</a:t>
            </a:r>
          </a:p>
          <a:p>
            <a:pPr algn="l">
              <a:spcAft>
                <a:spcPts val="500"/>
              </a:spcAft>
            </a:pPr>
            <a:r>
              <a:rPr sz="1400" b="1">
                <a:solidFill>
                  <a:srgbClr val="0E7C86"/>
                </a:solidFill>
                <a:latin typeface="Calibri"/>
              </a:rPr>
              <a:t>• </a:t>
            </a:r>
            <a:r>
              <a:rPr sz="1400" b="0">
                <a:solidFill>
                  <a:srgbClr val="1F2A2E"/>
                </a:solidFill>
                <a:latin typeface="Calibri"/>
              </a:rPr>
              <a:t>Working end-to-end app</a:t>
            </a:r>
          </a:p>
        </p:txBody>
      </p:sp>
      <p:sp>
        <p:nvSpPr>
          <p:cNvPr id="19" name="Rounded Rectangle 18"/>
          <p:cNvSpPr/>
          <p:nvPr/>
        </p:nvSpPr>
        <p:spPr>
          <a:xfrm>
            <a:off x="8997696" y="1508760"/>
            <a:ext cx="2651760" cy="2926080"/>
          </a:xfrm>
          <a:prstGeom prst="roundRect">
            <a:avLst>
              <a:gd name="adj" fmla="val 6000"/>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97696" y="1508760"/>
            <a:ext cx="2651760" cy="82296"/>
          </a:xfrm>
          <a:prstGeom prst="rect">
            <a:avLst/>
          </a:prstGeom>
          <a:solidFill>
            <a:srgbClr val="5F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1691640"/>
            <a:ext cx="2432304" cy="457200"/>
          </a:xfrm>
          <a:prstGeom prst="rect">
            <a:avLst/>
          </a:prstGeom>
          <a:noFill/>
        </p:spPr>
        <p:txBody>
          <a:bodyPr wrap="square" lIns="45720" rIns="45720" tIns="27432" bIns="27432" anchor="t">
            <a:spAutoFit/>
          </a:bodyPr>
          <a:lstStyle/>
          <a:p>
            <a:pPr algn="l">
              <a:spcAft>
                <a:spcPts val="0"/>
              </a:spcAft>
            </a:pPr>
            <a:r>
              <a:rPr sz="1700" b="1">
                <a:solidFill>
                  <a:srgbClr val="0F4C3A"/>
                </a:solidFill>
                <a:latin typeface="Calibri"/>
              </a:rPr>
              <a:t>Next step</a:t>
            </a:r>
          </a:p>
        </p:txBody>
      </p:sp>
      <p:sp>
        <p:nvSpPr>
          <p:cNvPr id="22" name="TextBox 21"/>
          <p:cNvSpPr txBox="1"/>
          <p:nvPr/>
        </p:nvSpPr>
        <p:spPr>
          <a:xfrm>
            <a:off x="9107424" y="2240280"/>
            <a:ext cx="2432304" cy="2194560"/>
          </a:xfrm>
          <a:prstGeom prst="rect">
            <a:avLst/>
          </a:prstGeom>
          <a:noFill/>
        </p:spPr>
        <p:txBody>
          <a:bodyPr wrap="square" lIns="45720" rIns="45720" tIns="27432" bIns="27432" anchor="t">
            <a:spAutoFit/>
          </a:bodyPr>
          <a:lstStyle/>
          <a:p>
            <a:pPr algn="l">
              <a:spcAft>
                <a:spcPts val="500"/>
              </a:spcAft>
            </a:pPr>
            <a:r>
              <a:rPr sz="1400" b="1">
                <a:solidFill>
                  <a:srgbClr val="0E7C86"/>
                </a:solidFill>
                <a:latin typeface="Calibri"/>
              </a:rPr>
              <a:t>• </a:t>
            </a:r>
            <a:r>
              <a:rPr sz="1400" b="0">
                <a:solidFill>
                  <a:srgbClr val="1F2A2E"/>
                </a:solidFill>
                <a:latin typeface="Calibri"/>
              </a:rPr>
              <a:t>Validate on newly measured installations</a:t>
            </a:r>
          </a:p>
          <a:p>
            <a:pPr algn="l">
              <a:spcAft>
                <a:spcPts val="500"/>
              </a:spcAft>
            </a:pPr>
            <a:r>
              <a:rPr sz="1400" b="1">
                <a:solidFill>
                  <a:srgbClr val="0E7C86"/>
                </a:solidFill>
                <a:latin typeface="Calibri"/>
              </a:rPr>
              <a:t>• </a:t>
            </a:r>
            <a:r>
              <a:rPr sz="1400" b="0">
                <a:solidFill>
                  <a:srgbClr val="1F2A2E"/>
                </a:solidFill>
                <a:latin typeface="Calibri"/>
              </a:rPr>
              <a:t>Then: digital twin, carbon tracker, geo-climate</a:t>
            </a:r>
          </a:p>
        </p:txBody>
      </p:sp>
      <p:sp>
        <p:nvSpPr>
          <p:cNvPr id="23" name="Rounded Rectangle 22"/>
          <p:cNvSpPr/>
          <p:nvPr/>
        </p:nvSpPr>
        <p:spPr>
          <a:xfrm>
            <a:off x="548640" y="4709160"/>
            <a:ext cx="11064240" cy="1051560"/>
          </a:xfrm>
          <a:prstGeom prst="roundRect">
            <a:avLst>
              <a:gd name="adj" fmla="val 6000"/>
            </a:avLst>
          </a:prstGeom>
          <a:solidFill>
            <a:srgbClr val="0F4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754880"/>
            <a:ext cx="10607040" cy="960120"/>
          </a:xfrm>
          <a:prstGeom prst="rect">
            <a:avLst/>
          </a:prstGeom>
          <a:noFill/>
        </p:spPr>
        <p:txBody>
          <a:bodyPr wrap="square" lIns="45720" rIns="45720" tIns="27432" bIns="27432" anchor="ctr">
            <a:spAutoFit/>
          </a:bodyPr>
          <a:lstStyle/>
          <a:p>
            <a:pPr algn="l">
              <a:spcAft>
                <a:spcPts val="0"/>
              </a:spcAft>
            </a:pPr>
            <a:r>
              <a:rPr sz="2200" b="1">
                <a:solidFill>
                  <a:srgbClr val="FFFFFF"/>
                </a:solidFill>
                <a:latin typeface="Calibri"/>
              </a:rPr>
              <a:t>Historical roofing data, turned into estimates a sales rep can trust, with the reasons and the limits attached.</a:t>
            </a:r>
          </a:p>
        </p:txBody>
      </p:sp>
      <p:sp>
        <p:nvSpPr>
          <p:cNvPr id="25" name="TextBox 24"/>
          <p:cNvSpPr txBox="1"/>
          <p:nvPr/>
        </p:nvSpPr>
        <p:spPr>
          <a:xfrm>
            <a:off x="548640" y="5852160"/>
            <a:ext cx="11064240" cy="457200"/>
          </a:xfrm>
          <a:prstGeom prst="rect">
            <a:avLst/>
          </a:prstGeom>
          <a:noFill/>
        </p:spPr>
        <p:txBody>
          <a:bodyPr wrap="square" lIns="45720" rIns="45720" tIns="27432" bIns="27432" anchor="t">
            <a:spAutoFit/>
          </a:bodyPr>
          <a:lstStyle/>
          <a:p>
            <a:pPr algn="ctr">
              <a:spcAft>
                <a:spcPts val="0"/>
              </a:spcAft>
            </a:pPr>
            <a:r>
              <a:rPr sz="2400" b="1">
                <a:solidFill>
                  <a:srgbClr val="0E7C86"/>
                </a:solidFill>
                <a:latin typeface="Calibri"/>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